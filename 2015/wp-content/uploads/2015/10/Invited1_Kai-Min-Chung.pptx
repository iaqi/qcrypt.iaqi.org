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3"/>
  </p:sldMasterIdLst>
  <p:notesMasterIdLst>
    <p:notesMasterId r:id="rId39"/>
  </p:notesMasterIdLst>
  <p:handoutMasterIdLst>
    <p:handoutMasterId r:id="rId40"/>
  </p:handoutMasterIdLst>
  <p:sldIdLst>
    <p:sldId id="260" r:id="rId4"/>
    <p:sldId id="261" r:id="rId5"/>
    <p:sldId id="320" r:id="rId6"/>
    <p:sldId id="321" r:id="rId7"/>
    <p:sldId id="325" r:id="rId8"/>
    <p:sldId id="322" r:id="rId9"/>
    <p:sldId id="323" r:id="rId10"/>
    <p:sldId id="371" r:id="rId11"/>
    <p:sldId id="327" r:id="rId12"/>
    <p:sldId id="328" r:id="rId13"/>
    <p:sldId id="332" r:id="rId14"/>
    <p:sldId id="372" r:id="rId15"/>
    <p:sldId id="336" r:id="rId16"/>
    <p:sldId id="337" r:id="rId17"/>
    <p:sldId id="339" r:id="rId18"/>
    <p:sldId id="342" r:id="rId19"/>
    <p:sldId id="344" r:id="rId20"/>
    <p:sldId id="373" r:id="rId21"/>
    <p:sldId id="346" r:id="rId22"/>
    <p:sldId id="348" r:id="rId23"/>
    <p:sldId id="347" r:id="rId24"/>
    <p:sldId id="355" r:id="rId25"/>
    <p:sldId id="350" r:id="rId26"/>
    <p:sldId id="358" r:id="rId27"/>
    <p:sldId id="360" r:id="rId28"/>
    <p:sldId id="363" r:id="rId29"/>
    <p:sldId id="364" r:id="rId30"/>
    <p:sldId id="365" r:id="rId31"/>
    <p:sldId id="366" r:id="rId32"/>
    <p:sldId id="300" r:id="rId33"/>
    <p:sldId id="368" r:id="rId34"/>
    <p:sldId id="369" r:id="rId35"/>
    <p:sldId id="318" r:id="rId36"/>
    <p:sldId id="374" r:id="rId37"/>
    <p:sldId id="375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6308"/>
    <a:srgbClr val="3333CC"/>
    <a:srgbClr val="11FF2D"/>
    <a:srgbClr val="43FF55"/>
    <a:srgbClr val="FF3300"/>
    <a:srgbClr val="007406"/>
    <a:srgbClr val="000099"/>
    <a:srgbClr val="00E616"/>
    <a:srgbClr val="05456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2" autoAdjust="0"/>
    <p:restoredTop sz="78699" autoAdjust="0"/>
  </p:normalViewPr>
  <p:slideViewPr>
    <p:cSldViewPr snapToGrid="0" snapToObjects="1">
      <p:cViewPr varScale="1">
        <p:scale>
          <a:sx n="55" d="100"/>
          <a:sy n="55" d="100"/>
        </p:scale>
        <p:origin x="852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03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-2490" y="-72"/>
      </p:cViewPr>
      <p:guideLst>
        <p:guide orient="horz" pos="2880"/>
        <p:guide pos="2160"/>
      </p:guideLst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9D9F4-E96F-4F1B-9312-F5264427E04B}" type="datetimeFigureOut">
              <a:rPr lang="en-US" smtClean="0"/>
              <a:pPr/>
              <a:t>9/28/2015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30BC6-39EF-4824-BBA9-341A0DBD7A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83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D60B1-4120-46D5-85C3-114242918C68}" type="datetimeFigureOut">
              <a:rPr lang="en-US" smtClean="0"/>
              <a:pPr/>
              <a:t>9/28/2015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F7EB6-186C-4785-BF1D-8EC860934772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716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A new way of</a:t>
            </a:r>
            <a:r>
              <a:rPr lang="en-CA" baseline="0" dirty="0" smtClean="0"/>
              <a:t> extracting pure randomness from physics systems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671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While I believe</a:t>
            </a:r>
            <a:r>
              <a:rPr lang="en-US" altLang="zh-TW" baseline="0" dirty="0" smtClean="0"/>
              <a:t> I don’t need to motivate this problem. It’s nice to review the original motivation from the 80’s in computer science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4300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Say weak </a:t>
            </a:r>
            <a:r>
              <a:rPr lang="en-US" altLang="zh-TW" dirty="0" err="1" smtClean="0"/>
              <a:t>souce</a:t>
            </a:r>
            <a:r>
              <a:rPr lang="en-US" altLang="zh-TW" dirty="0" smtClean="0"/>
              <a:t> just classical </a:t>
            </a:r>
            <a:r>
              <a:rPr lang="en-US" altLang="zh-TW" dirty="0" err="1" smtClean="0"/>
              <a:t>distrubtion</a:t>
            </a:r>
            <a:r>
              <a:rPr lang="en-US" altLang="zh-TW" dirty="0" smtClean="0"/>
              <a:t> of</a:t>
            </a:r>
            <a:r>
              <a:rPr lang="en-US" altLang="zh-TW" baseline="0" dirty="0" smtClean="0"/>
              <a:t> correlated and biased bits, no, structure, but guarantee some entropy</a:t>
            </a:r>
          </a:p>
          <a:p>
            <a:r>
              <a:rPr lang="en-US" altLang="zh-TW" baseline="0" dirty="0" smtClean="0"/>
              <a:t>The advantage is that it’s very general. The disadvantage is that </a:t>
            </a:r>
            <a:r>
              <a:rPr lang="en-US" altLang="zh-TW" baseline="0" smtClean="0"/>
              <a:t>it’s impossible.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Say, exciting question, </a:t>
            </a:r>
          </a:p>
          <a:p>
            <a:r>
              <a:rPr lang="en-US" altLang="zh-TW" dirty="0" smtClean="0"/>
              <a:t>well-studied question in classical setting.</a:t>
            </a:r>
            <a:r>
              <a:rPr lang="en-US" altLang="zh-TW" baseline="0" dirty="0" smtClean="0"/>
              <a:t> </a:t>
            </a:r>
          </a:p>
          <a:p>
            <a:r>
              <a:rPr lang="en-US" altLang="zh-TW" baseline="0" dirty="0" smtClean="0"/>
              <a:t>Past few years I explore several settings beyond classical setting</a:t>
            </a:r>
          </a:p>
          <a:p>
            <a:r>
              <a:rPr lang="en-US" altLang="zh-TW" baseline="0" dirty="0" smtClean="0"/>
              <a:t>Focus on first one! Used in the rest</a:t>
            </a:r>
          </a:p>
          <a:p>
            <a:r>
              <a:rPr lang="en-US" altLang="zh-TW" baseline="0" dirty="0" smtClean="0"/>
              <a:t>We present our recent progress beyond classical setting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4892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Say that</a:t>
            </a:r>
            <a:r>
              <a:rPr lang="en-US" altLang="zh-TW" baseline="0" dirty="0" smtClean="0"/>
              <a:t> a very nice way to get around impossibility is this</a:t>
            </a:r>
            <a:endParaRPr lang="en-US" altLang="zh-TW" dirty="0" smtClean="0"/>
          </a:p>
          <a:p>
            <a:r>
              <a:rPr lang="en-US" altLang="zh-TW" dirty="0" smtClean="0"/>
              <a:t>Say that we’ll discuss other ways, but this has many applications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9780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smtClean="0"/>
              <a:t> Network extractors </a:t>
            </a:r>
            <a:r>
              <a:rPr lang="en-US" altLang="zh-TW" sz="1100" dirty="0" smtClean="0">
                <a:solidFill>
                  <a:srgbClr val="0070C0"/>
                </a:solidFill>
              </a:rPr>
              <a:t>[KLRZ08]</a:t>
            </a:r>
            <a:r>
              <a:rPr lang="en-US" altLang="zh-TW" sz="1200" dirty="0" smtClean="0"/>
              <a:t>, Non-malleable codes </a:t>
            </a:r>
            <a:r>
              <a:rPr lang="en-US" altLang="zh-TW" sz="1100" dirty="0" smtClean="0">
                <a:solidFill>
                  <a:srgbClr val="0070C0"/>
                </a:solidFill>
              </a:rPr>
              <a:t>[DKO13]</a:t>
            </a:r>
            <a:r>
              <a:rPr lang="en-US" altLang="zh-TW" sz="1200" dirty="0" smtClean="0"/>
              <a:t>,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5745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Name: </a:t>
            </a:r>
          </a:p>
          <a:p>
            <a:r>
              <a:rPr lang="en-US" altLang="zh-TW" dirty="0" smtClean="0"/>
              <a:t>Bennett, Brassard,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Crepeau</a:t>
            </a:r>
            <a:endParaRPr lang="en-US" altLang="zh-TW" baseline="0" dirty="0" smtClean="0"/>
          </a:p>
          <a:p>
            <a:r>
              <a:rPr lang="en-US" altLang="zh-TW" baseline="0" dirty="0" smtClean="0"/>
              <a:t>Mention they share weak key, want to agree on a uniform key via a public channel, against adversary Eve.</a:t>
            </a:r>
          </a:p>
          <a:p>
            <a:r>
              <a:rPr lang="en-US" altLang="zh-TW" baseline="0" dirty="0" smtClean="0"/>
              <a:t>Mention we also need more.</a:t>
            </a:r>
          </a:p>
          <a:p>
            <a:r>
              <a:rPr lang="en-US" altLang="zh-TW" baseline="0" dirty="0" smtClean="0"/>
              <a:t>Consider privacy amplification is used in a larger protocol, such as QKD</a:t>
            </a:r>
          </a:p>
          <a:p>
            <a:r>
              <a:rPr lang="en-US" altLang="zh-TW" baseline="0" dirty="0" smtClean="0"/>
              <a:t>Adversary gets learn side information about X, which can be quantum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6008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9840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smtClean="0"/>
              <a:t> Network extractors </a:t>
            </a:r>
            <a:r>
              <a:rPr lang="en-US" altLang="zh-TW" sz="1100" dirty="0" smtClean="0">
                <a:solidFill>
                  <a:srgbClr val="0070C0"/>
                </a:solidFill>
              </a:rPr>
              <a:t>[KLRZ08]</a:t>
            </a:r>
            <a:r>
              <a:rPr lang="en-US" altLang="zh-TW" sz="1200" dirty="0" smtClean="0"/>
              <a:t>, Non-malleable codes </a:t>
            </a:r>
            <a:r>
              <a:rPr lang="en-US" altLang="zh-TW" sz="1100" dirty="0" smtClean="0">
                <a:solidFill>
                  <a:srgbClr val="0070C0"/>
                </a:solidFill>
              </a:rPr>
              <a:t>[DKO13]</a:t>
            </a:r>
            <a:r>
              <a:rPr lang="en-US" altLang="zh-TW" sz="1200" dirty="0" smtClean="0"/>
              <a:t>,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46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Gavinsky</a:t>
            </a:r>
            <a:endParaRPr lang="en-US" altLang="zh-TW" dirty="0" smtClean="0"/>
          </a:p>
          <a:p>
            <a:r>
              <a:rPr lang="en-US" altLang="zh-TW" dirty="0" smtClean="0"/>
              <a:t>De </a:t>
            </a:r>
            <a:r>
              <a:rPr lang="en-US" altLang="zh-TW" dirty="0" err="1" smtClean="0"/>
              <a:t>Portmann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Vidick</a:t>
            </a:r>
            <a:r>
              <a:rPr lang="en-US" altLang="zh-TW" baseline="0" dirty="0" smtClean="0"/>
              <a:t> Renner</a:t>
            </a:r>
            <a:endParaRPr lang="en-US" altLang="zh-TW" dirty="0" smtClean="0"/>
          </a:p>
          <a:p>
            <a:r>
              <a:rPr lang="en-US" altLang="zh-TW" dirty="0" smtClean="0"/>
              <a:t>Nisan </a:t>
            </a:r>
            <a:r>
              <a:rPr lang="en-US" altLang="zh-TW" dirty="0" smtClean="0"/>
              <a:t>Zuckerman, </a:t>
            </a:r>
          </a:p>
          <a:p>
            <a:r>
              <a:rPr lang="en-US" altLang="zh-TW" dirty="0" err="1" smtClean="0"/>
              <a:t>Radhakrishnan</a:t>
            </a:r>
            <a:r>
              <a:rPr lang="en-US" altLang="zh-TW" dirty="0" smtClean="0"/>
              <a:t> and Ta-</a:t>
            </a:r>
            <a:r>
              <a:rPr lang="en-US" altLang="zh-TW" dirty="0" err="1" smtClean="0"/>
              <a:t>shma</a:t>
            </a:r>
            <a:endParaRPr lang="en-US" altLang="zh-TW" dirty="0" smtClean="0"/>
          </a:p>
          <a:p>
            <a:r>
              <a:rPr lang="en-US" altLang="zh-TW" dirty="0" smtClean="0"/>
              <a:t>Lu, </a:t>
            </a:r>
            <a:r>
              <a:rPr lang="en-US" altLang="zh-TW" dirty="0" err="1" smtClean="0"/>
              <a:t>Reingold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Vadhan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Wigderson</a:t>
            </a:r>
            <a:r>
              <a:rPr lang="en-US" altLang="zh-TW" dirty="0" smtClean="0"/>
              <a:t>,</a:t>
            </a:r>
          </a:p>
          <a:p>
            <a:r>
              <a:rPr lang="en-US" altLang="zh-TW" dirty="0" err="1" smtClean="0"/>
              <a:t>Guruswami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Ulman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Vadhan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Mention that in</a:t>
            </a:r>
            <a:r>
              <a:rPr lang="en-US" altLang="zh-TW" baseline="0" dirty="0" smtClean="0"/>
              <a:t> general, want to give a sense of the literature, so simplify story</a:t>
            </a:r>
            <a:endParaRPr lang="en-US" altLang="zh-TW" dirty="0" smtClean="0"/>
          </a:p>
          <a:p>
            <a:r>
              <a:rPr lang="en-US" altLang="zh-TW" dirty="0" smtClean="0"/>
              <a:t>citation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6809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smtClean="0"/>
              <a:t> Network extractors </a:t>
            </a:r>
            <a:r>
              <a:rPr lang="en-US" altLang="zh-TW" sz="1100" dirty="0" smtClean="0">
                <a:solidFill>
                  <a:srgbClr val="0070C0"/>
                </a:solidFill>
              </a:rPr>
              <a:t>[KLRZ08]</a:t>
            </a:r>
            <a:r>
              <a:rPr lang="en-US" altLang="zh-TW" sz="1200" dirty="0" smtClean="0"/>
              <a:t>, Non-malleable codes </a:t>
            </a:r>
            <a:r>
              <a:rPr lang="en-US" altLang="zh-TW" sz="1100" dirty="0" smtClean="0">
                <a:solidFill>
                  <a:srgbClr val="0070C0"/>
                </a:solidFill>
              </a:rPr>
              <a:t>[DKO13]</a:t>
            </a:r>
            <a:r>
              <a:rPr lang="en-US" altLang="zh-TW" sz="1200" dirty="0" smtClean="0"/>
              <a:t>,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7816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Importance: used underlying</a:t>
            </a:r>
            <a:r>
              <a:rPr lang="en-US" altLang="zh-TW" baseline="0" dirty="0" smtClean="0"/>
              <a:t> all other method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9988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Say that</a:t>
            </a:r>
            <a:r>
              <a:rPr lang="en-US" altLang="zh-TW" baseline="0" dirty="0" smtClean="0"/>
              <a:t> a very nice way to get around impossibility is this</a:t>
            </a:r>
            <a:endParaRPr lang="en-US" altLang="zh-TW" dirty="0" smtClean="0"/>
          </a:p>
          <a:p>
            <a:r>
              <a:rPr lang="en-US" altLang="zh-TW" dirty="0" smtClean="0"/>
              <a:t>Say that we’ll discuss other ways, but this has many applications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6144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Name: </a:t>
            </a:r>
          </a:p>
          <a:p>
            <a:r>
              <a:rPr lang="en-US" altLang="zh-TW" dirty="0" smtClean="0"/>
              <a:t>Bennett, Brassard,</a:t>
            </a:r>
            <a:r>
              <a:rPr lang="en-US" altLang="zh-TW" baseline="0" dirty="0" smtClean="0"/>
              <a:t> </a:t>
            </a:r>
            <a:r>
              <a:rPr lang="en-US" altLang="zh-TW" baseline="0" dirty="0" err="1" smtClean="0"/>
              <a:t>Crepeau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9562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One natural</a:t>
            </a:r>
            <a:r>
              <a:rPr lang="en-US" altLang="zh-TW" baseline="0" dirty="0" smtClean="0"/>
              <a:t> way to think about it is that</a:t>
            </a:r>
          </a:p>
          <a:p>
            <a:r>
              <a:rPr lang="en-US" altLang="zh-TW" baseline="0" dirty="0" smtClean="0"/>
              <a:t>Side info of each source is generated locally, and collected by an adversary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263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This question is only</a:t>
            </a:r>
            <a:r>
              <a:rPr lang="en-US" altLang="zh-TW" baseline="0" dirty="0" smtClean="0"/>
              <a:t> studied by </a:t>
            </a:r>
            <a:r>
              <a:rPr lang="en-US" altLang="zh-TW" baseline="0" dirty="0" err="1" smtClean="0"/>
              <a:t>Kasher</a:t>
            </a:r>
            <a:r>
              <a:rPr lang="en-US" altLang="zh-TW" baseline="0" dirty="0" smtClean="0"/>
              <a:t> and </a:t>
            </a:r>
            <a:r>
              <a:rPr lang="en-US" altLang="zh-TW" baseline="0" dirty="0" err="1" smtClean="0"/>
              <a:t>Kempe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Say </a:t>
            </a:r>
            <a:r>
              <a:rPr lang="en-US" altLang="zh-TW" dirty="0" smtClean="0"/>
              <a:t>first study</a:t>
            </a:r>
            <a:r>
              <a:rPr lang="en-US" altLang="zh-TW" baseline="0" dirty="0" smtClean="0"/>
              <a:t> by [KK12]!!!</a:t>
            </a:r>
          </a:p>
          <a:p>
            <a:r>
              <a:rPr lang="en-US" altLang="zh-TW" baseline="0" dirty="0" err="1" smtClean="0"/>
              <a:t>Kasher</a:t>
            </a:r>
            <a:r>
              <a:rPr lang="en-US" altLang="zh-TW" baseline="0" dirty="0" smtClean="0"/>
              <a:t>, </a:t>
            </a:r>
            <a:r>
              <a:rPr lang="en-US" altLang="zh-TW" baseline="0" dirty="0" err="1" smtClean="0"/>
              <a:t>Kempe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451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Chattopadhyay</a:t>
            </a:r>
            <a:r>
              <a:rPr lang="en-US" altLang="zh-TW" dirty="0" smtClean="0"/>
              <a:t>∗</a:t>
            </a:r>
            <a:endParaRPr lang="en-US" altLang="zh-TW" sz="1200" dirty="0" smtClean="0"/>
          </a:p>
          <a:p>
            <a:endParaRPr lang="en-US" altLang="zh-TW" sz="1200" dirty="0" smtClean="0"/>
          </a:p>
          <a:p>
            <a:r>
              <a:rPr lang="en-US" altLang="zh-TW" sz="1200" dirty="0" smtClean="0"/>
              <a:t> </a:t>
            </a:r>
            <a:r>
              <a:rPr lang="en-US" altLang="zh-TW" sz="1200" dirty="0" smtClean="0"/>
              <a:t>Network extractors </a:t>
            </a:r>
            <a:r>
              <a:rPr lang="en-US" altLang="zh-TW" sz="1100" dirty="0" smtClean="0">
                <a:solidFill>
                  <a:srgbClr val="0070C0"/>
                </a:solidFill>
              </a:rPr>
              <a:t>[KLRZ08]</a:t>
            </a:r>
            <a:r>
              <a:rPr lang="en-US" altLang="zh-TW" sz="1200" dirty="0" smtClean="0"/>
              <a:t>, Non-malleable codes </a:t>
            </a:r>
            <a:r>
              <a:rPr lang="en-US" altLang="zh-TW" sz="1100" dirty="0" smtClean="0">
                <a:solidFill>
                  <a:srgbClr val="0070C0"/>
                </a:solidFill>
              </a:rPr>
              <a:t>[DKO13]</a:t>
            </a:r>
            <a:r>
              <a:rPr lang="en-US" altLang="zh-TW" sz="1200" dirty="0" smtClean="0"/>
              <a:t>,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62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Importance: used underlying</a:t>
            </a:r>
            <a:r>
              <a:rPr lang="en-US" altLang="zh-TW" baseline="0" dirty="0" smtClean="0"/>
              <a:t> all other method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29896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Randomness extractors crucially require it</a:t>
            </a:r>
          </a:p>
          <a:p>
            <a:r>
              <a:rPr lang="en-US" altLang="zh-TW" dirty="0" smtClean="0"/>
              <a:t>Can we avoid independence</a:t>
            </a:r>
            <a:r>
              <a:rPr lang="en-US" altLang="zh-TW" baseline="0" dirty="0" smtClean="0"/>
              <a:t> assumption</a:t>
            </a:r>
          </a:p>
          <a:p>
            <a:r>
              <a:rPr lang="en-US" altLang="zh-TW" baseline="0" dirty="0" smtClean="0"/>
              <a:t>DI framework provide a potential way.</a:t>
            </a:r>
          </a:p>
          <a:p>
            <a:r>
              <a:rPr lang="en-US" altLang="zh-TW" baseline="0" dirty="0" smtClean="0"/>
              <a:t>In addition to the source, Extractor also get access to a set of untrusted device as resource for extraction</a:t>
            </a:r>
          </a:p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9416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Motivated</a:t>
            </a:r>
            <a:r>
              <a:rPr lang="en-US" altLang="zh-TW" baseline="0" dirty="0" smtClean="0"/>
              <a:t> by this randomness extraction view, we define physical randomness extractors.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aseline="0" dirty="0" smtClean="0"/>
              <a:t>This is the usual DI framework, but model the source X as a general weak source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08366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Say</a:t>
            </a:r>
            <a:r>
              <a:rPr lang="en-US" altLang="zh-TW" baseline="0" dirty="0" smtClean="0"/>
              <a:t> very high level, tell you how the construction looks like, and how it works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793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need two steps: because sampling cannot improve the entropy rate.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0954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need two steps: because sampling cannot improve the entropy rate.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76273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need two steps: because sampling cannot improve the entropy rate.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207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sample blocks much longer than k.</a:t>
            </a:r>
          </a:p>
          <a:p>
            <a:r>
              <a:rPr lang="en-US" dirty="0" smtClean="0"/>
              <a:t>Assume</a:t>
            </a:r>
            <a:r>
              <a:rPr lang="en-US" baseline="0" dirty="0" smtClean="0"/>
              <a:t> that residual source still has enough entropy left, say, 1%.</a:t>
            </a:r>
          </a:p>
          <a:p>
            <a:r>
              <a:rPr lang="en-US" baseline="0" dirty="0" smtClean="0"/>
              <a:t>Then extract W1 from the blocks.</a:t>
            </a:r>
          </a:p>
          <a:p>
            <a:endParaRPr lang="en-US" baseline="0" dirty="0" smtClean="0"/>
          </a:p>
          <a:p>
            <a:r>
              <a:rPr lang="en-US" baseline="0" dirty="0" smtClean="0"/>
              <a:t>If residual source indeed has 1% entropy -&gt; W1 is uniform</a:t>
            </a:r>
            <a:endParaRPr lang="en-US" dirty="0" smtClean="0"/>
          </a:p>
          <a:p>
            <a:r>
              <a:rPr lang="en-US" dirty="0" smtClean="0"/>
              <a:t>If residual source does</a:t>
            </a:r>
            <a:r>
              <a:rPr lang="en-US" baseline="0" dirty="0" smtClean="0"/>
              <a:t> not have 1% entropy,</a:t>
            </a:r>
          </a:p>
          <a:p>
            <a:r>
              <a:rPr lang="en-US" baseline="0" dirty="0" smtClean="0"/>
              <a:t>Then the blocks have 99% of entropy, and the length is much shorter.</a:t>
            </a:r>
          </a:p>
          <a:p>
            <a:r>
              <a:rPr lang="en-US" baseline="0" dirty="0" smtClean="0"/>
              <a:t>The source is condense, the entropy rate is increased</a:t>
            </a:r>
          </a:p>
          <a:p>
            <a:r>
              <a:rPr lang="en-US" baseline="0" dirty="0" smtClean="0"/>
              <a:t>Continue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How</a:t>
            </a:r>
            <a:r>
              <a:rPr lang="en-US" baseline="0" dirty="0" smtClean="0"/>
              <a:t> to explain???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First show the whole picture, with intuitive explanation of win-win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Then discuss parameter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Easy: length shrink exponentially fast by a parameter alpha we can control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How about entropy loss? 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Also a parameter we can control: assume residual entropy is \gamma k, then we loss \gamma k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Where do we pay in alpha and gamma: output length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1113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r>
              <a:rPr lang="en-US" baseline="0" dirty="0" smtClean="0"/>
              <a:t> to explain???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First show the whole picture, with intuitive explanation of win-win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Then discuss parameter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Easy: length shrink exponentially fast by a parameter alpha we can control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How about entropy loss? 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Also a parameter we can control: assume residual entropy is \gamma k, then we loss \gamma k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Where do we pay in alpha and gamma: output length</a:t>
            </a:r>
          </a:p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15417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smtClean="0"/>
              <a:t>If have time, say</a:t>
            </a:r>
            <a:r>
              <a:rPr lang="en-US" altLang="zh-TW" sz="1200" baseline="0" dirty="0" smtClean="0"/>
              <a:t> classical we do get and new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5820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79141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928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35834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need two steps: because sampling cannot improve the entropy rate.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322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need two steps: because sampling cannot improve the entropy rate.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EF7EB6-186C-4785-BF1D-8EC860934772}" type="slidenum">
              <a:rPr lang="en-CA" smtClean="0"/>
              <a:pPr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147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F72E-C8BC-4FD1-B8C2-438A91C15B4C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lang="en-CA" dirty="0"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03C73-7BCD-42F8-956A-419879E5384A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129A1-BA9E-42E2-88E8-017CEC2015B8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24CF1-9844-44CA-80AF-6F61E509F21C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572-FC6F-41E4-A928-14B9F51DB86A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F311-2556-4B5A-88BA-A957DED1CD7D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3BAFE-F7CE-46F6-8203-E3B732203680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8559E-0999-4EDE-A5F2-3770DA31CB16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5BF9A-A2A9-4C9C-B548-C1AAA23FE079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0765C-1E40-47BA-B824-6D90A6114493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28EB7-4077-4FA1-9973-2CC739412E79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Ol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B997-A344-49F9-B532-B065287133A1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Section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747963"/>
            <a:ext cx="7772400" cy="1836737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129A1-BA9E-42E2-88E8-017CEC2015B8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0950"/>
            <a:ext cx="8229600" cy="63976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8229600" cy="395128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2572-FC6F-41E4-A928-14B9F51DB86A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567A-985D-459A-B3B5-01531F84003B}" type="datetime1">
              <a:rPr lang="en-US" smtClean="0"/>
              <a:pPr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9DF58-EC3F-46D8-AF26-3D8213D228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8" r:id="rId13"/>
    <p:sldLayoutId id="2147483819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>
          <a:solidFill>
            <a:schemeClr val="accent1">
              <a:lumMod val="60000"/>
              <a:lumOff val="4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.jpeg"/><Relationship Id="rId9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4.png"/><Relationship Id="rId3" Type="http://schemas.openxmlformats.org/officeDocument/2006/relationships/image" Target="../media/image2.jpeg"/><Relationship Id="rId7" Type="http://schemas.openxmlformats.org/officeDocument/2006/relationships/image" Target="../media/image40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2.png"/><Relationship Id="rId5" Type="http://schemas.openxmlformats.org/officeDocument/2006/relationships/image" Target="../media/image34.png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1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55.png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2.jpe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4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jpeg"/><Relationship Id="rId4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36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70.png"/><Relationship Id="rId5" Type="http://schemas.openxmlformats.org/officeDocument/2006/relationships/image" Target="../media/image47.png"/><Relationship Id="rId10" Type="http://schemas.openxmlformats.org/officeDocument/2006/relationships/image" Target="../media/image2.jpeg"/><Relationship Id="rId4" Type="http://schemas.openxmlformats.org/officeDocument/2006/relationships/image" Target="../media/image46.png"/><Relationship Id="rId9" Type="http://schemas.openxmlformats.org/officeDocument/2006/relationships/image" Target="../media/image34.png"/><Relationship Id="rId1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45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32.png"/><Relationship Id="rId5" Type="http://schemas.openxmlformats.org/officeDocument/2006/relationships/image" Target="../media/image47.png"/><Relationship Id="rId10" Type="http://schemas.openxmlformats.org/officeDocument/2006/relationships/image" Target="../media/image74.png"/><Relationship Id="rId4" Type="http://schemas.openxmlformats.org/officeDocument/2006/relationships/image" Target="../media/image46.png"/><Relationship Id="rId9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2673" y="1020455"/>
            <a:ext cx="8446883" cy="2246231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dirty="0">
                <a:effectLst/>
              </a:rPr>
              <a:t>Randomness Extraction Beyond </a:t>
            </a:r>
            <a:r>
              <a:rPr lang="en-US" altLang="zh-TW" sz="4000" dirty="0" smtClean="0">
                <a:effectLst/>
              </a:rPr>
              <a:t/>
            </a:r>
            <a:br>
              <a:rPr lang="en-US" altLang="zh-TW" sz="4000" dirty="0" smtClean="0">
                <a:effectLst/>
              </a:rPr>
            </a:br>
            <a:r>
              <a:rPr lang="en-US" altLang="zh-TW" sz="4000" dirty="0" smtClean="0">
                <a:effectLst/>
              </a:rPr>
              <a:t>the </a:t>
            </a:r>
            <a:r>
              <a:rPr lang="en-US" altLang="zh-TW" sz="4000" dirty="0">
                <a:effectLst/>
              </a:rPr>
              <a:t>Classical World</a:t>
            </a:r>
            <a:endParaRPr lang="en-US" altLang="zh-TW" sz="4000" dirty="0" smtClean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38200" y="3899425"/>
            <a:ext cx="7467600" cy="181188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Kai-Min Chung 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Academia </a:t>
            </a:r>
            <a:r>
              <a:rPr lang="en-US" sz="2800" dirty="0" err="1" smtClean="0">
                <a:solidFill>
                  <a:schemeClr val="tx1"/>
                </a:solidFill>
              </a:rPr>
              <a:t>Sinica</a:t>
            </a:r>
            <a:r>
              <a:rPr lang="en-US" sz="2800" dirty="0" smtClean="0">
                <a:solidFill>
                  <a:schemeClr val="tx1"/>
                </a:solidFill>
              </a:rPr>
              <a:t>, Taiwan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10900" y="5989888"/>
            <a:ext cx="827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Based on joint works with </a:t>
            </a:r>
            <a:r>
              <a:rPr lang="en-US" altLang="zh-TW" sz="2400" dirty="0" err="1" smtClean="0"/>
              <a:t>Xin</a:t>
            </a:r>
            <a:r>
              <a:rPr lang="en-US" altLang="zh-TW" sz="2400" dirty="0" smtClean="0"/>
              <a:t> Li, </a:t>
            </a:r>
            <a:r>
              <a:rPr lang="en-US" altLang="zh-TW" sz="2400" dirty="0" err="1" smtClean="0"/>
              <a:t>Yaoyun</a:t>
            </a:r>
            <a:r>
              <a:rPr lang="en-US" altLang="zh-TW" sz="2400" dirty="0" smtClean="0"/>
              <a:t> Shi, and </a:t>
            </a:r>
            <a:r>
              <a:rPr lang="en-US" altLang="zh-TW" sz="2400" dirty="0" err="1" smtClean="0"/>
              <a:t>Xiaodi</a:t>
            </a:r>
            <a:r>
              <a:rPr lang="en-US" altLang="zh-TW" sz="2400" dirty="0" smtClean="0"/>
              <a:t> Wu</a:t>
            </a:r>
            <a:endParaRPr lang="zh-TW" alt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5726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Original Motivation from </a:t>
            </a:r>
            <a:r>
              <a:rPr lang="en-US" altLang="zh-TW" dirty="0"/>
              <a:t>9</a:t>
            </a:r>
            <a:r>
              <a:rPr lang="en-US" altLang="zh-TW" dirty="0" smtClean="0"/>
              <a:t>0’s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729" y="1405639"/>
            <a:ext cx="8686800" cy="5092431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Randomness is </a:t>
            </a:r>
            <a:r>
              <a:rPr lang="en-US" altLang="zh-TW" sz="2800" dirty="0" smtClean="0"/>
              <a:t>extremely useful </a:t>
            </a:r>
            <a:r>
              <a:rPr lang="en-US" altLang="zh-TW" sz="2800" dirty="0" smtClean="0"/>
              <a:t>resource</a:t>
            </a:r>
          </a:p>
          <a:p>
            <a:pPr lvl="1"/>
            <a:r>
              <a:rPr lang="en-US" altLang="zh-TW" sz="2400" dirty="0" smtClean="0"/>
              <a:t>Randomized algorithm, Distributed algorithm, Cryptography,…</a:t>
            </a:r>
          </a:p>
          <a:p>
            <a:pPr lvl="2"/>
            <a:endParaRPr lang="en-US" altLang="zh-TW" sz="1400" dirty="0" smtClean="0"/>
          </a:p>
          <a:p>
            <a:pPr lvl="2"/>
            <a:endParaRPr lang="en-US" altLang="zh-TW" sz="1400" dirty="0" smtClean="0"/>
          </a:p>
          <a:p>
            <a:pPr lvl="2"/>
            <a:endParaRPr lang="en-US" altLang="zh-TW" sz="1400" dirty="0" smtClean="0"/>
          </a:p>
          <a:p>
            <a:r>
              <a:rPr lang="en-US" altLang="zh-TW" sz="2800" dirty="0" smtClean="0"/>
              <a:t>Typically assume perfect uniform sources</a:t>
            </a:r>
          </a:p>
          <a:p>
            <a:pPr lvl="1"/>
            <a:r>
              <a:rPr lang="en-US" altLang="zh-TW" sz="2400" dirty="0" smtClean="0"/>
              <a:t>Unbiased, independent random bits</a:t>
            </a:r>
          </a:p>
          <a:p>
            <a:pPr lvl="1"/>
            <a:r>
              <a:rPr lang="en-US" altLang="zh-TW" sz="2400" dirty="0" smtClean="0"/>
              <a:t>Unrealistic strong assumption?</a:t>
            </a:r>
          </a:p>
          <a:p>
            <a:pPr lvl="1"/>
            <a:endParaRPr lang="en-US" altLang="zh-TW" sz="1200" dirty="0" smtClean="0"/>
          </a:p>
          <a:p>
            <a:pPr lvl="1"/>
            <a:endParaRPr lang="en-US" altLang="zh-TW" sz="1200" dirty="0"/>
          </a:p>
          <a:p>
            <a:pPr lvl="1"/>
            <a:endParaRPr lang="en-US" altLang="zh-TW" sz="1200" dirty="0" smtClean="0"/>
          </a:p>
          <a:p>
            <a:r>
              <a:rPr lang="en-US" altLang="zh-TW" sz="2800" dirty="0" smtClean="0"/>
              <a:t>Can we rely on weak </a:t>
            </a:r>
            <a:r>
              <a:rPr lang="en-US" altLang="zh-TW" sz="2800" dirty="0" smtClean="0"/>
              <a:t>sources/assumptions</a:t>
            </a:r>
            <a:r>
              <a:rPr lang="en-US" altLang="zh-TW" sz="2800" dirty="0" smtClean="0"/>
              <a:t>?</a:t>
            </a:r>
          </a:p>
          <a:p>
            <a:pPr lvl="1"/>
            <a:endParaRPr lang="en-US" altLang="zh-TW" sz="1400" dirty="0" smtClean="0"/>
          </a:p>
          <a:p>
            <a:endParaRPr lang="en-US" altLang="zh-TW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0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5726"/>
            <a:ext cx="8229600" cy="1143000"/>
          </a:xfrm>
        </p:spPr>
        <p:txBody>
          <a:bodyPr/>
          <a:lstStyle/>
          <a:p>
            <a:r>
              <a:rPr lang="en-US" altLang="zh-TW" dirty="0"/>
              <a:t>Randomness Extraction Paradigm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620" y="1405638"/>
            <a:ext cx="8819909" cy="564334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Extract uniform randomness from weak random sources</a:t>
            </a:r>
          </a:p>
          <a:p>
            <a:pPr lvl="1"/>
            <a:r>
              <a:rPr lang="en-US" altLang="zh-TW" sz="2400" dirty="0" smtClean="0"/>
              <a:t>Source = classical distribution over </a:t>
            </a:r>
            <a:r>
              <a:rPr lang="en-US" altLang="zh-TW" sz="2400" dirty="0" smtClean="0">
                <a:solidFill>
                  <a:srgbClr val="3333CC"/>
                </a:solidFill>
              </a:rPr>
              <a:t>{0,1}</a:t>
            </a:r>
            <a:r>
              <a:rPr lang="en-US" altLang="zh-TW" sz="2400" baseline="30000" dirty="0" smtClean="0">
                <a:solidFill>
                  <a:srgbClr val="3333CC"/>
                </a:solidFill>
              </a:rPr>
              <a:t>n</a:t>
            </a:r>
          </a:p>
          <a:p>
            <a:pPr lvl="1"/>
            <a:r>
              <a:rPr lang="en-US" altLang="zh-TW" sz="2400" dirty="0" smtClean="0"/>
              <a:t>Correlated and biased (unstructured), guarantee some entropy</a:t>
            </a:r>
            <a:endParaRPr lang="en-US" altLang="zh-TW" sz="2400" dirty="0" smtClean="0"/>
          </a:p>
          <a:p>
            <a:pPr marL="914400" lvl="2" indent="0">
              <a:buNone/>
            </a:pPr>
            <a:endParaRPr lang="en-US" altLang="zh-TW" sz="300" dirty="0" smtClean="0"/>
          </a:p>
          <a:p>
            <a:r>
              <a:rPr lang="en-US" altLang="zh-TW" sz="2800" dirty="0" smtClean="0"/>
              <a:t>Impossible given a single such source</a:t>
            </a:r>
            <a:endParaRPr lang="en-US" altLang="zh-TW" sz="2800" dirty="0" smtClean="0"/>
          </a:p>
          <a:p>
            <a:pPr lvl="1"/>
            <a:r>
              <a:rPr lang="en-US" altLang="zh-TW" sz="2400" dirty="0" smtClean="0"/>
              <a:t>Even with </a:t>
            </a:r>
            <a:r>
              <a:rPr lang="en-US" altLang="zh-TW" sz="2400" dirty="0" smtClean="0">
                <a:solidFill>
                  <a:srgbClr val="3333CC"/>
                </a:solidFill>
              </a:rPr>
              <a:t>n-1</a:t>
            </a:r>
            <a:r>
              <a:rPr lang="en-US" altLang="zh-TW" sz="2400" dirty="0" smtClean="0"/>
              <a:t> bits of entropy</a:t>
            </a:r>
          </a:p>
          <a:p>
            <a:pPr lvl="1"/>
            <a:r>
              <a:rPr lang="en-US" altLang="zh-TW" sz="2400" dirty="0" smtClean="0"/>
              <a:t>Several proposed extraction approaches</a:t>
            </a:r>
            <a:endParaRPr lang="en-US" altLang="zh-TW" sz="2400" dirty="0" smtClean="0"/>
          </a:p>
          <a:p>
            <a:pPr lvl="1"/>
            <a:endParaRPr lang="en-US" altLang="zh-TW" sz="1200" dirty="0" smtClean="0"/>
          </a:p>
          <a:p>
            <a:r>
              <a:rPr lang="en-US" altLang="zh-TW" sz="2800" dirty="0" smtClean="0"/>
              <a:t>This talk: extraction approaches beyond classical settings</a:t>
            </a:r>
          </a:p>
          <a:p>
            <a:pPr lvl="1"/>
            <a:r>
              <a:rPr lang="en-US" altLang="zh-TW" sz="2400" dirty="0" smtClean="0">
                <a:solidFill>
                  <a:srgbClr val="FF0000"/>
                </a:solidFill>
              </a:rPr>
              <a:t>Quantum-proof seeded extractors</a:t>
            </a:r>
          </a:p>
          <a:p>
            <a:pPr lvl="1"/>
            <a:r>
              <a:rPr lang="en-US" altLang="zh-TW" sz="2400" dirty="0" smtClean="0"/>
              <a:t>Quantum-proof multi-source extractors</a:t>
            </a:r>
          </a:p>
          <a:p>
            <a:pPr lvl="1"/>
            <a:r>
              <a:rPr lang="en-US" altLang="zh-TW" sz="2400" dirty="0" smtClean="0"/>
              <a:t>Physical randomness extractors </a:t>
            </a:r>
          </a:p>
          <a:p>
            <a:pPr marL="457200" lvl="1" indent="0">
              <a:buNone/>
            </a:pPr>
            <a:r>
              <a:rPr lang="en-US" altLang="zh-TW" sz="2400" dirty="0" smtClean="0"/>
              <a:t>        (or, randomness amplification for any weak sources)</a:t>
            </a:r>
            <a:endParaRPr lang="en-US" altLang="zh-TW" sz="1400" dirty="0" smtClean="0"/>
          </a:p>
          <a:p>
            <a:endParaRPr lang="en-US" altLang="zh-TW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7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3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Classical Seeded Extractors </a:t>
            </a:r>
            <a:r>
              <a:rPr lang="en-US" altLang="zh-TW" sz="3600" dirty="0" smtClean="0"/>
              <a:t>[NZ96]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560" y="1252268"/>
            <a:ext cx="8463064" cy="4659885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A</a:t>
            </a:r>
            <a:r>
              <a:rPr lang="en-US" altLang="zh-TW" sz="2800" dirty="0" smtClean="0"/>
              <a:t>dd </a:t>
            </a:r>
            <a:r>
              <a:rPr lang="en-US" altLang="zh-TW" sz="2800" i="1" dirty="0" smtClean="0"/>
              <a:t>short</a:t>
            </a:r>
            <a:r>
              <a:rPr lang="en-US" altLang="zh-TW" sz="2800" dirty="0" smtClean="0"/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uniform seed</a:t>
            </a:r>
            <a:r>
              <a:rPr lang="en-US" altLang="zh-TW" sz="2800" dirty="0" smtClean="0"/>
              <a:t> as catalyst </a:t>
            </a:r>
            <a:r>
              <a:rPr lang="en-US" altLang="zh-TW" sz="2800" dirty="0" smtClean="0"/>
              <a:t>for extraction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5"/>
              <p:cNvSpPr>
                <a:spLocks noChangeArrowheads="1"/>
              </p:cNvSpPr>
              <p:nvPr/>
            </p:nvSpPr>
            <p:spPr bwMode="auto">
              <a:xfrm>
                <a:off x="3287119" y="2901158"/>
                <a:ext cx="2610419" cy="11083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>
                          <a:solidFill>
                            <a:schemeClr val="tx2"/>
                          </a:solidFill>
                          <a:latin typeface="Cambria Math"/>
                        </a:rPr>
                        <m:t>Ext</m:t>
                      </m:r>
                    </m:oMath>
                  </m:oMathPara>
                </a14:m>
                <a:endParaRPr lang="en-US" sz="4000" i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5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7119" y="2901158"/>
                <a:ext cx="2610419" cy="11083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3053482" y="4419680"/>
            <a:ext cx="3077693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rgbClr val="3333CC"/>
                </a:solidFill>
                <a:sym typeface="Symbol" pitchFamily="18" charset="2"/>
              </a:rPr>
              <a:t>m </a:t>
            </a:r>
            <a:r>
              <a:rPr lang="en-US" sz="2400" i="0" dirty="0" smtClean="0">
                <a:sym typeface="Symbol" pitchFamily="18" charset="2"/>
              </a:rPr>
              <a:t>almost uniform bits</a:t>
            </a:r>
            <a:endParaRPr lang="en-US" sz="2400" i="0" dirty="0">
              <a:sym typeface="Symbol" pitchFamily="18" charset="2"/>
            </a:endParaRPr>
          </a:p>
        </p:txBody>
      </p:sp>
      <p:sp>
        <p:nvSpPr>
          <p:cNvPr id="9" name="Line 29"/>
          <p:cNvSpPr>
            <a:spLocks noChangeShapeType="1"/>
          </p:cNvSpPr>
          <p:nvPr/>
        </p:nvSpPr>
        <p:spPr bwMode="auto">
          <a:xfrm flipV="1">
            <a:off x="4592328" y="4038694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180373" y="1988278"/>
            <a:ext cx="482391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chemeClr val="tx2"/>
                </a:solidFill>
              </a:rPr>
              <a:t>n</a:t>
            </a:r>
            <a:r>
              <a:rPr lang="en-US" sz="2400" i="0" dirty="0" smtClean="0"/>
              <a:t>-bit weak random source</a:t>
            </a:r>
            <a:r>
              <a:rPr lang="en-US" sz="2400" i="0" dirty="0" smtClean="0">
                <a:solidFill>
                  <a:schemeClr val="tx2"/>
                </a:solidFill>
              </a:rPr>
              <a:t> X</a:t>
            </a:r>
            <a:endParaRPr lang="en-US" sz="2400" i="0" dirty="0">
              <a:solidFill>
                <a:schemeClr val="tx2"/>
              </a:solidFill>
            </a:endParaRPr>
          </a:p>
        </p:txBody>
      </p:sp>
      <p:sp>
        <p:nvSpPr>
          <p:cNvPr id="14" name="Line 28"/>
          <p:cNvSpPr>
            <a:spLocks noChangeShapeType="1"/>
          </p:cNvSpPr>
          <p:nvPr/>
        </p:nvSpPr>
        <p:spPr bwMode="auto">
          <a:xfrm flipH="1" flipV="1">
            <a:off x="4592328" y="2449942"/>
            <a:ext cx="0" cy="45121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3667" y="5074377"/>
                <a:ext cx="82685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srgbClr val="3333CC"/>
                    </a:solidFill>
                  </a:rPr>
                  <a:t>(k,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)</a:t>
                </a:r>
                <a:r>
                  <a:rPr lang="en-US" altLang="zh-TW" sz="2800" dirty="0" smtClean="0"/>
                  <a:t>-extractor</a:t>
                </a:r>
                <a:r>
                  <a:rPr lang="en-US" altLang="zh-TW" sz="2800" i="1" dirty="0" smtClean="0"/>
                  <a:t>: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7" y="5074377"/>
                <a:ext cx="8268511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1474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003279" y="2872513"/>
            <a:ext cx="2283838" cy="799354"/>
            <a:chOff x="818085" y="3289210"/>
            <a:chExt cx="2283838" cy="799354"/>
          </a:xfrm>
        </p:grpSpPr>
        <p:sp>
          <p:nvSpPr>
            <p:cNvPr id="12" name="Text Box 27"/>
            <p:cNvSpPr txBox="1">
              <a:spLocks noChangeArrowheads="1"/>
            </p:cNvSpPr>
            <p:nvPr/>
          </p:nvSpPr>
          <p:spPr bwMode="auto">
            <a:xfrm>
              <a:off x="885221" y="3626899"/>
              <a:ext cx="1478608" cy="461665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squar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US" sz="2400" i="0" dirty="0" smtClean="0">
                  <a:solidFill>
                    <a:srgbClr val="3333CC"/>
                  </a:solidFill>
                  <a:sym typeface="Symbol" pitchFamily="18" charset="2"/>
                </a:rPr>
                <a:t>d-</a:t>
              </a:r>
              <a:r>
                <a:rPr lang="en-US" sz="2400" i="0" dirty="0" smtClean="0">
                  <a:sym typeface="Symbol" pitchFamily="18" charset="2"/>
                </a:rPr>
                <a:t>bit seed</a:t>
              </a:r>
              <a:endParaRPr lang="en-US" sz="2400" i="0" dirty="0">
                <a:sym typeface="Symbol" pitchFamily="18" charset="2"/>
              </a:endParaRPr>
            </a:p>
          </p:txBody>
        </p:sp>
        <p:sp>
          <p:nvSpPr>
            <p:cNvPr id="15" name="Line 28"/>
            <p:cNvSpPr>
              <a:spLocks noChangeShapeType="1"/>
            </p:cNvSpPr>
            <p:nvPr/>
          </p:nvSpPr>
          <p:spPr bwMode="auto">
            <a:xfrm flipH="1" flipV="1">
              <a:off x="2383276" y="3865347"/>
              <a:ext cx="7186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818085" y="3289210"/>
              <a:ext cx="95410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uniform</a:t>
              </a:r>
              <a:endParaRPr lang="en-US" i="0" dirty="0">
                <a:latin typeface="Helvetica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91449" y="6111266"/>
            <a:ext cx="8398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Goal: minimize seed length </a:t>
            </a:r>
            <a:r>
              <a:rPr lang="en-US" altLang="zh-TW" sz="2800" dirty="0" smtClean="0">
                <a:solidFill>
                  <a:srgbClr val="3333CC"/>
                </a:solidFill>
              </a:rPr>
              <a:t>d</a:t>
            </a:r>
            <a:r>
              <a:rPr lang="en-US" altLang="zh-TW" sz="2800" dirty="0" smtClean="0"/>
              <a:t>, maximize output length </a:t>
            </a:r>
            <a:r>
              <a:rPr lang="en-US" altLang="zh-TW" sz="2800" dirty="0" smtClean="0">
                <a:solidFill>
                  <a:srgbClr val="3333CC"/>
                </a:solidFill>
              </a:rPr>
              <a:t>m</a:t>
            </a:r>
            <a:endParaRPr lang="zh-TW" altLang="en-US" sz="2800" dirty="0">
              <a:solidFill>
                <a:srgbClr val="3333CC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53493" y="5592328"/>
                <a:ext cx="93882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3333CC"/>
                    </a:solidFill>
                  </a:rPr>
                  <a:t>X</a:t>
                </a:r>
                <a:r>
                  <a:rPr lang="en-US" altLang="zh-TW" sz="2800" dirty="0" smtClean="0"/>
                  <a:t> has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 k</a:t>
                </a:r>
                <a:r>
                  <a:rPr lang="en-US" altLang="zh-TW" sz="2800" dirty="0" smtClean="0"/>
                  <a:t>-bits “entropy” 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zh-TW" altLang="en-US" sz="2800" dirty="0" smtClean="0">
                    <a:solidFill>
                      <a:srgbClr val="3333CC"/>
                    </a:solidFill>
                  </a:rPr>
                  <a:t>  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Ext(</a:t>
                </a:r>
                <a:r>
                  <a:rPr lang="en-US" altLang="zh-TW" sz="2800" dirty="0" err="1" smtClean="0">
                    <a:solidFill>
                      <a:srgbClr val="3333CC"/>
                    </a:solidFill>
                  </a:rPr>
                  <a:t>X,U</a:t>
                </a:r>
                <a:r>
                  <a:rPr lang="en-US" altLang="zh-TW" sz="2800" baseline="-25000" dirty="0" err="1" smtClean="0">
                    <a:solidFill>
                      <a:srgbClr val="3333CC"/>
                    </a:solidFill>
                  </a:rPr>
                  <a:t>d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) </a:t>
                </a:r>
                <a:r>
                  <a:rPr lang="en-US" altLang="zh-TW" sz="2800" dirty="0"/>
                  <a:t>“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800" dirty="0" smtClean="0"/>
                  <a:t>-close” to uniform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93" y="5592328"/>
                <a:ext cx="9388217" cy="523220"/>
              </a:xfrm>
              <a:prstGeom prst="rect">
                <a:avLst/>
              </a:prstGeom>
              <a:blipFill rotWithShape="0">
                <a:blip r:embed="rId6"/>
                <a:stretch>
                  <a:fillRect l="-1364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60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Pervasive Applications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09622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Diverse topics in </a:t>
            </a:r>
            <a:r>
              <a:rPr lang="en-US" altLang="zh-TW" sz="2800" dirty="0" smtClean="0"/>
              <a:t>Theoretical Computer </a:t>
            </a:r>
            <a:r>
              <a:rPr lang="en-US" altLang="zh-TW" sz="2800" dirty="0" smtClean="0"/>
              <a:t>Science</a:t>
            </a:r>
          </a:p>
          <a:p>
            <a:pPr lvl="1"/>
            <a:r>
              <a:rPr lang="en-US" altLang="zh-TW" sz="2400" dirty="0" smtClean="0"/>
              <a:t>Cryptography, </a:t>
            </a:r>
            <a:r>
              <a:rPr lang="en-US" altLang="zh-TW" sz="2400" dirty="0" err="1" smtClean="0"/>
              <a:t>Derandomization</a:t>
            </a:r>
            <a:r>
              <a:rPr lang="en-US" altLang="zh-TW" sz="2400" dirty="0" smtClean="0"/>
              <a:t> </a:t>
            </a:r>
            <a:r>
              <a:rPr lang="en-US" altLang="zh-TW" sz="2000" dirty="0" smtClean="0">
                <a:solidFill>
                  <a:srgbClr val="0070C0"/>
                </a:solidFill>
              </a:rPr>
              <a:t>[Sis88, NZ93,…]</a:t>
            </a:r>
            <a:r>
              <a:rPr lang="en-US" altLang="zh-TW" sz="2400" dirty="0" smtClean="0"/>
              <a:t>, Distributed algorithms </a:t>
            </a:r>
            <a:r>
              <a:rPr lang="en-US" altLang="zh-TW" sz="2000" dirty="0" smtClean="0">
                <a:solidFill>
                  <a:srgbClr val="0070C0"/>
                </a:solidFill>
              </a:rPr>
              <a:t>[WZ95]</a:t>
            </a:r>
            <a:r>
              <a:rPr lang="en-US" altLang="zh-TW" sz="2400" dirty="0" smtClean="0"/>
              <a:t>, Data structures </a:t>
            </a:r>
            <a:r>
              <a:rPr lang="en-US" altLang="zh-TW" sz="2000" dirty="0" smtClean="0">
                <a:solidFill>
                  <a:srgbClr val="0070C0"/>
                </a:solidFill>
              </a:rPr>
              <a:t>[Ta02]</a:t>
            </a:r>
            <a:r>
              <a:rPr lang="en-US" altLang="zh-TW" sz="2400" dirty="0" smtClean="0"/>
              <a:t>,  Hardness of Approximation </a:t>
            </a:r>
            <a:r>
              <a:rPr lang="en-US" altLang="zh-TW" sz="2000" dirty="0" smtClean="0">
                <a:solidFill>
                  <a:srgbClr val="0070C0"/>
                </a:solidFill>
              </a:rPr>
              <a:t>[Zuc93,…] </a:t>
            </a:r>
            <a:endParaRPr lang="en-US" altLang="zh-TW" sz="2400" dirty="0" smtClean="0">
              <a:solidFill>
                <a:srgbClr val="0070C0"/>
              </a:solidFill>
            </a:endParaRPr>
          </a:p>
          <a:p>
            <a:pPr lvl="4"/>
            <a:endParaRPr lang="en-US" altLang="zh-TW" sz="900" dirty="0" smtClean="0"/>
          </a:p>
          <a:p>
            <a:r>
              <a:rPr lang="en-US" altLang="zh-TW" sz="2800" dirty="0" smtClean="0"/>
              <a:t>Many applications in Cryptography</a:t>
            </a:r>
          </a:p>
          <a:p>
            <a:pPr lvl="1"/>
            <a:r>
              <a:rPr lang="en-US" altLang="zh-TW" sz="2400" dirty="0" smtClean="0"/>
              <a:t>Bounded-storage </a:t>
            </a:r>
            <a:r>
              <a:rPr lang="en-US" altLang="zh-TW" sz="2400" dirty="0" smtClean="0"/>
              <a:t>model </a:t>
            </a:r>
            <a:r>
              <a:rPr lang="en-US" altLang="zh-TW" sz="2000" dirty="0" smtClean="0">
                <a:solidFill>
                  <a:srgbClr val="0070C0"/>
                </a:solidFill>
              </a:rPr>
              <a:t>[Lu02,V03]</a:t>
            </a:r>
            <a:r>
              <a:rPr lang="en-US" altLang="zh-TW" sz="2400" dirty="0" smtClean="0"/>
              <a:t>, PRG </a:t>
            </a:r>
            <a:r>
              <a:rPr lang="en-US" altLang="zh-TW" sz="2000" dirty="0" smtClean="0">
                <a:solidFill>
                  <a:srgbClr val="0070C0"/>
                </a:solidFill>
              </a:rPr>
              <a:t>[HILL89]</a:t>
            </a:r>
            <a:r>
              <a:rPr lang="en-US" altLang="zh-TW" sz="2400" dirty="0" smtClean="0"/>
              <a:t>, Biometrics </a:t>
            </a:r>
            <a:r>
              <a:rPr lang="en-US" altLang="zh-TW" sz="2000" dirty="0" smtClean="0">
                <a:solidFill>
                  <a:srgbClr val="0070C0"/>
                </a:solidFill>
              </a:rPr>
              <a:t>[DRS04]</a:t>
            </a:r>
            <a:r>
              <a:rPr lang="en-US" altLang="zh-TW" sz="2400" dirty="0" smtClean="0"/>
              <a:t>, Leakage-resilient crypto </a:t>
            </a:r>
            <a:r>
              <a:rPr lang="en-US" altLang="zh-TW" sz="2000" dirty="0" smtClean="0">
                <a:solidFill>
                  <a:srgbClr val="0070C0"/>
                </a:solidFill>
              </a:rPr>
              <a:t>[DP09]</a:t>
            </a:r>
            <a:r>
              <a:rPr lang="en-US" altLang="zh-TW" sz="2400" dirty="0" smtClean="0"/>
              <a:t>…</a:t>
            </a:r>
          </a:p>
          <a:p>
            <a:pPr lvl="1"/>
            <a:endParaRPr lang="en-US" altLang="zh-TW" sz="600" dirty="0" smtClean="0"/>
          </a:p>
          <a:p>
            <a:r>
              <a:rPr lang="en-US" altLang="zh-TW" sz="2800" dirty="0" smtClean="0"/>
              <a:t>Also in Quantum Cryptography</a:t>
            </a:r>
            <a:endParaRPr lang="en-US" altLang="zh-TW" sz="2800" dirty="0" smtClean="0"/>
          </a:p>
          <a:p>
            <a:pPr lvl="1"/>
            <a:r>
              <a:rPr lang="en-US" altLang="zh-TW" sz="2400" dirty="0">
                <a:solidFill>
                  <a:srgbClr val="FF0000"/>
                </a:solidFill>
              </a:rPr>
              <a:t>Privacy amplification</a:t>
            </a:r>
            <a:r>
              <a:rPr lang="en-US" altLang="zh-TW" sz="2400" dirty="0"/>
              <a:t> </a:t>
            </a:r>
            <a:r>
              <a:rPr lang="en-US" altLang="zh-TW" sz="2000" dirty="0">
                <a:solidFill>
                  <a:srgbClr val="0070C0"/>
                </a:solidFill>
              </a:rPr>
              <a:t>[BBR88</a:t>
            </a:r>
            <a:r>
              <a:rPr lang="en-US" altLang="zh-TW" sz="2000" dirty="0" smtClean="0">
                <a:solidFill>
                  <a:srgbClr val="0070C0"/>
                </a:solidFill>
              </a:rPr>
              <a:t>]</a:t>
            </a:r>
            <a:r>
              <a:rPr lang="en-US" altLang="zh-TW" sz="2400" dirty="0" smtClean="0"/>
              <a:t>, Randomness expansion, Physical randomness extractors,… 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2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Privacy Amplification </a:t>
            </a:r>
            <a:r>
              <a:rPr lang="en-US" altLang="zh-TW" sz="3600" dirty="0" smtClean="0"/>
              <a:t>[BBR88]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1866"/>
            <a:ext cx="8229600" cy="249774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Alice &amp; Bob share secret weak random source </a:t>
            </a:r>
            <a:r>
              <a:rPr lang="en-US" altLang="zh-TW" sz="2800" dirty="0" smtClean="0">
                <a:solidFill>
                  <a:srgbClr val="3333CC"/>
                </a:solidFill>
              </a:rPr>
              <a:t>X</a:t>
            </a:r>
          </a:p>
          <a:p>
            <a:r>
              <a:rPr lang="en-US" altLang="zh-TW" sz="2800" dirty="0" smtClean="0"/>
              <a:t>Goal: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extract uniform key </a:t>
            </a:r>
            <a:r>
              <a:rPr lang="en-US" altLang="zh-TW" sz="2800" dirty="0" smtClean="0">
                <a:solidFill>
                  <a:srgbClr val="3333CC"/>
                </a:solidFill>
              </a:rPr>
              <a:t>Z</a:t>
            </a:r>
            <a:r>
              <a:rPr lang="en-US" altLang="zh-TW" sz="2800" dirty="0" smtClean="0"/>
              <a:t> against eavesdropper Eve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35" descr="j023073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93" y="2578209"/>
            <a:ext cx="1169988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6" descr="j023074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613" y="2552809"/>
            <a:ext cx="862012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27"/>
          <p:cNvGrpSpPr/>
          <p:nvPr/>
        </p:nvGrpSpPr>
        <p:grpSpPr>
          <a:xfrm flipH="1">
            <a:off x="3863540" y="4191976"/>
            <a:ext cx="843315" cy="1353455"/>
            <a:chOff x="8051712" y="3763126"/>
            <a:chExt cx="843315" cy="1353455"/>
          </a:xfrm>
        </p:grpSpPr>
        <p:grpSp>
          <p:nvGrpSpPr>
            <p:cNvPr id="8" name="Group 15"/>
            <p:cNvGrpSpPr/>
            <p:nvPr/>
          </p:nvGrpSpPr>
          <p:grpSpPr>
            <a:xfrm>
              <a:off x="8051712" y="4175522"/>
              <a:ext cx="843315" cy="941059"/>
              <a:chOff x="6131542" y="4051300"/>
              <a:chExt cx="843315" cy="941059"/>
            </a:xfrm>
          </p:grpSpPr>
          <p:pic>
            <p:nvPicPr>
              <p:cNvPr id="11" name="Picture 28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131542" y="4100694"/>
                <a:ext cx="843315" cy="89166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sp>
            <p:nvSpPr>
              <p:cNvPr id="12" name="Freeform 29"/>
              <p:cNvSpPr>
                <a:spLocks/>
              </p:cNvSpPr>
              <p:nvPr/>
            </p:nvSpPr>
            <p:spPr bwMode="auto">
              <a:xfrm>
                <a:off x="6676377" y="4051300"/>
                <a:ext cx="86590" cy="191071"/>
              </a:xfrm>
              <a:custGeom>
                <a:avLst/>
                <a:gdLst/>
                <a:ahLst/>
                <a:cxnLst>
                  <a:cxn ang="0">
                    <a:pos x="0" y="113"/>
                  </a:cxn>
                  <a:cxn ang="0">
                    <a:pos x="96" y="26"/>
                  </a:cxn>
                  <a:cxn ang="0">
                    <a:pos x="105" y="0"/>
                  </a:cxn>
                  <a:cxn ang="0">
                    <a:pos x="105" y="52"/>
                  </a:cxn>
                  <a:cxn ang="0">
                    <a:pos x="43" y="174"/>
                  </a:cxn>
                  <a:cxn ang="0">
                    <a:pos x="0" y="192"/>
                  </a:cxn>
                </a:cxnLst>
                <a:rect l="0" t="0" r="r" b="b"/>
                <a:pathLst>
                  <a:path w="126" h="192">
                    <a:moveTo>
                      <a:pt x="0" y="113"/>
                    </a:moveTo>
                    <a:cubicBezTo>
                      <a:pt x="60" y="92"/>
                      <a:pt x="53" y="66"/>
                      <a:pt x="96" y="26"/>
                    </a:cubicBezTo>
                    <a:cubicBezTo>
                      <a:pt x="99" y="17"/>
                      <a:pt x="96" y="0"/>
                      <a:pt x="105" y="0"/>
                    </a:cubicBezTo>
                    <a:cubicBezTo>
                      <a:pt x="126" y="0"/>
                      <a:pt x="105" y="52"/>
                      <a:pt x="105" y="52"/>
                    </a:cubicBezTo>
                    <a:cubicBezTo>
                      <a:pt x="93" y="97"/>
                      <a:pt x="87" y="148"/>
                      <a:pt x="43" y="174"/>
                    </a:cubicBezTo>
                    <a:cubicBezTo>
                      <a:pt x="30" y="182"/>
                      <a:pt x="14" y="185"/>
                      <a:pt x="0" y="192"/>
                    </a:cubicBezTo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3" name="Freeform 30"/>
              <p:cNvSpPr>
                <a:spLocks/>
              </p:cNvSpPr>
              <p:nvPr/>
            </p:nvSpPr>
            <p:spPr bwMode="auto">
              <a:xfrm>
                <a:off x="6365227" y="4080791"/>
                <a:ext cx="90355" cy="147284"/>
              </a:xfrm>
              <a:custGeom>
                <a:avLst/>
                <a:gdLst/>
                <a:ahLst/>
                <a:cxnLst>
                  <a:cxn ang="0">
                    <a:pos x="131" y="61"/>
                  </a:cxn>
                  <a:cxn ang="0">
                    <a:pos x="61" y="44"/>
                  </a:cxn>
                  <a:cxn ang="0">
                    <a:pos x="0" y="0"/>
                  </a:cxn>
                  <a:cxn ang="0">
                    <a:pos x="131" y="149"/>
                  </a:cxn>
                </a:cxnLst>
                <a:rect l="0" t="0" r="r" b="b"/>
                <a:pathLst>
                  <a:path w="131" h="149">
                    <a:moveTo>
                      <a:pt x="131" y="61"/>
                    </a:moveTo>
                    <a:cubicBezTo>
                      <a:pt x="119" y="59"/>
                      <a:pt x="76" y="53"/>
                      <a:pt x="61" y="44"/>
                    </a:cubicBezTo>
                    <a:cubicBezTo>
                      <a:pt x="35" y="28"/>
                      <a:pt x="31" y="11"/>
                      <a:pt x="0" y="0"/>
                    </a:cubicBezTo>
                    <a:cubicBezTo>
                      <a:pt x="24" y="69"/>
                      <a:pt x="36" y="149"/>
                      <a:pt x="131" y="149"/>
                    </a:cubicBezTo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8194716" y="3763126"/>
              <a:ext cx="58221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i="0" dirty="0" smtClean="0">
                  <a:latin typeface="Helvetica" pitchFamily="34" charset="0"/>
                </a:rPr>
                <a:t>Eve</a:t>
              </a:r>
              <a:endParaRPr lang="en-US" i="0" dirty="0">
                <a:latin typeface="Helvetica" pitchFamily="34" charset="0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auto">
          <a:xfrm flipH="1">
            <a:off x="1118458" y="3760718"/>
            <a:ext cx="6848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Alice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 flipH="1">
            <a:off x="6458965" y="3721806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Bob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1071054" y="4139807"/>
            <a:ext cx="1137127" cy="338554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6291582" y="4078194"/>
            <a:ext cx="1137127" cy="338554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42887" y="4093963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34235" y="4032354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925369" y="3380600"/>
            <a:ext cx="2920953" cy="491955"/>
            <a:chOff x="2925369" y="3542650"/>
            <a:chExt cx="2920953" cy="491955"/>
          </a:xfrm>
        </p:grpSpPr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H="1" flipV="1">
              <a:off x="2925369" y="4034605"/>
              <a:ext cx="29209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01913" y="3542650"/>
              <a:ext cx="14012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/>
                <a:t>uniform</a:t>
              </a:r>
              <a:r>
                <a:rPr lang="en-US" altLang="zh-TW" sz="2400" dirty="0" smtClean="0">
                  <a:solidFill>
                    <a:schemeClr val="tx2"/>
                  </a:solidFill>
                </a:rPr>
                <a:t> </a:t>
              </a:r>
              <a:r>
                <a:rPr lang="en-US" altLang="zh-TW" sz="2400" dirty="0" smtClean="0">
                  <a:solidFill>
                    <a:srgbClr val="3333CC"/>
                  </a:solidFill>
                </a:rPr>
                <a:t>Y</a:t>
              </a:r>
              <a:endParaRPr lang="zh-TW" altLang="en-US" sz="2400" dirty="0">
                <a:solidFill>
                  <a:srgbClr val="3333CC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800612" y="4855960"/>
            <a:ext cx="1421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74061" y="4862445"/>
            <a:ext cx="1421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61487" y="5665800"/>
                <a:ext cx="67218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/>
                  <a:t>Need</a:t>
                </a:r>
                <a:r>
                  <a:rPr lang="en-US" altLang="zh-TW" sz="2800" i="1" dirty="0" smtClean="0"/>
                  <a:t> strong</a:t>
                </a:r>
                <a:r>
                  <a:rPr lang="en-US" altLang="zh-TW" sz="2800" dirty="0" smtClean="0"/>
                  <a:t> </a:t>
                </a:r>
                <a:r>
                  <a:rPr lang="en-US" altLang="zh-TW" sz="2800" dirty="0" smtClean="0"/>
                  <a:t>extractor: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(Z, 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  <m:sub>
                        <m:r>
                          <a:rPr lang="zh-TW" altLang="en-US" sz="28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</m:oMath>
                </a14:m>
                <a:r>
                  <a:rPr lang="zh-TW" altLang="en-US" sz="2800" dirty="0" smtClean="0">
                    <a:solidFill>
                      <a:srgbClr val="3333CC"/>
                    </a:solidFill>
                  </a:rPr>
                  <a:t>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(U</a:t>
                </a:r>
                <a:r>
                  <a:rPr lang="en-US" altLang="zh-TW" sz="2800" baseline="-25000" dirty="0" smtClean="0">
                    <a:solidFill>
                      <a:srgbClr val="3333CC"/>
                    </a:solidFill>
                  </a:rPr>
                  <a:t>m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, </a:t>
                </a:r>
                <a:r>
                  <a:rPr lang="en-US" altLang="zh-TW" sz="2800" dirty="0">
                    <a:solidFill>
                      <a:srgbClr val="3333CC"/>
                    </a:solidFill>
                  </a:rPr>
                  <a:t>Y)</a:t>
                </a:r>
                <a:endParaRPr lang="zh-TW" altLang="en-US" sz="28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87" y="5665800"/>
                <a:ext cx="6721808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1906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663415" y="6142290"/>
            <a:ext cx="6721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Need</a:t>
            </a:r>
            <a:r>
              <a:rPr lang="en-US" altLang="zh-TW" sz="2800" i="1" dirty="0" smtClean="0"/>
              <a:t> explicit </a:t>
            </a:r>
            <a:r>
              <a:rPr lang="en-US" altLang="zh-TW" sz="2800" dirty="0" smtClean="0"/>
              <a:t>construction</a:t>
            </a:r>
            <a:endParaRPr lang="zh-TW" altLang="en-US" sz="28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04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08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Handle </a:t>
            </a:r>
            <a:r>
              <a:rPr lang="en-US" altLang="zh-TW" dirty="0" smtClean="0"/>
              <a:t>Side </a:t>
            </a:r>
            <a:r>
              <a:rPr lang="en-US" altLang="zh-TW" dirty="0" smtClean="0"/>
              <a:t>Information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5543"/>
            <a:ext cx="8229600" cy="249774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Eve may hold (quantum) side </a:t>
            </a:r>
            <a:r>
              <a:rPr lang="en-US" altLang="zh-TW" sz="2800" dirty="0" smtClean="0"/>
              <a:t>info </a:t>
            </a:r>
            <a:r>
              <a:rPr lang="en-US" altLang="zh-TW" sz="2800" dirty="0" smtClean="0">
                <a:solidFill>
                  <a:srgbClr val="3333CC"/>
                </a:solidFill>
              </a:rPr>
              <a:t>E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about</a:t>
            </a:r>
            <a:r>
              <a:rPr lang="zh-TW" altLang="en-US" sz="2800" dirty="0" smtClean="0"/>
              <a:t> </a:t>
            </a:r>
            <a:r>
              <a:rPr lang="en-US" altLang="zh-TW" sz="2800" dirty="0" smtClean="0">
                <a:solidFill>
                  <a:srgbClr val="3333CC"/>
                </a:solidFill>
              </a:rPr>
              <a:t>X</a:t>
            </a:r>
            <a:r>
              <a:rPr lang="en-US" altLang="zh-TW" sz="2800" dirty="0" smtClean="0"/>
              <a:t>  </a:t>
            </a:r>
          </a:p>
          <a:p>
            <a:pPr lvl="1"/>
            <a:r>
              <a:rPr lang="en-US" altLang="zh-TW" sz="2400" dirty="0" smtClean="0"/>
              <a:t>e.g</a:t>
            </a:r>
            <a:r>
              <a:rPr lang="en-US" altLang="zh-TW" sz="2400" dirty="0" smtClean="0"/>
              <a:t>., when used </a:t>
            </a:r>
            <a:r>
              <a:rPr lang="en-US" altLang="zh-TW" sz="2400" dirty="0" smtClean="0"/>
              <a:t>as sub-protocol in QKD</a:t>
            </a:r>
            <a:endParaRPr lang="en-US" altLang="zh-TW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35" descr="j02307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93" y="2915362"/>
            <a:ext cx="1169988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6" descr="j023074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613" y="2889962"/>
            <a:ext cx="862012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7"/>
          <p:cNvSpPr>
            <a:spLocks noChangeArrowheads="1"/>
          </p:cNvSpPr>
          <p:nvPr/>
        </p:nvSpPr>
        <p:spPr bwMode="auto">
          <a:xfrm flipH="1">
            <a:off x="1118458" y="4097871"/>
            <a:ext cx="6848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Alice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 flipH="1">
            <a:off x="6458965" y="4058959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Bob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1071054" y="4476960"/>
            <a:ext cx="1137127" cy="33855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6291582" y="4415347"/>
            <a:ext cx="1137127" cy="33855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42887" y="4431116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34235" y="4369507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2925369" y="3717753"/>
            <a:ext cx="2920953" cy="491955"/>
            <a:chOff x="2925369" y="3717753"/>
            <a:chExt cx="2920953" cy="491955"/>
          </a:xfrm>
        </p:grpSpPr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H="1" flipV="1">
              <a:off x="2925369" y="4209708"/>
              <a:ext cx="29209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01913" y="3717753"/>
              <a:ext cx="14012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/>
                <a:t>uniform</a:t>
              </a:r>
              <a:r>
                <a:rPr lang="en-US" altLang="zh-TW" sz="2400" dirty="0" smtClean="0">
                  <a:solidFill>
                    <a:schemeClr val="tx2"/>
                  </a:solidFill>
                </a:rPr>
                <a:t> </a:t>
              </a:r>
              <a:r>
                <a:rPr lang="en-US" altLang="zh-TW" sz="2400" dirty="0" smtClean="0">
                  <a:solidFill>
                    <a:srgbClr val="3333CC"/>
                  </a:solidFill>
                </a:rPr>
                <a:t>Y</a:t>
              </a:r>
              <a:endParaRPr lang="zh-TW" altLang="en-US" sz="2400" dirty="0">
                <a:solidFill>
                  <a:srgbClr val="3333CC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800612" y="5193113"/>
            <a:ext cx="1421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74061" y="5199598"/>
            <a:ext cx="1421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12846" y="6099241"/>
                <a:ext cx="80253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/>
                  <a:t>Need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Ext</a:t>
                </a:r>
                <a:r>
                  <a:rPr lang="en-US" altLang="zh-TW" sz="2800" dirty="0" smtClean="0"/>
                  <a:t> against side info: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(Z, Y, 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  <m:sub>
                        <m:r>
                          <a:rPr lang="zh-TW" altLang="en-US" sz="28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</m:oMath>
                </a14:m>
                <a:r>
                  <a:rPr lang="zh-TW" altLang="en-US" sz="2800" dirty="0" smtClean="0">
                    <a:solidFill>
                      <a:srgbClr val="3333CC"/>
                    </a:solidFill>
                  </a:rPr>
                  <a:t>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(U</a:t>
                </a:r>
                <a:r>
                  <a:rPr lang="en-US" altLang="zh-TW" sz="2800" baseline="-25000" dirty="0" smtClean="0">
                    <a:solidFill>
                      <a:srgbClr val="3333CC"/>
                    </a:solidFill>
                  </a:rPr>
                  <a:t>m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, Y, E)</a:t>
                </a:r>
                <a:endParaRPr lang="zh-TW" altLang="en-US" sz="28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46" y="6099241"/>
                <a:ext cx="8025313" cy="523220"/>
              </a:xfrm>
              <a:prstGeom prst="rect">
                <a:avLst/>
              </a:prstGeom>
              <a:blipFill rotWithShape="0">
                <a:blip r:embed="rId5"/>
                <a:stretch>
                  <a:fillRect l="-1596" t="-11765" b="-341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3863540" y="4529129"/>
            <a:ext cx="1092328" cy="1472605"/>
            <a:chOff x="3863540" y="4470761"/>
            <a:chExt cx="1092328" cy="1472605"/>
          </a:xfrm>
        </p:grpSpPr>
        <p:grpSp>
          <p:nvGrpSpPr>
            <p:cNvPr id="7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8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11" name="Picture 28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12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13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10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4620520" y="5481701"/>
              <a:ext cx="33534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FF0000"/>
                  </a:solidFill>
                </a:rPr>
                <a:t>E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674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3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Quantum-Proof Strong Extractors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371" y="1379590"/>
            <a:ext cx="8735441" cy="4659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b="1" dirty="0" smtClean="0">
                <a:solidFill>
                  <a:schemeClr val="accent6">
                    <a:lumMod val="75000"/>
                  </a:schemeClr>
                </a:solidFill>
              </a:rPr>
              <a:t>Want:</a:t>
            </a:r>
            <a:r>
              <a:rPr lang="en-US" altLang="zh-TW" sz="2800" dirty="0" smtClean="0">
                <a:solidFill>
                  <a:srgbClr val="3333CC"/>
                </a:solidFill>
              </a:rPr>
              <a:t> Ext</a:t>
            </a:r>
            <a:r>
              <a:rPr lang="en-US" altLang="zh-TW" sz="2800" baseline="30000" dirty="0" smtClean="0">
                <a:solidFill>
                  <a:srgbClr val="3333CC"/>
                </a:solidFill>
              </a:rPr>
              <a:t> </a:t>
            </a:r>
            <a:r>
              <a:rPr lang="en-US" altLang="zh-TW" sz="2800" dirty="0" smtClean="0"/>
              <a:t>works against </a:t>
            </a:r>
            <a:r>
              <a:rPr lang="en-US" altLang="zh-TW" sz="2800" dirty="0" smtClean="0"/>
              <a:t>quantum </a:t>
            </a:r>
            <a:r>
              <a:rPr lang="en-US" altLang="zh-TW" sz="2800" dirty="0" smtClean="0"/>
              <a:t>side </a:t>
            </a:r>
            <a:r>
              <a:rPr lang="en-US" altLang="zh-TW" sz="2800" dirty="0" smtClean="0"/>
              <a:t>info</a:t>
            </a:r>
            <a:endParaRPr lang="en-US" altLang="zh-TW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5"/>
              <p:cNvSpPr>
                <a:spLocks noChangeArrowheads="1"/>
              </p:cNvSpPr>
              <p:nvPr/>
            </p:nvSpPr>
            <p:spPr bwMode="auto">
              <a:xfrm>
                <a:off x="3101925" y="3044724"/>
                <a:ext cx="2610419" cy="11083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>
                          <a:solidFill>
                            <a:schemeClr val="tx2"/>
                          </a:solidFill>
                          <a:latin typeface="Cambria Math"/>
                        </a:rPr>
                        <m:t>Ext</m:t>
                      </m:r>
                    </m:oMath>
                  </m:oMathPara>
                </a14:m>
                <a:endParaRPr lang="en-US" sz="4000" i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5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925" y="3044724"/>
                <a:ext cx="2610419" cy="11083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2868288" y="4563246"/>
            <a:ext cx="3077693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rgbClr val="3333CC"/>
                </a:solidFill>
                <a:sym typeface="Symbol" pitchFamily="18" charset="2"/>
              </a:rPr>
              <a:t>Output Z = Ext(X,Y)</a:t>
            </a:r>
            <a:endParaRPr lang="en-US" sz="2400" i="0" dirty="0">
              <a:sym typeface="Symbol" pitchFamily="18" charset="2"/>
            </a:endParaRPr>
          </a:p>
        </p:txBody>
      </p:sp>
      <p:sp>
        <p:nvSpPr>
          <p:cNvPr id="9" name="Line 29"/>
          <p:cNvSpPr>
            <a:spLocks noChangeShapeType="1"/>
          </p:cNvSpPr>
          <p:nvPr/>
        </p:nvSpPr>
        <p:spPr bwMode="auto">
          <a:xfrm flipV="1">
            <a:off x="4407134" y="418226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1995179" y="2131844"/>
            <a:ext cx="4823910" cy="4616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rgbClr val="3333CC"/>
                </a:solidFill>
              </a:rPr>
              <a:t>k</a:t>
            </a:r>
            <a:r>
              <a:rPr lang="en-US" sz="2400" i="0" dirty="0" smtClean="0"/>
              <a:t>-source</a:t>
            </a:r>
            <a:r>
              <a:rPr lang="en-US" sz="2400" i="0" dirty="0" smtClean="0">
                <a:solidFill>
                  <a:schemeClr val="tx2"/>
                </a:solidFill>
              </a:rPr>
              <a:t> X</a:t>
            </a:r>
            <a:endParaRPr lang="en-US" sz="2400" i="0" dirty="0">
              <a:solidFill>
                <a:schemeClr val="tx2"/>
              </a:solidFill>
            </a:endParaRPr>
          </a:p>
        </p:txBody>
      </p:sp>
      <p:sp>
        <p:nvSpPr>
          <p:cNvPr id="14" name="Line 28"/>
          <p:cNvSpPr>
            <a:spLocks noChangeShapeType="1"/>
          </p:cNvSpPr>
          <p:nvPr/>
        </p:nvSpPr>
        <p:spPr bwMode="auto">
          <a:xfrm flipH="1" flipV="1">
            <a:off x="4407134" y="2593508"/>
            <a:ext cx="0" cy="45121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885221" y="3353768"/>
            <a:ext cx="1478608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ym typeface="Symbol" pitchFamily="18" charset="2"/>
              </a:rPr>
              <a:t>Seed </a:t>
            </a:r>
            <a:r>
              <a:rPr lang="en-US" sz="2400" i="0" dirty="0" smtClean="0">
                <a:solidFill>
                  <a:srgbClr val="3333CC"/>
                </a:solidFill>
                <a:sym typeface="Symbol" pitchFamily="18" charset="2"/>
              </a:rPr>
              <a:t>Y</a:t>
            </a:r>
            <a:endParaRPr lang="en-US" sz="2400" i="0" baseline="-25000" dirty="0">
              <a:solidFill>
                <a:srgbClr val="3333CC"/>
              </a:solidFill>
              <a:sym typeface="Symbol" pitchFamily="18" charset="2"/>
            </a:endParaRPr>
          </a:p>
        </p:txBody>
      </p:sp>
      <p:sp>
        <p:nvSpPr>
          <p:cNvPr id="15" name="Line 28"/>
          <p:cNvSpPr>
            <a:spLocks noChangeShapeType="1"/>
          </p:cNvSpPr>
          <p:nvPr/>
        </p:nvSpPr>
        <p:spPr bwMode="auto">
          <a:xfrm flipH="1" flipV="1">
            <a:off x="2383276" y="3592216"/>
            <a:ext cx="71864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818085" y="3016079"/>
            <a:ext cx="9541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 dirty="0" smtClean="0">
                <a:latin typeface="Helvetica" pitchFamily="34" charset="0"/>
              </a:rPr>
              <a:t>uniform</a:t>
            </a:r>
            <a:endParaRPr lang="en-US" i="0" dirty="0">
              <a:latin typeface="Helvetica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2725965" y="4237202"/>
                <a:ext cx="112402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i="0" dirty="0" smtClean="0">
                    <a:latin typeface="Helvetica" pitchFamily="34" charset="0"/>
                  </a:rPr>
                  <a:t>uniform</a:t>
                </a:r>
                <a:endParaRPr lang="en-US" i="0" dirty="0">
                  <a:latin typeface="Helvetica" pitchFamily="34" charset="0"/>
                </a:endParaRP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5965" y="4237202"/>
                <a:ext cx="1124026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r="-5405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7569789" y="2096467"/>
            <a:ext cx="1126102" cy="1466064"/>
            <a:chOff x="3863540" y="4470761"/>
            <a:chExt cx="1126102" cy="1466064"/>
          </a:xfrm>
        </p:grpSpPr>
        <p:grpSp>
          <p:nvGrpSpPr>
            <p:cNvPr id="22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24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26" name="Picture 28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27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28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25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4630248" y="5413605"/>
              <a:ext cx="35939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dirty="0" smtClean="0">
                  <a:solidFill>
                    <a:srgbClr val="3333CC"/>
                  </a:solidFill>
                </a:rPr>
                <a:t>E</a:t>
              </a:r>
              <a:endParaRPr lang="zh-TW" altLang="en-US" sz="28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26184" y="5074377"/>
                <a:ext cx="82685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solidFill>
                      <a:srgbClr val="3333CC"/>
                    </a:solidFill>
                  </a:rPr>
                  <a:t>(k,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)</a:t>
                </a:r>
                <a:r>
                  <a:rPr lang="en-US" altLang="zh-TW" sz="2800" dirty="0" smtClean="0"/>
                  <a:t>-quantum-proof strong extractor</a:t>
                </a:r>
                <a:r>
                  <a:rPr lang="en-US" altLang="zh-TW" sz="2800" i="1" dirty="0" smtClean="0"/>
                  <a:t>: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84" y="5074377"/>
                <a:ext cx="8268511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1549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600737" y="5592328"/>
                <a:ext cx="77214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3333CC"/>
                    </a:solidFill>
                  </a:rPr>
                  <a:t>(X|E)</a:t>
                </a:r>
                <a:r>
                  <a:rPr lang="en-US" altLang="zh-TW" sz="2800" dirty="0" smtClean="0"/>
                  <a:t> has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 k</a:t>
                </a:r>
                <a:r>
                  <a:rPr lang="en-US" altLang="zh-TW" sz="2800" dirty="0" smtClean="0"/>
                  <a:t>-bits “conditional min-entropy”  </a:t>
                </a:r>
                <a:endParaRPr lang="en-US" altLang="zh-TW" sz="28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zh-TW" altLang="en-US" sz="2800" dirty="0" smtClean="0">
                    <a:solidFill>
                      <a:srgbClr val="3333CC"/>
                    </a:solidFill>
                  </a:rPr>
                  <a:t>   </a:t>
                </a:r>
                <a:r>
                  <a:rPr lang="en-US" altLang="zh-TW" sz="2800" dirty="0">
                    <a:solidFill>
                      <a:srgbClr val="3333CC"/>
                    </a:solidFill>
                  </a:rPr>
                  <a:t>(Z, Y, E)</a:t>
                </a:r>
                <a:r>
                  <a:rPr lang="en-US" altLang="zh-TW" sz="2800" dirty="0"/>
                  <a:t> is </a:t>
                </a:r>
                <a:r>
                  <a:rPr lang="en-US" altLang="zh-TW" sz="2800" dirty="0" smtClean="0"/>
                  <a:t>“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800" dirty="0"/>
                  <a:t>-</a:t>
                </a:r>
                <a:r>
                  <a:rPr lang="en-US" altLang="zh-TW" sz="2800" dirty="0" smtClean="0"/>
                  <a:t>close” </a:t>
                </a:r>
                <a:r>
                  <a:rPr lang="en-US" altLang="zh-TW" sz="2800" dirty="0"/>
                  <a:t>to </a:t>
                </a:r>
                <a:r>
                  <a:rPr lang="en-US" altLang="zh-TW" sz="2800" dirty="0">
                    <a:solidFill>
                      <a:srgbClr val="3333CC"/>
                    </a:solidFill>
                  </a:rPr>
                  <a:t>(U</a:t>
                </a:r>
                <a:r>
                  <a:rPr lang="en-US" altLang="zh-TW" sz="2800" baseline="-25000" dirty="0">
                    <a:solidFill>
                      <a:srgbClr val="3333CC"/>
                    </a:solidFill>
                  </a:rPr>
                  <a:t>m</a:t>
                </a:r>
                <a:r>
                  <a:rPr lang="en-US" altLang="zh-TW" sz="2800" dirty="0">
                    <a:solidFill>
                      <a:srgbClr val="3333CC"/>
                    </a:solidFill>
                  </a:rPr>
                  <a:t>, Y, E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)</a:t>
                </a:r>
                <a:endParaRPr lang="zh-TW" altLang="en-US" sz="28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37" y="5592328"/>
                <a:ext cx="7721464" cy="954107"/>
              </a:xfrm>
              <a:prstGeom prst="rect">
                <a:avLst/>
              </a:prstGeom>
              <a:blipFill rotWithShape="0">
                <a:blip r:embed="rId8"/>
                <a:stretch>
                  <a:fillRect l="-1659" t="-5732" b="-17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Entropy &amp; Distance: Operational Def.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17638"/>
                <a:ext cx="8686800" cy="510962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Entropy measure: conditional min-entropy</a:t>
                </a:r>
                <a:endParaRPr lang="en-US" altLang="zh-TW" sz="2800" dirty="0" smtClean="0"/>
              </a:p>
              <a:p>
                <a:pPr lvl="1"/>
                <a:r>
                  <a:rPr lang="en-US" altLang="zh-TW" sz="2400" dirty="0" smtClean="0"/>
                  <a:t>Cond. Min-entropy: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 </a:t>
                </a:r>
                <a:r>
                  <a:rPr lang="en-US" altLang="zh-TW" sz="2400" dirty="0" err="1" smtClean="0">
                    <a:solidFill>
                      <a:srgbClr val="3333CC"/>
                    </a:solidFill>
                  </a:rPr>
                  <a:t>H</a:t>
                </a:r>
                <a:r>
                  <a:rPr lang="en-US" altLang="zh-TW" sz="2400" baseline="-25000" dirty="0" err="1" smtClean="0">
                    <a:solidFill>
                      <a:srgbClr val="3333CC"/>
                    </a:solidFill>
                  </a:rPr>
                  <a:t>min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(X|E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)</a:t>
                </a:r>
                <a:r>
                  <a:rPr lang="zh-TW" altLang="en-US" sz="2400" dirty="0">
                    <a:solidFill>
                      <a:srgbClr val="3333CC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=</a:t>
                </a:r>
                <a:r>
                  <a:rPr lang="zh-TW" altLang="en-US" sz="2400" dirty="0">
                    <a:solidFill>
                      <a:srgbClr val="3333CC"/>
                    </a:solidFill>
                  </a:rPr>
                  <a:t> 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log 1/</a:t>
                </a:r>
                <a:r>
                  <a:rPr lang="en-US" altLang="zh-TW" sz="2400" dirty="0" err="1">
                    <a:solidFill>
                      <a:srgbClr val="3333CC"/>
                    </a:solidFill>
                  </a:rPr>
                  <a:t>P</a:t>
                </a:r>
                <a:r>
                  <a:rPr lang="en-US" altLang="zh-TW" sz="2400" baseline="-25000" dirty="0" err="1">
                    <a:solidFill>
                      <a:srgbClr val="3333CC"/>
                    </a:solidFill>
                  </a:rPr>
                  <a:t>guess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(X|E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)</a:t>
                </a:r>
                <a:r>
                  <a:rPr lang="en-US" altLang="zh-TW" sz="2400" dirty="0" smtClean="0"/>
                  <a:t>, where</a:t>
                </a:r>
                <a:endParaRPr lang="en-US" altLang="zh-TW" sz="2400" dirty="0"/>
              </a:p>
              <a:p>
                <a:pPr lvl="1"/>
                <a:r>
                  <a:rPr lang="en-US" altLang="zh-TW" sz="2400" dirty="0" smtClean="0"/>
                  <a:t>Guessing Prob.: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lang="en-US" altLang="zh-TW" sz="2400" dirty="0">
                    <a:solidFill>
                      <a:srgbClr val="3333CC"/>
                    </a:solidFill>
                  </a:rPr>
                  <a:t>	</a:t>
                </a:r>
                <a:r>
                  <a:rPr lang="en-US" altLang="zh-TW" sz="2400" dirty="0" err="1" smtClean="0">
                    <a:solidFill>
                      <a:srgbClr val="3333CC"/>
                    </a:solidFill>
                  </a:rPr>
                  <a:t>P</a:t>
                </a:r>
                <a:r>
                  <a:rPr lang="en-US" altLang="zh-TW" sz="2400" baseline="-25000" dirty="0" err="1" smtClean="0">
                    <a:solidFill>
                      <a:srgbClr val="3333CC"/>
                    </a:solidFill>
                  </a:rPr>
                  <a:t>guess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(X|E)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≝</m:t>
                    </m:r>
                  </m:oMath>
                </a14:m>
                <a:r>
                  <a:rPr lang="en-US" altLang="zh-TW" sz="2400" dirty="0">
                    <a:solidFill>
                      <a:srgbClr val="3333CC"/>
                    </a:solidFill>
                  </a:rPr>
                  <a:t> max </a:t>
                </a:r>
                <a:r>
                  <a:rPr lang="en-US" altLang="zh-TW" sz="2400" dirty="0" err="1">
                    <a:solidFill>
                      <a:srgbClr val="3333CC"/>
                    </a:solidFill>
                  </a:rPr>
                  <a:t>Pr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[ </a:t>
                </a:r>
                <a:r>
                  <a:rPr lang="en-US" altLang="zh-TW" sz="2400" dirty="0"/>
                  <a:t>guess 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X</a:t>
                </a:r>
                <a:r>
                  <a:rPr lang="en-US" altLang="zh-TW" sz="2400" dirty="0"/>
                  <a:t> </a:t>
                </a:r>
                <a:r>
                  <a:rPr lang="en-US" altLang="zh-TW" sz="2400" dirty="0" smtClean="0"/>
                  <a:t>correctly given 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E</a:t>
                </a:r>
                <a:r>
                  <a:rPr lang="en-US" altLang="zh-TW" sz="2400" dirty="0" smtClean="0"/>
                  <a:t> 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]</a:t>
                </a:r>
              </a:p>
              <a:p>
                <a:pPr lvl="1"/>
                <a:r>
                  <a:rPr lang="en-US" altLang="zh-TW" sz="2400" dirty="0" smtClean="0">
                    <a:solidFill>
                      <a:srgbClr val="FF0000"/>
                    </a:solidFill>
                  </a:rPr>
                  <a:t>Min-entropy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TW" sz="2400" dirty="0" smtClean="0">
                    <a:solidFill>
                      <a:srgbClr val="FF0000"/>
                    </a:solidFill>
                  </a:rPr>
                  <a:t> unpredictability</a:t>
                </a:r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:pPr lvl="4"/>
                <a:endParaRPr lang="en-US" altLang="zh-TW" sz="900" dirty="0" smtClean="0"/>
              </a:p>
              <a:p>
                <a:r>
                  <a:rPr lang="en-US" altLang="zh-TW" sz="2800" dirty="0" smtClean="0"/>
                  <a:t>Distance measure: trace distance</a:t>
                </a:r>
                <a:endParaRPr lang="en-US" altLang="zh-TW" sz="2800" dirty="0" smtClean="0"/>
              </a:p>
              <a:p>
                <a:pPr lvl="1"/>
                <a:r>
                  <a:rPr lang="en-US" altLang="zh-TW" sz="2400" dirty="0" smtClean="0">
                    <a:solidFill>
                      <a:srgbClr val="FF0000"/>
                    </a:solidFill>
                  </a:rPr>
                  <a:t>Trace distance</a:t>
                </a:r>
                <a:r>
                  <a:rPr lang="zh-TW" altLang="en-US" sz="24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zh-TW" altLang="en-US" sz="24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max distinguishing advantage</a:t>
                </a:r>
                <a:endParaRPr lang="en-US" altLang="zh-TW" sz="2400" dirty="0" smtClean="0">
                  <a:solidFill>
                    <a:srgbClr val="FF0000"/>
                  </a:solidFill>
                </a:endParaRPr>
              </a:p>
              <a:p>
                <a:pPr lvl="1"/>
                <a:endParaRPr lang="en-US" altLang="zh-TW" sz="600" dirty="0" smtClean="0"/>
              </a:p>
              <a:p>
                <a:pPr lvl="1"/>
                <a:endParaRPr lang="en-US" altLang="zh-TW" sz="600" dirty="0" smtClean="0"/>
              </a:p>
              <a:p>
                <a:r>
                  <a:rPr lang="en-US" altLang="zh-TW" sz="2800" dirty="0" smtClean="0"/>
                  <a:t>Extractor: </a:t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distill unpredictability to </a:t>
                </a:r>
                <a:r>
                  <a:rPr lang="en-US" altLang="zh-TW" sz="2800" dirty="0" err="1" smtClean="0">
                    <a:solidFill>
                      <a:srgbClr val="FF0000"/>
                    </a:solidFill>
                  </a:rPr>
                  <a:t>indistinguishability</a:t>
                </a:r>
                <a:endParaRPr lang="en-US" altLang="zh-TW" sz="2800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TW" sz="2400" dirty="0" smtClean="0"/>
                  <a:t>Can’t guess source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can’t </a:t>
                </a:r>
                <a:r>
                  <a:rPr lang="en-US" altLang="zh-TW" sz="2400" dirty="0"/>
                  <a:t>distinguish </a:t>
                </a:r>
                <a:r>
                  <a:rPr lang="en-US" altLang="zh-TW" sz="2400" dirty="0" smtClean="0"/>
                  <a:t>output from uniform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17638"/>
                <a:ext cx="8686800" cy="5109622"/>
              </a:xfrm>
              <a:blipFill rotWithShape="0">
                <a:blip r:embed="rId3"/>
                <a:stretch>
                  <a:fillRect l="-1263" t="-11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5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</a:t>
            </a:r>
            <a:r>
              <a:rPr lang="en-US" altLang="zh-TW" dirty="0" smtClean="0"/>
              <a:t>Do We Know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3105" y="1600200"/>
                <a:ext cx="8953020" cy="5008944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Classical: </a:t>
                </a:r>
                <a:r>
                  <a:rPr lang="en-US" altLang="zh-TW" sz="2400" dirty="0" smtClean="0">
                    <a:solidFill>
                      <a:srgbClr val="0070C0"/>
                    </a:solidFill>
                  </a:rPr>
                  <a:t>[GUV07]</a:t>
                </a:r>
                <a:endParaRPr lang="en-US" altLang="zh-TW" sz="2800" dirty="0" smtClean="0"/>
              </a:p>
              <a:p>
                <a:pPr lvl="1"/>
                <a:r>
                  <a:rPr lang="en-US" altLang="zh-TW" sz="2400" i="1" dirty="0" smtClean="0"/>
                  <a:t>Optimal</a:t>
                </a:r>
                <a:r>
                  <a:rPr lang="en-US" altLang="zh-TW" sz="2400" dirty="0" smtClean="0"/>
                  <a:t> seed </a:t>
                </a:r>
                <a:r>
                  <a:rPr lang="en-US" altLang="zh-TW" sz="2400" dirty="0" smtClean="0"/>
                  <a:t>length </a:t>
                </a:r>
                <a:r>
                  <a:rPr lang="en-US" altLang="zh-TW" sz="2400" dirty="0" smtClean="0">
                    <a:solidFill>
                      <a:srgbClr val="3333CC"/>
                    </a:solidFill>
                  </a:rPr>
                  <a:t>d = O(log n/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400" dirty="0" smtClean="0">
                    <a:solidFill>
                      <a:srgbClr val="3333CC"/>
                    </a:solidFill>
                  </a:rPr>
                  <a:t>) </a:t>
                </a:r>
                <a:r>
                  <a:rPr lang="en-US" altLang="zh-TW" sz="2400" dirty="0" smtClean="0"/>
                  <a:t>for 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</a:rPr>
                  <a:t>any </a:t>
                </a:r>
                <a:r>
                  <a:rPr lang="en-US" altLang="zh-TW" sz="2400" i="1" dirty="0" smtClean="0">
                    <a:solidFill>
                      <a:srgbClr val="3333CC"/>
                    </a:solidFill>
                  </a:rPr>
                  <a:t>k</a:t>
                </a:r>
                <a:r>
                  <a:rPr lang="en-US" altLang="zh-TW" sz="2400" dirty="0" smtClean="0"/>
                  <a:t>,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TW" sz="2400" dirty="0" smtClean="0"/>
              </a:p>
              <a:p>
                <a:pPr lvl="1"/>
                <a:r>
                  <a:rPr lang="en-US" altLang="zh-TW" sz="2400" dirty="0" smtClean="0"/>
                  <a:t>Extract </a:t>
                </a:r>
                <a:r>
                  <a:rPr lang="en-US" altLang="zh-TW" sz="2400" dirty="0">
                    <a:solidFill>
                      <a:srgbClr val="3333CC"/>
                    </a:solidFill>
                  </a:rPr>
                  <a:t>m = 0.99k </a:t>
                </a:r>
                <a:r>
                  <a:rPr lang="en-US" altLang="zh-TW" sz="2400" dirty="0" smtClean="0"/>
                  <a:t>bits out</a:t>
                </a:r>
                <a:endParaRPr lang="en-US" altLang="zh-TW" sz="2400" dirty="0" smtClean="0">
                  <a:solidFill>
                    <a:srgbClr val="3333CC"/>
                  </a:solidFill>
                </a:endParaRPr>
              </a:p>
              <a:p>
                <a:pPr lvl="2"/>
                <a:endParaRPr lang="en-US" altLang="zh-TW" sz="600" dirty="0" smtClean="0"/>
              </a:p>
              <a:p>
                <a:pPr lvl="2"/>
                <a:endParaRPr lang="en-US" altLang="zh-TW" sz="600" dirty="0" smtClean="0"/>
              </a:p>
              <a:p>
                <a:r>
                  <a:rPr lang="en-US" altLang="zh-TW" sz="2800" dirty="0" smtClean="0"/>
                  <a:t>Quantum:</a:t>
                </a:r>
                <a:endParaRPr lang="en-US" altLang="zh-TW" sz="2800" dirty="0" smtClean="0"/>
              </a:p>
              <a:p>
                <a:pPr lvl="1"/>
                <a:r>
                  <a:rPr lang="en-US" altLang="zh-TW" sz="2400" dirty="0"/>
                  <a:t>Non-trivial: </a:t>
                </a:r>
                <a:r>
                  <a:rPr lang="en-US" altLang="zh-TW" sz="2400" dirty="0" smtClean="0"/>
                  <a:t>separation example by </a:t>
                </a:r>
                <a:r>
                  <a:rPr lang="en-US" altLang="zh-TW" sz="2400" dirty="0">
                    <a:solidFill>
                      <a:srgbClr val="0070C0"/>
                    </a:solidFill>
                  </a:rPr>
                  <a:t>[GKKRW07</a:t>
                </a:r>
                <a:r>
                  <a:rPr lang="en-US" altLang="zh-TW" sz="2400" dirty="0" smtClean="0">
                    <a:solidFill>
                      <a:srgbClr val="0070C0"/>
                    </a:solidFill>
                  </a:rPr>
                  <a:t>]</a:t>
                </a:r>
              </a:p>
              <a:p>
                <a:pPr lvl="1"/>
                <a:r>
                  <a:rPr lang="en-US" altLang="zh-TW" sz="2400" dirty="0" smtClean="0"/>
                  <a:t>Substantial positive results </a:t>
                </a:r>
                <a:r>
                  <a:rPr lang="en-US" altLang="zh-TW" sz="1600" dirty="0" smtClean="0">
                    <a:solidFill>
                      <a:srgbClr val="0070C0"/>
                    </a:solidFill>
                  </a:rPr>
                  <a:t>[KMR05,TSSR10,FS07,KT08,T08,DV10,DPVR12,BT12]</a:t>
                </a:r>
                <a:r>
                  <a:rPr lang="en-US" altLang="zh-TW" sz="1600" dirty="0" smtClean="0"/>
                  <a:t> </a:t>
                </a:r>
              </a:p>
              <a:p>
                <a:pPr lvl="1"/>
                <a:r>
                  <a:rPr lang="en-US" altLang="zh-TW" sz="2400" dirty="0" smtClean="0"/>
                  <a:t>Best seed length</a:t>
                </a:r>
                <a:r>
                  <a:rPr lang="zh-TW" alt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sz="24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i="1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40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zh-TW" sz="2400" baseline="3000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fName>
                              <m:e>
                                <m: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zh-TW" altLang="en-US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func>
                              <m:funcPr>
                                <m:ctrlP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400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sz="2400" i="1">
                                    <a:solidFill>
                                      <a:srgbClr val="3333CC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</m:den>
                        </m:f>
                      </m:e>
                    </m:d>
                    <m:r>
                      <a:rPr lang="zh-TW" altLang="en-US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/>
                  <a:t>based on </a:t>
                </a:r>
                <a:r>
                  <a:rPr lang="en-US" altLang="zh-TW" sz="2400" dirty="0" err="1" smtClean="0"/>
                  <a:t>Trevisan’s</a:t>
                </a:r>
                <a:r>
                  <a:rPr lang="en-US" altLang="zh-TW" sz="2400" dirty="0" smtClean="0"/>
                  <a:t> Ext</a:t>
                </a:r>
                <a:r>
                  <a:rPr lang="zh-TW" altLang="en-US" sz="2400" dirty="0" smtClean="0"/>
                  <a:t> </a:t>
                </a:r>
                <a:r>
                  <a:rPr lang="en-US" altLang="zh-TW" sz="1600" dirty="0" smtClean="0">
                    <a:solidFill>
                      <a:srgbClr val="0070C0"/>
                    </a:solidFill>
                  </a:rPr>
                  <a:t>[DPVR12]</a:t>
                </a:r>
              </a:p>
              <a:p>
                <a:pPr lvl="2"/>
                <a:r>
                  <a:rPr lang="en-US" altLang="zh-TW" sz="2000" dirty="0" smtClean="0"/>
                  <a:t>Quadratic gap in error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altLang="zh-TW" sz="2000" dirty="0"/>
              </a:p>
              <a:p>
                <a:pPr lvl="1"/>
                <a:endParaRPr lang="en-US" altLang="zh-TW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105" y="1600200"/>
                <a:ext cx="8953020" cy="5008944"/>
              </a:xfrm>
              <a:blipFill rotWithShape="0">
                <a:blip r:embed="rId3"/>
                <a:stretch>
                  <a:fillRect l="-1225" t="-12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3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Our Results </a:t>
            </a:r>
            <a:r>
              <a:rPr lang="en-US" altLang="zh-TW" sz="3600" dirty="0" smtClean="0"/>
              <a:t>[</a:t>
            </a:r>
            <a:r>
              <a:rPr lang="en-US" altLang="zh-TW" sz="3600" dirty="0" smtClean="0">
                <a:solidFill>
                  <a:srgbClr val="FF0000"/>
                </a:solidFill>
              </a:rPr>
              <a:t>C</a:t>
            </a:r>
            <a:r>
              <a:rPr lang="en-US" altLang="zh-TW" sz="3600" dirty="0" smtClean="0"/>
              <a:t>W15]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362" y="1406063"/>
            <a:ext cx="9034041" cy="5109622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Optimal seed length for wide range parameters</a:t>
            </a:r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Revisit “block-sampling-&amp;-extraction” framework </a:t>
            </a:r>
            <a:r>
              <a:rPr lang="en-US" altLang="zh-TW" sz="1600" dirty="0" smtClean="0">
                <a:solidFill>
                  <a:srgbClr val="0070C0"/>
                </a:solidFill>
              </a:rPr>
              <a:t>[NZ96,Z97,SZ99]</a:t>
            </a:r>
            <a:endParaRPr lang="en-US" altLang="zh-TW" sz="2800" dirty="0"/>
          </a:p>
          <a:p>
            <a:pPr lvl="1"/>
            <a:r>
              <a:rPr lang="en-US" altLang="zh-TW" sz="2400" dirty="0" smtClean="0"/>
              <a:t>Show it can be made quantum-proof</a:t>
            </a:r>
          </a:p>
          <a:p>
            <a:pPr lvl="1"/>
            <a:r>
              <a:rPr lang="en-US" altLang="zh-TW" sz="2400" dirty="0" smtClean="0"/>
              <a:t>Improve by a new </a:t>
            </a:r>
            <a:r>
              <a:rPr lang="en-US" altLang="zh-TW" sz="2400" i="1" dirty="0" smtClean="0"/>
              <a:t>win-win</a:t>
            </a:r>
            <a:r>
              <a:rPr lang="en-US" altLang="zh-TW" sz="2400" dirty="0" smtClean="0"/>
              <a:t> type construction</a:t>
            </a:r>
            <a:endParaRPr lang="en-US" altLang="zh-TW" sz="2400" dirty="0" smtClean="0"/>
          </a:p>
          <a:p>
            <a:pPr lvl="4"/>
            <a:endParaRPr lang="en-US" altLang="zh-TW" sz="900" dirty="0" smtClean="0"/>
          </a:p>
          <a:p>
            <a:endParaRPr lang="en-US" altLang="zh-TW" sz="28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52591" y="2073832"/>
                <a:ext cx="7480239" cy="1768964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5000">
                    <a:schemeClr val="accent3">
                      <a:lumMod val="20000"/>
                      <a:lumOff val="80000"/>
                    </a:schemeClr>
                  </a:gs>
                  <a:gs pos="100000">
                    <a:schemeClr val="accent3">
                      <a:lumMod val="40000"/>
                      <a:lumOff val="60000"/>
                    </a:schemeClr>
                  </a:gs>
                </a:gsLst>
              </a:gra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[</a:t>
                </a:r>
                <a:r>
                  <a:rPr lang="en-US" altLang="zh-CN" sz="2800" b="1" dirty="0" err="1" smtClean="0">
                    <a:solidFill>
                      <a:schemeClr val="tx1"/>
                    </a:solidFill>
                  </a:rPr>
                  <a:t>Thm</a:t>
                </a:r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explicit quantum-proof </a:t>
                </a:r>
                <a:r>
                  <a:rPr lang="en-US" altLang="zh-CN" sz="2800" dirty="0" smtClean="0">
                    <a:solidFill>
                      <a:srgbClr val="3333CC"/>
                    </a:solidFill>
                  </a:rPr>
                  <a:t>Ext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 with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Seed length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d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O(log (n/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))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Output length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m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k</a:t>
                </a:r>
                <a:r>
                  <a:rPr lang="en-US" altLang="zh-CN" sz="2400" baseline="30000" dirty="0" smtClean="0">
                    <a:solidFill>
                      <a:srgbClr val="3333CC"/>
                    </a:solidFill>
                  </a:rPr>
                  <a:t>0.99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For any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k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n</a:t>
                </a:r>
                <a:r>
                  <a:rPr lang="en-US" altLang="zh-CN" sz="2400" baseline="30000" dirty="0" smtClean="0">
                    <a:solidFill>
                      <a:srgbClr val="3333CC"/>
                    </a:solidFill>
                  </a:rPr>
                  <a:t>0.51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and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0.99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sz="2400" dirty="0" smtClean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1" y="2073832"/>
                <a:ext cx="7480239" cy="176896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2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8132275" cy="1470025"/>
          </a:xfrm>
        </p:spPr>
        <p:txBody>
          <a:bodyPr/>
          <a:lstStyle/>
          <a:p>
            <a:r>
              <a:rPr lang="en-US" altLang="zh-TW" dirty="0" smtClean="0"/>
              <a:t>Quantum-proof Multi-source Ext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47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53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What If We Don’t Have Uniform Seed?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560" y="1252268"/>
            <a:ext cx="8463064" cy="4659885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Multi-source extractor: use multiple </a:t>
            </a:r>
            <a:r>
              <a:rPr lang="en-US" altLang="zh-TW" sz="2800" i="1" dirty="0" err="1" smtClean="0">
                <a:solidFill>
                  <a:srgbClr val="FF0000"/>
                </a:solidFill>
              </a:rPr>
              <a:t>indep</a:t>
            </a:r>
            <a:r>
              <a:rPr lang="en-US" altLang="zh-TW" sz="2800" i="1" dirty="0" smtClean="0">
                <a:solidFill>
                  <a:srgbClr val="FF0000"/>
                </a:solidFill>
              </a:rPr>
              <a:t>.</a:t>
            </a:r>
            <a:r>
              <a:rPr lang="en-US" altLang="zh-TW" sz="2800" dirty="0" smtClean="0"/>
              <a:t> sources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19" name="群組 4"/>
          <p:cNvGrpSpPr/>
          <p:nvPr/>
        </p:nvGrpSpPr>
        <p:grpSpPr>
          <a:xfrm>
            <a:off x="1535892" y="1825246"/>
            <a:ext cx="5860332" cy="3249130"/>
            <a:chOff x="2311665" y="3607782"/>
            <a:chExt cx="5110690" cy="306623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Rectangle 25"/>
                <p:cNvSpPr>
                  <a:spLocks noChangeArrowheads="1"/>
                </p:cNvSpPr>
                <p:nvPr/>
              </p:nvSpPr>
              <p:spPr bwMode="auto">
                <a:xfrm>
                  <a:off x="3340725" y="4913646"/>
                  <a:ext cx="2610419" cy="90170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000">
                            <a:solidFill>
                              <a:schemeClr val="tx2"/>
                            </a:solidFill>
                            <a:latin typeface="Cambria Math"/>
                          </a:rPr>
                          <m:t>Ext</m:t>
                        </m:r>
                      </m:oMath>
                    </m:oMathPara>
                  </a14:m>
                  <a:endParaRPr lang="en-US" sz="4000" i="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0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40725" y="4913646"/>
                  <a:ext cx="2610419" cy="90170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Line 6"/>
            <p:cNvSpPr>
              <a:spLocks noChangeShapeType="1"/>
            </p:cNvSpPr>
            <p:nvPr/>
          </p:nvSpPr>
          <p:spPr bwMode="auto">
            <a:xfrm flipH="1">
              <a:off x="5172112" y="4428172"/>
              <a:ext cx="679450" cy="485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" name="Group 17"/>
            <p:cNvGrpSpPr/>
            <p:nvPr/>
          </p:nvGrpSpPr>
          <p:grpSpPr>
            <a:xfrm>
              <a:off x="3410731" y="5844516"/>
              <a:ext cx="2528347" cy="779502"/>
              <a:chOff x="2740770" y="5181600"/>
              <a:chExt cx="2528347" cy="779502"/>
            </a:xfrm>
          </p:grpSpPr>
          <p:sp>
            <p:nvSpPr>
              <p:cNvPr id="38" name="Text Box 27"/>
              <p:cNvSpPr txBox="1">
                <a:spLocks noChangeArrowheads="1"/>
              </p:cNvSpPr>
              <p:nvPr/>
            </p:nvSpPr>
            <p:spPr bwMode="auto">
              <a:xfrm>
                <a:off x="2740770" y="5591770"/>
                <a:ext cx="2528347" cy="369332"/>
              </a:xfrm>
              <a:prstGeom prst="rec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sz="1800" i="0" dirty="0">
                  <a:solidFill>
                    <a:srgbClr val="FFC000"/>
                  </a:solidFill>
                  <a:sym typeface="Symbol" pitchFamily="18" charset="2"/>
                </a:endParaRPr>
              </a:p>
            </p:txBody>
          </p:sp>
          <p:sp>
            <p:nvSpPr>
              <p:cNvPr id="39" name="Line 29"/>
              <p:cNvSpPr>
                <a:spLocks noChangeShapeType="1"/>
              </p:cNvSpPr>
              <p:nvPr/>
            </p:nvSpPr>
            <p:spPr bwMode="auto">
              <a:xfrm flipV="1">
                <a:off x="4037845" y="5181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4" name="Group 11"/>
            <p:cNvGrpSpPr/>
            <p:nvPr/>
          </p:nvGrpSpPr>
          <p:grpSpPr>
            <a:xfrm>
              <a:off x="2311665" y="4027566"/>
              <a:ext cx="2215081" cy="886080"/>
              <a:chOff x="2438400" y="3442732"/>
              <a:chExt cx="2215081" cy="886080"/>
            </a:xfrm>
          </p:grpSpPr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2438400" y="3442732"/>
                <a:ext cx="2215081" cy="371733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7" name="Line 28"/>
              <p:cNvSpPr>
                <a:spLocks noChangeShapeType="1"/>
              </p:cNvSpPr>
              <p:nvPr/>
            </p:nvSpPr>
            <p:spPr bwMode="auto">
              <a:xfrm flipH="1" flipV="1">
                <a:off x="3585170" y="3843338"/>
                <a:ext cx="425513" cy="485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Rectangle 17"/>
                <p:cNvSpPr>
                  <a:spLocks noChangeArrowheads="1"/>
                </p:cNvSpPr>
                <p:nvPr/>
              </p:nvSpPr>
              <p:spPr bwMode="auto">
                <a:xfrm>
                  <a:off x="2827186" y="5952656"/>
                  <a:ext cx="1829347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i="0" dirty="0" smtClean="0">
                      <a:latin typeface="Helvetica" pitchFamily="34" charset="0"/>
                    </a:rPr>
                    <a:t>uniform output</a:t>
                  </a:r>
                  <a:endParaRPr lang="en-US" i="0" dirty="0">
                    <a:latin typeface="Helvetica" pitchFamily="34" charset="0"/>
                  </a:endParaRPr>
                </a:p>
              </p:txBody>
            </p:sp>
          </mc:Choice>
          <mc:Fallback>
            <p:sp>
              <p:nvSpPr>
                <p:cNvPr id="25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7186" y="5952656"/>
                  <a:ext cx="1829347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7813" b="-1875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 Box 26"/>
            <p:cNvSpPr txBox="1">
              <a:spLocks noChangeArrowheads="1"/>
            </p:cNvSpPr>
            <p:nvPr/>
          </p:nvSpPr>
          <p:spPr bwMode="auto">
            <a:xfrm>
              <a:off x="5207274" y="4017004"/>
              <a:ext cx="2215081" cy="371733"/>
            </a:xfrm>
            <a:prstGeom prst="rect">
              <a:avLst/>
            </a:prstGeom>
            <a:blipFill>
              <a:blip r:embed="rId4"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squar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endParaRPr lang="en-US" sz="2400" i="0" dirty="0">
                <a:solidFill>
                  <a:schemeClr val="tx2"/>
                </a:solidFill>
              </a:endParaRPr>
            </a:p>
          </p:txBody>
        </p:sp>
        <p:sp>
          <p:nvSpPr>
            <p:cNvPr id="27" name="矩形 72"/>
            <p:cNvSpPr/>
            <p:nvPr/>
          </p:nvSpPr>
          <p:spPr>
            <a:xfrm>
              <a:off x="3211434" y="3968310"/>
              <a:ext cx="5036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3333CC"/>
                  </a:solidFill>
                  <a:latin typeface="Helvetica" pitchFamily="34" charset="0"/>
                </a:rPr>
                <a:t>X</a:t>
              </a:r>
              <a:r>
                <a:rPr lang="en-US" altLang="zh-TW" sz="2400" baseline="-25000" dirty="0" smtClean="0">
                  <a:solidFill>
                    <a:srgbClr val="3333CC"/>
                  </a:solidFill>
                  <a:latin typeface="Helvetica" pitchFamily="34" charset="0"/>
                </a:rPr>
                <a:t>1</a:t>
              </a:r>
              <a:endParaRPr lang="zh-TW" altLang="en-US" sz="2400" baseline="-25000" dirty="0">
                <a:solidFill>
                  <a:srgbClr val="3333CC"/>
                </a:solidFill>
              </a:endParaRPr>
            </a:p>
          </p:txBody>
        </p:sp>
        <p:sp>
          <p:nvSpPr>
            <p:cNvPr id="28" name="矩形 73"/>
            <p:cNvSpPr/>
            <p:nvPr/>
          </p:nvSpPr>
          <p:spPr>
            <a:xfrm>
              <a:off x="6134199" y="3956180"/>
              <a:ext cx="4475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err="1" smtClean="0">
                  <a:solidFill>
                    <a:srgbClr val="3333CC"/>
                  </a:solidFill>
                  <a:latin typeface="Helvetica" pitchFamily="34" charset="0"/>
                </a:rPr>
                <a:t>X</a:t>
              </a:r>
              <a:r>
                <a:rPr lang="en-US" altLang="zh-TW" sz="2400" baseline="-25000" dirty="0" err="1" smtClean="0">
                  <a:solidFill>
                    <a:srgbClr val="3333CC"/>
                  </a:solidFill>
                  <a:latin typeface="Helvetica" pitchFamily="34" charset="0"/>
                </a:rPr>
                <a:t>t</a:t>
              </a:r>
              <a:endParaRPr lang="zh-TW" altLang="en-US" sz="2400" baseline="-25000" dirty="0">
                <a:solidFill>
                  <a:srgbClr val="3333CC"/>
                </a:solidFill>
              </a:endParaRPr>
            </a:p>
          </p:txBody>
        </p:sp>
        <p:sp>
          <p:nvSpPr>
            <p:cNvPr id="29" name="矩形 74"/>
            <p:cNvSpPr/>
            <p:nvPr/>
          </p:nvSpPr>
          <p:spPr>
            <a:xfrm>
              <a:off x="4468350" y="6212354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3333CC"/>
                  </a:solidFill>
                  <a:latin typeface="Helvetica" pitchFamily="34" charset="0"/>
                </a:rPr>
                <a:t>Z</a:t>
              </a:r>
              <a:endParaRPr lang="zh-TW" altLang="en-US" sz="2400" dirty="0">
                <a:solidFill>
                  <a:srgbClr val="3333CC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矩形 21"/>
                <p:cNvSpPr/>
                <p:nvPr/>
              </p:nvSpPr>
              <p:spPr>
                <a:xfrm>
                  <a:off x="4481202" y="3607782"/>
                  <a:ext cx="787395" cy="830997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800" b="1" i="1" cap="none" spc="0" dirty="0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4800" b="1" cap="none" spc="0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endParaRPr>
                </a:p>
              </p:txBody>
            </p:sp>
          </mc:Choice>
          <mc:Fallback>
            <p:sp>
              <p:nvSpPr>
                <p:cNvPr id="30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1202" y="3607782"/>
                  <a:ext cx="787395" cy="83099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13667" y="5305871"/>
                <a:ext cx="82685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3333CC"/>
                    </a:solidFill>
                  </a:rPr>
                  <a:t>(</a:t>
                </a:r>
                <a:r>
                  <a:rPr lang="en-US" altLang="zh-TW" sz="2800" dirty="0" err="1" smtClean="0">
                    <a:solidFill>
                      <a:srgbClr val="3333CC"/>
                    </a:solidFill>
                  </a:rPr>
                  <a:t>t,k</a:t>
                </a:r>
                <a:r>
                  <a:rPr lang="en-US" altLang="zh-TW" sz="2800" dirty="0">
                    <a:solidFill>
                      <a:srgbClr val="3333CC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)</a:t>
                </a:r>
                <a:r>
                  <a:rPr lang="en-US" altLang="zh-TW" sz="2800" dirty="0" smtClean="0"/>
                  <a:t>-multi-source extractor</a:t>
                </a:r>
                <a:r>
                  <a:rPr lang="en-US" altLang="zh-TW" sz="2800" i="1" dirty="0" smtClean="0"/>
                  <a:t>: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7" y="5305871"/>
                <a:ext cx="8268511" cy="523220"/>
              </a:xfrm>
              <a:prstGeom prst="rect">
                <a:avLst/>
              </a:prstGeom>
              <a:blipFill rotWithShape="0">
                <a:blip r:embed="rId7"/>
                <a:stretch>
                  <a:fillRect l="-1474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253493" y="5823822"/>
                <a:ext cx="861813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 smtClean="0">
                    <a:solidFill>
                      <a:srgbClr val="3333CC"/>
                    </a:solidFill>
                  </a:rPr>
                  <a:t>X</a:t>
                </a:r>
                <a:r>
                  <a:rPr lang="en-US" altLang="zh-TW" sz="2800" baseline="-25000" dirty="0" smtClean="0">
                    <a:solidFill>
                      <a:srgbClr val="3333CC"/>
                    </a:solidFill>
                  </a:rPr>
                  <a:t>i</a:t>
                </a:r>
                <a:r>
                  <a:rPr lang="en-US" altLang="zh-TW" sz="2800" dirty="0" smtClean="0"/>
                  <a:t> has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 k</a:t>
                </a:r>
                <a:r>
                  <a:rPr lang="en-US" altLang="zh-TW" sz="2800" dirty="0" smtClean="0"/>
                  <a:t>-bit entropy 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zh-TW" altLang="en-US" sz="2800" dirty="0" smtClean="0">
                    <a:solidFill>
                      <a:srgbClr val="3333CC"/>
                    </a:solidFill>
                  </a:rPr>
                  <a:t>   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Ext(X</a:t>
                </a:r>
                <a:r>
                  <a:rPr lang="en-US" altLang="zh-TW" sz="2800" baseline="-25000" dirty="0" smtClean="0">
                    <a:solidFill>
                      <a:srgbClr val="3333CC"/>
                    </a:solidFill>
                  </a:rPr>
                  <a:t>1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,…,</a:t>
                </a:r>
                <a:r>
                  <a:rPr lang="en-US" altLang="zh-TW" sz="2800" dirty="0" err="1" smtClean="0">
                    <a:solidFill>
                      <a:srgbClr val="3333CC"/>
                    </a:solidFill>
                  </a:rPr>
                  <a:t>X</a:t>
                </a:r>
                <a:r>
                  <a:rPr lang="en-US" altLang="zh-TW" sz="2800" baseline="-25000" dirty="0" err="1" smtClean="0">
                    <a:solidFill>
                      <a:srgbClr val="3333CC"/>
                    </a:solidFill>
                  </a:rPr>
                  <a:t>t</a:t>
                </a:r>
                <a:r>
                  <a:rPr lang="en-US" altLang="zh-TW" sz="2800" dirty="0" smtClean="0">
                    <a:solidFill>
                      <a:srgbClr val="3333CC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zh-TW" altLang="en-US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800" dirty="0" smtClean="0"/>
                  <a:t>-close to uniform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93" y="5823822"/>
                <a:ext cx="8618131" cy="523220"/>
              </a:xfrm>
              <a:prstGeom prst="rect">
                <a:avLst/>
              </a:prstGeom>
              <a:blipFill rotWithShape="0">
                <a:blip r:embed="rId8"/>
                <a:stretch>
                  <a:fillRect l="-1486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4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09008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Privacy </a:t>
            </a:r>
            <a:r>
              <a:rPr lang="en-US" altLang="zh-TW" dirty="0" smtClean="0"/>
              <a:t>Amp. w/o Perfect Randomness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921" y="1361866"/>
            <a:ext cx="8524754" cy="249774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Suppose Alice &amp; Bob have </a:t>
            </a:r>
            <a:r>
              <a:rPr lang="en-US" altLang="zh-TW" sz="2800" i="1" dirty="0" smtClean="0"/>
              <a:t>no</a:t>
            </a:r>
            <a:r>
              <a:rPr lang="en-US" altLang="zh-TW" sz="2800" dirty="0" smtClean="0"/>
              <a:t> perfect local randomness</a:t>
            </a:r>
            <a:endParaRPr lang="en-US" altLang="zh-TW" sz="2800" dirty="0" smtClean="0">
              <a:solidFill>
                <a:srgbClr val="33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35" descr="j023073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93" y="2578209"/>
            <a:ext cx="1169988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6" descr="j023074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613" y="2552809"/>
            <a:ext cx="862012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群組 27"/>
          <p:cNvGrpSpPr/>
          <p:nvPr/>
        </p:nvGrpSpPr>
        <p:grpSpPr>
          <a:xfrm flipH="1">
            <a:off x="3863540" y="4191976"/>
            <a:ext cx="843315" cy="1353455"/>
            <a:chOff x="8051712" y="3763126"/>
            <a:chExt cx="843315" cy="1353455"/>
          </a:xfrm>
        </p:grpSpPr>
        <p:grpSp>
          <p:nvGrpSpPr>
            <p:cNvPr id="8" name="Group 15"/>
            <p:cNvGrpSpPr/>
            <p:nvPr/>
          </p:nvGrpSpPr>
          <p:grpSpPr>
            <a:xfrm>
              <a:off x="8051712" y="4175522"/>
              <a:ext cx="843315" cy="941059"/>
              <a:chOff x="6131542" y="4051300"/>
              <a:chExt cx="843315" cy="941059"/>
            </a:xfrm>
          </p:grpSpPr>
          <p:pic>
            <p:nvPicPr>
              <p:cNvPr id="11" name="Picture 28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131542" y="4100694"/>
                <a:ext cx="843315" cy="89166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</p:pic>
          <p:sp>
            <p:nvSpPr>
              <p:cNvPr id="12" name="Freeform 29"/>
              <p:cNvSpPr>
                <a:spLocks/>
              </p:cNvSpPr>
              <p:nvPr/>
            </p:nvSpPr>
            <p:spPr bwMode="auto">
              <a:xfrm>
                <a:off x="6676377" y="4051300"/>
                <a:ext cx="86590" cy="191071"/>
              </a:xfrm>
              <a:custGeom>
                <a:avLst/>
                <a:gdLst/>
                <a:ahLst/>
                <a:cxnLst>
                  <a:cxn ang="0">
                    <a:pos x="0" y="113"/>
                  </a:cxn>
                  <a:cxn ang="0">
                    <a:pos x="96" y="26"/>
                  </a:cxn>
                  <a:cxn ang="0">
                    <a:pos x="105" y="0"/>
                  </a:cxn>
                  <a:cxn ang="0">
                    <a:pos x="105" y="52"/>
                  </a:cxn>
                  <a:cxn ang="0">
                    <a:pos x="43" y="174"/>
                  </a:cxn>
                  <a:cxn ang="0">
                    <a:pos x="0" y="192"/>
                  </a:cxn>
                </a:cxnLst>
                <a:rect l="0" t="0" r="r" b="b"/>
                <a:pathLst>
                  <a:path w="126" h="192">
                    <a:moveTo>
                      <a:pt x="0" y="113"/>
                    </a:moveTo>
                    <a:cubicBezTo>
                      <a:pt x="60" y="92"/>
                      <a:pt x="53" y="66"/>
                      <a:pt x="96" y="26"/>
                    </a:cubicBezTo>
                    <a:cubicBezTo>
                      <a:pt x="99" y="17"/>
                      <a:pt x="96" y="0"/>
                      <a:pt x="105" y="0"/>
                    </a:cubicBezTo>
                    <a:cubicBezTo>
                      <a:pt x="126" y="0"/>
                      <a:pt x="105" y="52"/>
                      <a:pt x="105" y="52"/>
                    </a:cubicBezTo>
                    <a:cubicBezTo>
                      <a:pt x="93" y="97"/>
                      <a:pt x="87" y="148"/>
                      <a:pt x="43" y="174"/>
                    </a:cubicBezTo>
                    <a:cubicBezTo>
                      <a:pt x="30" y="182"/>
                      <a:pt x="14" y="185"/>
                      <a:pt x="0" y="192"/>
                    </a:cubicBezTo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3" name="Freeform 30"/>
              <p:cNvSpPr>
                <a:spLocks/>
              </p:cNvSpPr>
              <p:nvPr/>
            </p:nvSpPr>
            <p:spPr bwMode="auto">
              <a:xfrm>
                <a:off x="6365227" y="4080791"/>
                <a:ext cx="90355" cy="147284"/>
              </a:xfrm>
              <a:custGeom>
                <a:avLst/>
                <a:gdLst/>
                <a:ahLst/>
                <a:cxnLst>
                  <a:cxn ang="0">
                    <a:pos x="131" y="61"/>
                  </a:cxn>
                  <a:cxn ang="0">
                    <a:pos x="61" y="44"/>
                  </a:cxn>
                  <a:cxn ang="0">
                    <a:pos x="0" y="0"/>
                  </a:cxn>
                  <a:cxn ang="0">
                    <a:pos x="131" y="149"/>
                  </a:cxn>
                </a:cxnLst>
                <a:rect l="0" t="0" r="r" b="b"/>
                <a:pathLst>
                  <a:path w="131" h="149">
                    <a:moveTo>
                      <a:pt x="131" y="61"/>
                    </a:moveTo>
                    <a:cubicBezTo>
                      <a:pt x="119" y="59"/>
                      <a:pt x="76" y="53"/>
                      <a:pt x="61" y="44"/>
                    </a:cubicBezTo>
                    <a:cubicBezTo>
                      <a:pt x="35" y="28"/>
                      <a:pt x="31" y="11"/>
                      <a:pt x="0" y="0"/>
                    </a:cubicBezTo>
                    <a:cubicBezTo>
                      <a:pt x="24" y="69"/>
                      <a:pt x="36" y="149"/>
                      <a:pt x="131" y="149"/>
                    </a:cubicBezTo>
                  </a:path>
                </a:pathLst>
              </a:cu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8194716" y="3763126"/>
              <a:ext cx="58221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i="0" dirty="0" smtClean="0">
                  <a:latin typeface="Helvetica" pitchFamily="34" charset="0"/>
                </a:rPr>
                <a:t>Eve</a:t>
              </a:r>
              <a:endParaRPr lang="en-US" i="0" dirty="0">
                <a:latin typeface="Helvetica" pitchFamily="34" charset="0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auto">
          <a:xfrm flipH="1">
            <a:off x="1118458" y="3760718"/>
            <a:ext cx="6848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Alice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 flipH="1">
            <a:off x="6458965" y="3721806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Bob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1071054" y="4139807"/>
            <a:ext cx="1137127" cy="338554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6291582" y="4078194"/>
            <a:ext cx="1137127" cy="338554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42887" y="4093963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34235" y="4032354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925369" y="3380600"/>
            <a:ext cx="2920953" cy="491955"/>
            <a:chOff x="2925369" y="3542650"/>
            <a:chExt cx="2920953" cy="491955"/>
          </a:xfrm>
        </p:grpSpPr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H="1" flipV="1">
              <a:off x="2925369" y="4034605"/>
              <a:ext cx="29209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374590" y="3542650"/>
              <a:ext cx="200753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FF0000"/>
                  </a:solidFill>
                </a:rPr>
                <a:t>weak source</a:t>
              </a:r>
              <a:r>
                <a:rPr lang="en-US" altLang="zh-TW" sz="2400" dirty="0" smtClean="0">
                  <a:solidFill>
                    <a:schemeClr val="tx2"/>
                  </a:solidFill>
                </a:rPr>
                <a:t> </a:t>
              </a:r>
              <a:r>
                <a:rPr lang="en-US" altLang="zh-TW" sz="2400" dirty="0" smtClean="0">
                  <a:solidFill>
                    <a:srgbClr val="3333CC"/>
                  </a:solidFill>
                </a:rPr>
                <a:t>Y</a:t>
              </a:r>
              <a:endParaRPr lang="zh-TW" altLang="en-US" sz="2400" dirty="0">
                <a:solidFill>
                  <a:srgbClr val="3333CC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800612" y="4855960"/>
            <a:ext cx="1421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74061" y="4862445"/>
            <a:ext cx="14217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13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41" y="99534"/>
            <a:ext cx="8709108" cy="1143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Quantum-Proof Multi-source Ext</a:t>
            </a:r>
            <a:endParaRPr lang="zh-TW" alt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72371" y="1217543"/>
                <a:ext cx="8735441" cy="46598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Non-trivial to model </a:t>
                </a:r>
                <a:r>
                  <a:rPr lang="en-US" altLang="zh-TW" sz="2800" dirty="0" smtClean="0"/>
                  <a:t>multiple side information</a:t>
                </a:r>
                <a:endParaRPr lang="en-US" altLang="zh-TW" sz="2800" dirty="0" smtClean="0"/>
              </a:p>
              <a:p>
                <a:pPr lvl="1"/>
                <a:r>
                  <a:rPr lang="en-US" altLang="zh-TW" sz="2400" dirty="0" smtClean="0"/>
                  <a:t>Share entanglement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sz="2400" dirty="0" smtClean="0"/>
                  <a:t> break independence</a:t>
                </a:r>
              </a:p>
              <a:p>
                <a:pPr lvl="1"/>
                <a:r>
                  <a:rPr lang="en-US" altLang="zh-TW" sz="2400" dirty="0" smtClean="0"/>
                  <a:t>Quantum effect: non-local correlation, super-dense coding</a:t>
                </a:r>
              </a:p>
              <a:p>
                <a:pPr lvl="1"/>
                <a:r>
                  <a:rPr lang="en-US" altLang="zh-TW" sz="2400" dirty="0" smtClean="0"/>
                  <a:t>Extraction may not be feasible!</a:t>
                </a:r>
              </a:p>
              <a:p>
                <a:pPr lvl="1"/>
                <a:endParaRPr lang="en-US" altLang="zh-TW" sz="1000" dirty="0" smtClean="0"/>
              </a:p>
              <a:p>
                <a:pPr lvl="1"/>
                <a:endParaRPr lang="en-US" altLang="zh-TW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2371" y="1217543"/>
                <a:ext cx="8735441" cy="4659885"/>
              </a:xfrm>
              <a:blipFill rotWithShape="0">
                <a:blip r:embed="rId3"/>
                <a:stretch>
                  <a:fillRect l="-1256" t="-13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205861" y="4343432"/>
            <a:ext cx="1247930" cy="1454490"/>
            <a:chOff x="3863540" y="4470761"/>
            <a:chExt cx="1247930" cy="1454490"/>
          </a:xfrm>
        </p:grpSpPr>
        <p:grpSp>
          <p:nvGrpSpPr>
            <p:cNvPr id="27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29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31" name="Picture 28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32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3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30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28" name="Rectangle 27"/>
            <p:cNvSpPr/>
            <p:nvPr/>
          </p:nvSpPr>
          <p:spPr>
            <a:xfrm>
              <a:off x="4630248" y="5402031"/>
              <a:ext cx="4812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dirty="0" smtClean="0">
                  <a:solidFill>
                    <a:srgbClr val="3333CC"/>
                  </a:solidFill>
                </a:rPr>
                <a:t>E</a:t>
              </a:r>
              <a:r>
                <a:rPr lang="en-US" altLang="zh-TW" sz="2800" baseline="-25000" dirty="0" smtClean="0">
                  <a:solidFill>
                    <a:srgbClr val="3333CC"/>
                  </a:solidFill>
                </a:rPr>
                <a:t>1</a:t>
              </a:r>
              <a:endParaRPr lang="zh-TW" altLang="en-US" sz="2800" baseline="-250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569295" y="4322213"/>
            <a:ext cx="1202020" cy="1454490"/>
            <a:chOff x="3863540" y="4470761"/>
            <a:chExt cx="1202020" cy="1454490"/>
          </a:xfrm>
        </p:grpSpPr>
        <p:grpSp>
          <p:nvGrpSpPr>
            <p:cNvPr id="35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37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39" name="Picture 28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40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41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38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4630248" y="5402031"/>
              <a:ext cx="43531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dirty="0" smtClean="0">
                  <a:solidFill>
                    <a:srgbClr val="3333CC"/>
                  </a:solidFill>
                </a:rPr>
                <a:t>E</a:t>
              </a:r>
              <a:r>
                <a:rPr lang="en-US" altLang="zh-TW" sz="2800" baseline="-25000" dirty="0" smtClean="0">
                  <a:solidFill>
                    <a:srgbClr val="3333CC"/>
                  </a:solidFill>
                </a:rPr>
                <a:t>t</a:t>
              </a:r>
              <a:endParaRPr lang="zh-TW" altLang="en-US" sz="2800" baseline="-25000" dirty="0"/>
            </a:p>
          </p:txBody>
        </p:sp>
      </p:grpSp>
      <p:grpSp>
        <p:nvGrpSpPr>
          <p:cNvPr id="42" name="群組 4"/>
          <p:cNvGrpSpPr/>
          <p:nvPr/>
        </p:nvGrpSpPr>
        <p:grpSpPr>
          <a:xfrm>
            <a:off x="1535892" y="3368232"/>
            <a:ext cx="5860332" cy="3245576"/>
            <a:chOff x="2311665" y="3611136"/>
            <a:chExt cx="5110690" cy="30628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3340725" y="4913646"/>
                  <a:ext cx="2610419" cy="90170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4000">
                            <a:solidFill>
                              <a:schemeClr val="tx2"/>
                            </a:solidFill>
                            <a:latin typeface="Cambria Math"/>
                          </a:rPr>
                          <m:t>Ext</m:t>
                        </m:r>
                      </m:oMath>
                    </m:oMathPara>
                  </a14:m>
                  <a:endParaRPr lang="en-US" sz="4000" i="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43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40725" y="4913646"/>
                  <a:ext cx="2610419" cy="90170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Line 6"/>
            <p:cNvSpPr>
              <a:spLocks noChangeShapeType="1"/>
            </p:cNvSpPr>
            <p:nvPr/>
          </p:nvSpPr>
          <p:spPr bwMode="auto">
            <a:xfrm flipH="1">
              <a:off x="5172112" y="4428172"/>
              <a:ext cx="679450" cy="4854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5" name="Group 17"/>
            <p:cNvGrpSpPr/>
            <p:nvPr/>
          </p:nvGrpSpPr>
          <p:grpSpPr>
            <a:xfrm>
              <a:off x="3410731" y="5844516"/>
              <a:ext cx="2528347" cy="779502"/>
              <a:chOff x="2740770" y="5181600"/>
              <a:chExt cx="2528347" cy="779502"/>
            </a:xfrm>
          </p:grpSpPr>
          <p:sp>
            <p:nvSpPr>
              <p:cNvPr id="55" name="Text Box 27"/>
              <p:cNvSpPr txBox="1">
                <a:spLocks noChangeArrowheads="1"/>
              </p:cNvSpPr>
              <p:nvPr/>
            </p:nvSpPr>
            <p:spPr bwMode="auto">
              <a:xfrm>
                <a:off x="2740770" y="5591770"/>
                <a:ext cx="2528347" cy="369332"/>
              </a:xfrm>
              <a:prstGeom prst="rect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sz="1800" i="0" dirty="0">
                  <a:solidFill>
                    <a:srgbClr val="FFC000"/>
                  </a:solidFill>
                  <a:sym typeface="Symbol" pitchFamily="18" charset="2"/>
                </a:endParaRPr>
              </a:p>
            </p:txBody>
          </p:sp>
          <p:sp>
            <p:nvSpPr>
              <p:cNvPr id="56" name="Line 29"/>
              <p:cNvSpPr>
                <a:spLocks noChangeShapeType="1"/>
              </p:cNvSpPr>
              <p:nvPr/>
            </p:nvSpPr>
            <p:spPr bwMode="auto">
              <a:xfrm flipV="1">
                <a:off x="4037845" y="5181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6" name="Group 11"/>
            <p:cNvGrpSpPr/>
            <p:nvPr/>
          </p:nvGrpSpPr>
          <p:grpSpPr>
            <a:xfrm>
              <a:off x="2311665" y="4027566"/>
              <a:ext cx="2215081" cy="886080"/>
              <a:chOff x="2438400" y="3442732"/>
              <a:chExt cx="2215081" cy="886080"/>
            </a:xfrm>
          </p:grpSpPr>
          <p:sp>
            <p:nvSpPr>
              <p:cNvPr id="53" name="Text Box 26"/>
              <p:cNvSpPr txBox="1">
                <a:spLocks noChangeArrowheads="1"/>
              </p:cNvSpPr>
              <p:nvPr/>
            </p:nvSpPr>
            <p:spPr bwMode="auto">
              <a:xfrm>
                <a:off x="2438400" y="3442732"/>
                <a:ext cx="2215081" cy="371733"/>
              </a:xfrm>
              <a:prstGeom prst="rect">
                <a:avLst/>
              </a:prstGeom>
              <a:blipFill>
                <a:blip r:embed="rId6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54" name="Line 28"/>
              <p:cNvSpPr>
                <a:spLocks noChangeShapeType="1"/>
              </p:cNvSpPr>
              <p:nvPr/>
            </p:nvSpPr>
            <p:spPr bwMode="auto">
              <a:xfrm flipH="1" flipV="1">
                <a:off x="3585170" y="3843338"/>
                <a:ext cx="425513" cy="485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Rectangle 17"/>
                <p:cNvSpPr>
                  <a:spLocks noChangeArrowheads="1"/>
                </p:cNvSpPr>
                <p:nvPr/>
              </p:nvSpPr>
              <p:spPr bwMode="auto">
                <a:xfrm>
                  <a:off x="2827186" y="5952656"/>
                  <a:ext cx="1829347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i="0" dirty="0" smtClean="0">
                      <a:latin typeface="Helvetica" pitchFamily="34" charset="0"/>
                    </a:rPr>
                    <a:t>uniform output</a:t>
                  </a:r>
                  <a:endParaRPr lang="en-US" i="0" dirty="0">
                    <a:latin typeface="Helvetica" pitchFamily="34" charset="0"/>
                  </a:endParaRPr>
                </a:p>
              </p:txBody>
            </p:sp>
          </mc:Choice>
          <mc:Fallback>
            <p:sp>
              <p:nvSpPr>
                <p:cNvPr id="47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7186" y="5952656"/>
                  <a:ext cx="1829347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9375" b="-1875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 Box 26"/>
            <p:cNvSpPr txBox="1">
              <a:spLocks noChangeArrowheads="1"/>
            </p:cNvSpPr>
            <p:nvPr/>
          </p:nvSpPr>
          <p:spPr bwMode="auto">
            <a:xfrm>
              <a:off x="5207274" y="4017004"/>
              <a:ext cx="2215081" cy="371733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squar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endParaRPr lang="en-US" sz="2400" i="0" dirty="0">
                <a:solidFill>
                  <a:schemeClr val="tx2"/>
                </a:solidFill>
              </a:endParaRPr>
            </a:p>
          </p:txBody>
        </p:sp>
        <p:sp>
          <p:nvSpPr>
            <p:cNvPr id="49" name="矩形 72"/>
            <p:cNvSpPr/>
            <p:nvPr/>
          </p:nvSpPr>
          <p:spPr>
            <a:xfrm>
              <a:off x="3211434" y="3968310"/>
              <a:ext cx="5036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3333CC"/>
                  </a:solidFill>
                  <a:latin typeface="Helvetica" pitchFamily="34" charset="0"/>
                </a:rPr>
                <a:t>X</a:t>
              </a:r>
              <a:r>
                <a:rPr lang="en-US" altLang="zh-TW" sz="2400" baseline="-25000" dirty="0" smtClean="0">
                  <a:solidFill>
                    <a:srgbClr val="3333CC"/>
                  </a:solidFill>
                  <a:latin typeface="Helvetica" pitchFamily="34" charset="0"/>
                </a:rPr>
                <a:t>1</a:t>
              </a:r>
              <a:endParaRPr lang="zh-TW" altLang="en-US" sz="2400" baseline="-25000" dirty="0">
                <a:solidFill>
                  <a:srgbClr val="3333CC"/>
                </a:solidFill>
              </a:endParaRPr>
            </a:p>
          </p:txBody>
        </p:sp>
        <p:sp>
          <p:nvSpPr>
            <p:cNvPr id="50" name="矩形 73"/>
            <p:cNvSpPr/>
            <p:nvPr/>
          </p:nvSpPr>
          <p:spPr>
            <a:xfrm>
              <a:off x="6134199" y="3956180"/>
              <a:ext cx="44755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err="1" smtClean="0">
                  <a:solidFill>
                    <a:srgbClr val="3333CC"/>
                  </a:solidFill>
                  <a:latin typeface="Helvetica" pitchFamily="34" charset="0"/>
                </a:rPr>
                <a:t>X</a:t>
              </a:r>
              <a:r>
                <a:rPr lang="en-US" altLang="zh-TW" sz="2400" baseline="-25000" dirty="0" err="1" smtClean="0">
                  <a:solidFill>
                    <a:srgbClr val="3333CC"/>
                  </a:solidFill>
                  <a:latin typeface="Helvetica" pitchFamily="34" charset="0"/>
                </a:rPr>
                <a:t>t</a:t>
              </a:r>
              <a:endParaRPr lang="zh-TW" altLang="en-US" sz="2400" baseline="-25000" dirty="0">
                <a:solidFill>
                  <a:srgbClr val="3333CC"/>
                </a:solidFill>
              </a:endParaRPr>
            </a:p>
          </p:txBody>
        </p:sp>
        <p:sp>
          <p:nvSpPr>
            <p:cNvPr id="51" name="矩形 74"/>
            <p:cNvSpPr/>
            <p:nvPr/>
          </p:nvSpPr>
          <p:spPr>
            <a:xfrm>
              <a:off x="4468350" y="6212354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3333CC"/>
                  </a:solidFill>
                  <a:latin typeface="Helvetica" pitchFamily="34" charset="0"/>
                </a:rPr>
                <a:t>Z</a:t>
              </a:r>
              <a:endParaRPr lang="zh-TW" altLang="en-US" sz="2400" dirty="0">
                <a:solidFill>
                  <a:srgbClr val="3333CC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矩形 21"/>
                <p:cNvSpPr/>
                <p:nvPr/>
              </p:nvSpPr>
              <p:spPr>
                <a:xfrm>
                  <a:off x="4481202" y="3611136"/>
                  <a:ext cx="801209" cy="78422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800" b="1" i="1" cap="none" spc="0" dirty="0" smtClean="0">
                            <a:ln w="12700">
                              <a:solidFill>
                                <a:schemeClr val="accent1"/>
                              </a:solidFill>
                              <a:prstDash val="solid"/>
                            </a:ln>
                            <a:pattFill prst="pct50">
                              <a:fgClr>
                                <a:schemeClr val="accent1"/>
                              </a:fgClr>
                              <a:bgClr>
                                <a:schemeClr val="accent1">
                                  <a:lumMod val="20000"/>
                                  <a:lumOff val="80000"/>
                                </a:schemeClr>
                              </a:bgClr>
                            </a:pattFill>
                            <a:effectLst>
                              <a:outerShdw dist="38100" dir="2640000" algn="bl" rotWithShape="0">
                                <a:schemeClr val="accent1"/>
                              </a:outerShdw>
                            </a:effectLst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TW" altLang="en-US" sz="4800" b="1" cap="none" spc="0" dirty="0">
                    <a:ln w="12700">
                      <a:solidFill>
                        <a:schemeClr val="accent1"/>
                      </a:solidFill>
                      <a:prstDash val="solid"/>
                    </a:ln>
                    <a:pattFill prst="pct50">
                      <a:fgClr>
                        <a:schemeClr val="accent1"/>
                      </a:fgClr>
                      <a:bgClr>
                        <a:schemeClr val="accent1">
                          <a:lumMod val="20000"/>
                          <a:lumOff val="80000"/>
                        </a:schemeClr>
                      </a:bgClr>
                    </a:pattFill>
                    <a:effectLst>
                      <a:outerShdw dist="38100" dir="2640000" algn="bl" rotWithShape="0">
                        <a:schemeClr val="accent1"/>
                      </a:outerShdw>
                    </a:effectLst>
                  </a:endParaRPr>
                </a:p>
              </p:txBody>
            </p:sp>
          </mc:Choice>
          <mc:Fallback>
            <p:sp>
              <p:nvSpPr>
                <p:cNvPr id="5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1202" y="3611136"/>
                  <a:ext cx="801209" cy="78422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6587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371" y="1032348"/>
            <a:ext cx="8735441" cy="4659885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Independent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Adversary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(IA) Model</a:t>
            </a:r>
            <a:endParaRPr lang="en-US" altLang="zh-TW" sz="2400" dirty="0"/>
          </a:p>
          <a:p>
            <a:pPr lvl="1"/>
            <a:r>
              <a:rPr lang="en-US" altLang="zh-TW" sz="2400" dirty="0"/>
              <a:t>Require </a:t>
            </a:r>
            <a:r>
              <a:rPr lang="en-US" altLang="zh-TW" sz="2400" dirty="0">
                <a:solidFill>
                  <a:srgbClr val="3333CC"/>
                </a:solidFill>
              </a:rPr>
              <a:t>E</a:t>
            </a:r>
            <a:r>
              <a:rPr lang="en-US" altLang="zh-TW" sz="2400" baseline="-25000" dirty="0">
                <a:solidFill>
                  <a:srgbClr val="3333CC"/>
                </a:solidFill>
              </a:rPr>
              <a:t>1</a:t>
            </a:r>
            <a:r>
              <a:rPr lang="en-US" altLang="zh-TW" sz="2400" dirty="0"/>
              <a:t> and </a:t>
            </a:r>
            <a:r>
              <a:rPr lang="en-US" altLang="zh-TW" sz="2400" dirty="0">
                <a:solidFill>
                  <a:srgbClr val="3333CC"/>
                </a:solidFill>
              </a:rPr>
              <a:t>E</a:t>
            </a:r>
            <a:r>
              <a:rPr lang="en-US" altLang="zh-TW" sz="2400" baseline="-25000" dirty="0">
                <a:solidFill>
                  <a:srgbClr val="3333CC"/>
                </a:solidFill>
              </a:rPr>
              <a:t>2</a:t>
            </a:r>
            <a:r>
              <a:rPr lang="en-US" altLang="zh-TW" sz="2400" dirty="0"/>
              <a:t> to be independent as well</a:t>
            </a:r>
          </a:p>
          <a:p>
            <a:r>
              <a:rPr lang="en-US" altLang="zh-CN" sz="2800" b="1" dirty="0"/>
              <a:t>Bounded</a:t>
            </a:r>
            <a:r>
              <a:rPr lang="zh-CN" altLang="en-US" sz="2800" b="1" dirty="0"/>
              <a:t> </a:t>
            </a:r>
            <a:r>
              <a:rPr lang="en-US" altLang="zh-CN" sz="2800" b="1" dirty="0" smtClean="0"/>
              <a:t>Storage</a:t>
            </a:r>
            <a:r>
              <a:rPr lang="zh-TW" altLang="en-US" sz="2800" b="1" dirty="0" smtClean="0"/>
              <a:t> </a:t>
            </a:r>
            <a:r>
              <a:rPr lang="en-US" altLang="zh-CN" sz="2800" b="1" dirty="0" smtClean="0"/>
              <a:t>(</a:t>
            </a:r>
            <a:r>
              <a:rPr lang="en-US" altLang="zh-TW" sz="2800" b="1" dirty="0" smtClean="0"/>
              <a:t>BS</a:t>
            </a:r>
            <a:r>
              <a:rPr lang="en-US" altLang="zh-CN" sz="2800" b="1" dirty="0" smtClean="0"/>
              <a:t>) </a:t>
            </a:r>
            <a:r>
              <a:rPr lang="en-US" altLang="zh-CN" sz="2800" b="1" dirty="0"/>
              <a:t>Model</a:t>
            </a:r>
            <a:endParaRPr lang="en-US" altLang="zh-TW" sz="2400" dirty="0"/>
          </a:p>
          <a:p>
            <a:pPr lvl="1"/>
            <a:r>
              <a:rPr lang="en-US" altLang="zh-TW" sz="2400" dirty="0" smtClean="0"/>
              <a:t>Allow entangled (local) side info, put </a:t>
            </a:r>
            <a:r>
              <a:rPr lang="en-US" altLang="zh-TW" sz="2400" i="1" dirty="0" smtClean="0">
                <a:solidFill>
                  <a:srgbClr val="FF0000"/>
                </a:solidFill>
              </a:rPr>
              <a:t>size restriction</a:t>
            </a:r>
            <a:r>
              <a:rPr lang="en-US" altLang="zh-TW" sz="2400" dirty="0" smtClean="0"/>
              <a:t> on </a:t>
            </a:r>
            <a:r>
              <a:rPr lang="en-US" altLang="zh-TW" sz="2400" dirty="0" smtClean="0">
                <a:solidFill>
                  <a:srgbClr val="3333CC"/>
                </a:solidFill>
              </a:rPr>
              <a:t>E</a:t>
            </a:r>
            <a:r>
              <a:rPr lang="en-US" altLang="zh-TW" sz="2400" baseline="-25000" dirty="0" smtClean="0">
                <a:solidFill>
                  <a:srgbClr val="3333CC"/>
                </a:solidFill>
              </a:rPr>
              <a:t>1</a:t>
            </a:r>
            <a:r>
              <a:rPr lang="en-US" altLang="zh-TW" sz="2400" dirty="0" smtClean="0"/>
              <a:t>, </a:t>
            </a:r>
            <a:r>
              <a:rPr lang="en-US" altLang="zh-TW" sz="2400" dirty="0" smtClean="0">
                <a:solidFill>
                  <a:srgbClr val="3333CC"/>
                </a:solidFill>
              </a:rPr>
              <a:t>E</a:t>
            </a:r>
            <a:r>
              <a:rPr lang="en-US" altLang="zh-TW" sz="2400" baseline="-25000" dirty="0" smtClean="0">
                <a:solidFill>
                  <a:srgbClr val="3333CC"/>
                </a:solidFill>
              </a:rPr>
              <a:t>2</a:t>
            </a:r>
          </a:p>
          <a:p>
            <a:r>
              <a:rPr lang="en-US" altLang="zh-TW" sz="2800" dirty="0" smtClean="0"/>
              <a:t>Classical DEOR </a:t>
            </a:r>
            <a:r>
              <a:rPr lang="en-US" altLang="zh-TW" sz="2800" dirty="0" smtClean="0">
                <a:solidFill>
                  <a:srgbClr val="3333CC"/>
                </a:solidFill>
              </a:rPr>
              <a:t>Ext</a:t>
            </a:r>
            <a:r>
              <a:rPr lang="en-US" altLang="zh-TW" sz="2800" dirty="0" smtClean="0"/>
              <a:t> works for both models </a:t>
            </a:r>
            <a:r>
              <a:rPr lang="en-US" altLang="zh-TW" sz="2400" dirty="0" smtClean="0">
                <a:solidFill>
                  <a:srgbClr val="0070C0"/>
                </a:solidFill>
              </a:rPr>
              <a:t>[KK12]</a:t>
            </a:r>
            <a:endParaRPr lang="en-US" altLang="zh-TW" sz="2800" dirty="0">
              <a:solidFill>
                <a:srgbClr val="0070C0"/>
              </a:solidFill>
            </a:endParaRPr>
          </a:p>
          <a:p>
            <a:pPr lvl="1"/>
            <a:endParaRPr lang="en-US" altLang="zh-TW" sz="10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5"/>
              <p:cNvSpPr>
                <a:spLocks noChangeArrowheads="1"/>
              </p:cNvSpPr>
              <p:nvPr/>
            </p:nvSpPr>
            <p:spPr bwMode="auto">
              <a:xfrm>
                <a:off x="3101925" y="4669132"/>
                <a:ext cx="2610419" cy="110836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>
                          <a:solidFill>
                            <a:schemeClr val="tx2"/>
                          </a:solidFill>
                          <a:latin typeface="Cambria Math"/>
                        </a:rPr>
                        <m:t>Ext</m:t>
                      </m:r>
                    </m:oMath>
                  </m:oMathPara>
                </a14:m>
                <a:endParaRPr lang="en-US" sz="4000" i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5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1925" y="4669132"/>
                <a:ext cx="2610419" cy="11083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2868288" y="6187654"/>
            <a:ext cx="3077693" cy="461665"/>
          </a:xfrm>
          <a:prstGeom prst="rect">
            <a:avLst/>
          </a:prstGeom>
          <a:solidFill>
            <a:srgbClr val="FFC000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rgbClr val="3333CC"/>
                </a:solidFill>
                <a:sym typeface="Symbol" pitchFamily="18" charset="2"/>
              </a:rPr>
              <a:t>Output Z = Ext(X</a:t>
            </a:r>
            <a:r>
              <a:rPr lang="en-US" sz="2400" i="0" baseline="-25000" dirty="0" smtClean="0">
                <a:solidFill>
                  <a:srgbClr val="3333CC"/>
                </a:solidFill>
                <a:sym typeface="Symbol" pitchFamily="18" charset="2"/>
              </a:rPr>
              <a:t>1</a:t>
            </a:r>
            <a:r>
              <a:rPr lang="en-US" sz="2400" i="0" dirty="0" smtClean="0">
                <a:solidFill>
                  <a:srgbClr val="3333CC"/>
                </a:solidFill>
                <a:sym typeface="Symbol" pitchFamily="18" charset="2"/>
              </a:rPr>
              <a:t>,X</a:t>
            </a:r>
            <a:r>
              <a:rPr lang="en-US" sz="2400" i="0" baseline="-25000" dirty="0" smtClean="0">
                <a:solidFill>
                  <a:srgbClr val="3333CC"/>
                </a:solidFill>
                <a:sym typeface="Symbol" pitchFamily="18" charset="2"/>
              </a:rPr>
              <a:t>2</a:t>
            </a:r>
            <a:r>
              <a:rPr lang="en-US" sz="2400" i="0" dirty="0" smtClean="0">
                <a:solidFill>
                  <a:srgbClr val="3333CC"/>
                </a:solidFill>
                <a:sym typeface="Symbol" pitchFamily="18" charset="2"/>
              </a:rPr>
              <a:t>)</a:t>
            </a:r>
            <a:endParaRPr lang="en-US" sz="2400" i="0" dirty="0">
              <a:sym typeface="Symbol" pitchFamily="18" charset="2"/>
            </a:endParaRPr>
          </a:p>
        </p:txBody>
      </p:sp>
      <p:sp>
        <p:nvSpPr>
          <p:cNvPr id="9" name="Line 29"/>
          <p:cNvSpPr>
            <a:spLocks noChangeShapeType="1"/>
          </p:cNvSpPr>
          <p:nvPr/>
        </p:nvSpPr>
        <p:spPr bwMode="auto">
          <a:xfrm flipV="1">
            <a:off x="4407134" y="5806668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1296367" y="3605783"/>
            <a:ext cx="2916824" cy="47139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rgbClr val="3333CC"/>
                </a:solidFill>
              </a:rPr>
              <a:t>k</a:t>
            </a:r>
            <a:r>
              <a:rPr lang="en-US" sz="2400" i="0" baseline="-25000" dirty="0" smtClean="0">
                <a:solidFill>
                  <a:srgbClr val="3333CC"/>
                </a:solidFill>
              </a:rPr>
              <a:t>1</a:t>
            </a:r>
            <a:r>
              <a:rPr lang="en-US" sz="2400" i="0" dirty="0" smtClean="0"/>
              <a:t>-source</a:t>
            </a:r>
            <a:r>
              <a:rPr lang="en-US" sz="2400" i="0" dirty="0" smtClean="0">
                <a:solidFill>
                  <a:schemeClr val="tx2"/>
                </a:solidFill>
              </a:rPr>
              <a:t> X</a:t>
            </a:r>
            <a:r>
              <a:rPr lang="en-US" sz="2400" i="0" baseline="-25000" dirty="0" smtClean="0">
                <a:solidFill>
                  <a:schemeClr val="tx2"/>
                </a:solidFill>
              </a:rPr>
              <a:t>1</a:t>
            </a:r>
            <a:endParaRPr lang="en-US" sz="2400" i="0" baseline="-25000" dirty="0">
              <a:solidFill>
                <a:schemeClr val="tx2"/>
              </a:solidFill>
            </a:endParaRPr>
          </a:p>
        </p:txBody>
      </p:sp>
      <p:sp>
        <p:nvSpPr>
          <p:cNvPr id="14" name="Line 28"/>
          <p:cNvSpPr>
            <a:spLocks noChangeShapeType="1"/>
          </p:cNvSpPr>
          <p:nvPr/>
        </p:nvSpPr>
        <p:spPr bwMode="auto">
          <a:xfrm flipH="1" flipV="1">
            <a:off x="2725965" y="4077182"/>
            <a:ext cx="975114" cy="591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2725965" y="5861610"/>
                <a:ext cx="112402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i="0" dirty="0" smtClean="0">
                    <a:latin typeface="Helvetica" pitchFamily="34" charset="0"/>
                  </a:rPr>
                  <a:t>uniform</a:t>
                </a:r>
                <a:endParaRPr lang="en-US" i="0" dirty="0">
                  <a:latin typeface="Helvetica" pitchFamily="34" charset="0"/>
                </a:endParaRP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5965" y="5861610"/>
                <a:ext cx="1124026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0000" r="-5405" b="-2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ine 28"/>
          <p:cNvSpPr>
            <a:spLocks noChangeShapeType="1"/>
          </p:cNvSpPr>
          <p:nvPr/>
        </p:nvSpPr>
        <p:spPr bwMode="auto">
          <a:xfrm flipV="1">
            <a:off x="5010945" y="4057801"/>
            <a:ext cx="1031039" cy="60168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4608655" y="3607708"/>
            <a:ext cx="2916824" cy="471399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sz="2400" i="0" dirty="0" smtClean="0">
                <a:solidFill>
                  <a:srgbClr val="3333CC"/>
                </a:solidFill>
              </a:rPr>
              <a:t>k</a:t>
            </a:r>
            <a:r>
              <a:rPr lang="en-US" sz="2400" i="0" baseline="-25000" dirty="0" smtClean="0">
                <a:solidFill>
                  <a:srgbClr val="3333CC"/>
                </a:solidFill>
              </a:rPr>
              <a:t>2</a:t>
            </a:r>
            <a:r>
              <a:rPr lang="en-US" sz="2400" i="0" dirty="0" smtClean="0"/>
              <a:t>-source</a:t>
            </a:r>
            <a:r>
              <a:rPr lang="en-US" sz="2400" i="0" dirty="0" smtClean="0">
                <a:solidFill>
                  <a:schemeClr val="tx2"/>
                </a:solidFill>
              </a:rPr>
              <a:t> X</a:t>
            </a:r>
            <a:r>
              <a:rPr lang="en-US" sz="2400" i="0" baseline="-25000" dirty="0" smtClean="0">
                <a:solidFill>
                  <a:schemeClr val="tx2"/>
                </a:solidFill>
              </a:rPr>
              <a:t>2</a:t>
            </a:r>
            <a:endParaRPr lang="en-US" sz="2400" i="0" baseline="-25000" dirty="0">
              <a:solidFill>
                <a:schemeClr val="tx2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05861" y="4343432"/>
            <a:ext cx="1247930" cy="1454490"/>
            <a:chOff x="3863540" y="4470761"/>
            <a:chExt cx="1247930" cy="1454490"/>
          </a:xfrm>
        </p:grpSpPr>
        <p:grpSp>
          <p:nvGrpSpPr>
            <p:cNvPr id="27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29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31" name="Picture 28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32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33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30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28" name="Rectangle 27"/>
            <p:cNvSpPr/>
            <p:nvPr/>
          </p:nvSpPr>
          <p:spPr>
            <a:xfrm>
              <a:off x="4630248" y="5402031"/>
              <a:ext cx="4812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dirty="0" smtClean="0">
                  <a:solidFill>
                    <a:srgbClr val="3333CC"/>
                  </a:solidFill>
                </a:rPr>
                <a:t>E</a:t>
              </a:r>
              <a:r>
                <a:rPr lang="en-US" altLang="zh-TW" sz="2800" baseline="-25000" dirty="0" smtClean="0">
                  <a:solidFill>
                    <a:srgbClr val="3333CC"/>
                  </a:solidFill>
                </a:rPr>
                <a:t>1</a:t>
              </a:r>
              <a:endParaRPr lang="zh-TW" altLang="en-US" sz="2800" baseline="-250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569295" y="4322213"/>
            <a:ext cx="1247930" cy="1454490"/>
            <a:chOff x="3863540" y="4470761"/>
            <a:chExt cx="1247930" cy="1454490"/>
          </a:xfrm>
        </p:grpSpPr>
        <p:grpSp>
          <p:nvGrpSpPr>
            <p:cNvPr id="35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37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39" name="Picture 28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40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41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38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4630248" y="5402031"/>
              <a:ext cx="4812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800" dirty="0" smtClean="0">
                  <a:solidFill>
                    <a:srgbClr val="3333CC"/>
                  </a:solidFill>
                </a:rPr>
                <a:t>E</a:t>
              </a:r>
              <a:r>
                <a:rPr lang="en-US" altLang="zh-TW" sz="2800" baseline="-25000" dirty="0" smtClean="0">
                  <a:solidFill>
                    <a:srgbClr val="3333CC"/>
                  </a:solidFill>
                </a:rPr>
                <a:t>2</a:t>
              </a:r>
              <a:endParaRPr lang="zh-TW" altLang="en-US" sz="2800" baseline="-25000" dirty="0"/>
            </a:p>
          </p:txBody>
        </p:sp>
      </p:grpSp>
      <p:sp>
        <p:nvSpPr>
          <p:cNvPr id="43" name="Title 1"/>
          <p:cNvSpPr>
            <a:spLocks noGrp="1"/>
          </p:cNvSpPr>
          <p:nvPr>
            <p:ph type="title"/>
          </p:nvPr>
        </p:nvSpPr>
        <p:spPr>
          <a:xfrm>
            <a:off x="457200" y="77866"/>
            <a:ext cx="8409008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IA &amp; </a:t>
            </a:r>
            <a:r>
              <a:rPr lang="en-US" altLang="zh-TW" dirty="0"/>
              <a:t>BS Model </a:t>
            </a:r>
            <a:r>
              <a:rPr lang="en-US" altLang="zh-TW" dirty="0" smtClean="0"/>
              <a:t>for Two-sources </a:t>
            </a:r>
            <a:r>
              <a:rPr lang="en-US" altLang="zh-TW" sz="3600" dirty="0" smtClean="0"/>
              <a:t>[KK12</a:t>
            </a:r>
            <a:r>
              <a:rPr lang="en-US" altLang="zh-TW" sz="3600" dirty="0"/>
              <a:t>]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6337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Our Results [</a:t>
            </a:r>
            <a:r>
              <a:rPr lang="en-US" altLang="zh-TW" dirty="0" smtClean="0">
                <a:solidFill>
                  <a:srgbClr val="FF0000"/>
                </a:solidFill>
              </a:rPr>
              <a:t>C</a:t>
            </a:r>
            <a:r>
              <a:rPr lang="en-US" altLang="zh-TW" dirty="0" smtClean="0"/>
              <a:t>LW15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67838" y="1406063"/>
            <a:ext cx="8669438" cy="5109622"/>
          </a:xfrm>
        </p:spPr>
        <p:txBody>
          <a:bodyPr>
            <a:normAutofit/>
          </a:bodyPr>
          <a:lstStyle/>
          <a:p>
            <a:r>
              <a:rPr lang="en-US" altLang="zh-TW" sz="2800" b="1" dirty="0" smtClean="0"/>
              <a:t>General Entanglement (GE) Model</a:t>
            </a:r>
          </a:p>
          <a:p>
            <a:pPr lvl="1"/>
            <a:r>
              <a:rPr lang="en-US" altLang="zh-TW" sz="2400" dirty="0" smtClean="0"/>
              <a:t>Unify both </a:t>
            </a:r>
            <a:r>
              <a:rPr lang="en-US" altLang="zh-TW" sz="2400" b="1" dirty="0" smtClean="0"/>
              <a:t>IA</a:t>
            </a:r>
            <a:r>
              <a:rPr lang="en-US" altLang="zh-TW" sz="2400" dirty="0" smtClean="0"/>
              <a:t> and </a:t>
            </a:r>
            <a:r>
              <a:rPr lang="en-US" altLang="zh-TW" sz="2400" b="1" dirty="0" smtClean="0"/>
              <a:t>BS</a:t>
            </a:r>
            <a:r>
              <a:rPr lang="en-US" altLang="zh-TW" sz="2400" dirty="0" smtClean="0"/>
              <a:t> models</a:t>
            </a:r>
          </a:p>
          <a:p>
            <a:pPr lvl="1"/>
            <a:r>
              <a:rPr lang="en-US" altLang="zh-TW" sz="2400" dirty="0" smtClean="0"/>
              <a:t>Allow entanglement as </a:t>
            </a:r>
            <a:r>
              <a:rPr lang="en-US" altLang="zh-TW" sz="2400" b="1" dirty="0" smtClean="0"/>
              <a:t>BS</a:t>
            </a:r>
            <a:r>
              <a:rPr lang="en-US" altLang="zh-TW" sz="2400" dirty="0" smtClean="0"/>
              <a:t>, but </a:t>
            </a:r>
            <a:r>
              <a:rPr lang="en-US" altLang="zh-TW" sz="2400" i="1" dirty="0" smtClean="0"/>
              <a:t>NO</a:t>
            </a:r>
            <a:r>
              <a:rPr lang="en-US" altLang="zh-TW" sz="2400" dirty="0" smtClean="0"/>
              <a:t> size restriction</a:t>
            </a:r>
          </a:p>
          <a:p>
            <a:pPr lvl="1"/>
            <a:r>
              <a:rPr lang="en-US" altLang="zh-TW" sz="2400" dirty="0" smtClean="0"/>
              <a:t>Key: new measure of entropy</a:t>
            </a:r>
            <a:r>
              <a:rPr lang="en-US" altLang="zh-TW" sz="2400" dirty="0"/>
              <a:t>, avoid “</a:t>
            </a:r>
            <a:r>
              <a:rPr lang="en-US" altLang="zh-TW" sz="2400" dirty="0" smtClean="0"/>
              <a:t>interference” issue</a:t>
            </a:r>
            <a:endParaRPr lang="en-US" altLang="zh-TW" sz="2800" dirty="0" smtClean="0"/>
          </a:p>
          <a:p>
            <a:r>
              <a:rPr lang="en-US" altLang="zh-TW" sz="2800" dirty="0" smtClean="0"/>
              <a:t>Generic techniques to prove </a:t>
            </a:r>
            <a:r>
              <a:rPr lang="en-US" altLang="zh-TW" sz="2800" b="1" dirty="0" smtClean="0"/>
              <a:t>GE</a:t>
            </a:r>
            <a:r>
              <a:rPr lang="en-US" altLang="zh-TW" sz="2800" dirty="0" smtClean="0"/>
              <a:t> security</a:t>
            </a:r>
            <a:endParaRPr lang="en-US" altLang="zh-TW" sz="28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10900" y="3981690"/>
                <a:ext cx="8229600" cy="1509112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5000">
                    <a:schemeClr val="accent3">
                      <a:lumMod val="20000"/>
                      <a:lumOff val="80000"/>
                    </a:schemeClr>
                  </a:gs>
                  <a:gs pos="100000">
                    <a:schemeClr val="accent3">
                      <a:lumMod val="40000"/>
                      <a:lumOff val="60000"/>
                    </a:schemeClr>
                  </a:gs>
                </a:gsLst>
              </a:gra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[</a:t>
                </a:r>
                <a:r>
                  <a:rPr lang="en-US" altLang="zh-CN" sz="2800" b="1" dirty="0" err="1" smtClean="0">
                    <a:solidFill>
                      <a:schemeClr val="tx1"/>
                    </a:solidFill>
                  </a:rPr>
                  <a:t>Thm</a:t>
                </a:r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] 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Almost(</a:t>
                </a:r>
                <a:r>
                  <a:rPr lang="en-US" altLang="zh-CN" sz="2800" baseline="30000" dirty="0" smtClean="0">
                    <a:solidFill>
                      <a:schemeClr val="tx1"/>
                    </a:solidFill>
                  </a:rPr>
                  <a:t>*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) all classical two/multi-source Ext either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already quantum-proof, or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can be made so with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parameters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00" y="3981690"/>
                <a:ext cx="8229600" cy="150911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10900" y="5989888"/>
            <a:ext cx="827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(*) except improved two-source Ext of </a:t>
            </a:r>
            <a:r>
              <a:rPr lang="en-US" altLang="zh-TW" sz="2400" dirty="0" smtClean="0">
                <a:solidFill>
                  <a:srgbClr val="0070C0"/>
                </a:solidFill>
              </a:rPr>
              <a:t>[Li15] </a:t>
            </a:r>
            <a:r>
              <a:rPr lang="en-US" altLang="zh-TW" sz="2400" dirty="0" smtClean="0"/>
              <a:t>(based on </a:t>
            </a:r>
            <a:r>
              <a:rPr lang="en-US" altLang="zh-TW" sz="2400" dirty="0" smtClean="0">
                <a:solidFill>
                  <a:srgbClr val="0070C0"/>
                </a:solidFill>
              </a:rPr>
              <a:t>[CZ15]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6495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8132275" cy="1470025"/>
          </a:xfrm>
        </p:spPr>
        <p:txBody>
          <a:bodyPr/>
          <a:lstStyle/>
          <a:p>
            <a:r>
              <a:rPr lang="en-US" altLang="zh-TW" dirty="0" smtClean="0"/>
              <a:t>Physical Randomness Extractors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87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What If We Are </a:t>
            </a:r>
            <a:r>
              <a:rPr lang="en-US" altLang="zh-TW" dirty="0" smtClean="0"/>
              <a:t>Paranoid about </a:t>
            </a:r>
            <a:r>
              <a:rPr lang="en-US" altLang="zh-TW" i="1" dirty="0">
                <a:solidFill>
                  <a:srgbClr val="FF0000"/>
                </a:solidFill>
              </a:rPr>
              <a:t>Independence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Assumption?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5001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Cannot be verified &amp; don’t know how to guarantee</a:t>
            </a:r>
          </a:p>
          <a:p>
            <a:r>
              <a:rPr lang="en-US" altLang="zh-TW" sz="2800" dirty="0" smtClean="0"/>
              <a:t>“Device-independent Extractors”</a:t>
            </a:r>
            <a:endParaRPr lang="en-US" altLang="zh-TW" sz="2800" dirty="0" smtClean="0"/>
          </a:p>
          <a:p>
            <a:pPr lvl="1"/>
            <a:r>
              <a:rPr lang="en-US" altLang="zh-TW" sz="2400" dirty="0" smtClean="0"/>
              <a:t>Extract randomness from quantum power without </a:t>
            </a:r>
            <a:r>
              <a:rPr lang="en-US" altLang="zh-TW" sz="2400" dirty="0" smtClean="0"/>
              <a:t>trust</a:t>
            </a:r>
          </a:p>
          <a:p>
            <a:pPr lvl="1"/>
            <a:endParaRPr lang="zh-TW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>
                <a:spLocks noChangeArrowheads="1"/>
              </p:cNvSpPr>
              <p:nvPr/>
            </p:nvSpPr>
            <p:spPr bwMode="auto">
              <a:xfrm>
                <a:off x="2073245" y="4582985"/>
                <a:ext cx="3859794" cy="134104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>
                          <a:solidFill>
                            <a:schemeClr val="tx2"/>
                          </a:solidFill>
                          <a:latin typeface="Cambria Math"/>
                        </a:rPr>
                        <m:t>Ext</m:t>
                      </m:r>
                    </m:oMath>
                  </m:oMathPara>
                </a14:m>
                <a:endParaRPr lang="en-US" sz="4000" i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3245" y="4582985"/>
                <a:ext cx="3859794" cy="134104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17"/>
          <p:cNvGrpSpPr/>
          <p:nvPr/>
        </p:nvGrpSpPr>
        <p:grpSpPr>
          <a:xfrm>
            <a:off x="2686066" y="5928504"/>
            <a:ext cx="2528347" cy="779502"/>
            <a:chOff x="2740770" y="5181600"/>
            <a:chExt cx="2528347" cy="779502"/>
          </a:xfrm>
        </p:grpSpPr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2740770" y="5591770"/>
              <a:ext cx="2528347" cy="369332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squar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endParaRPr lang="en-US" sz="1800" i="0" dirty="0">
                <a:solidFill>
                  <a:srgbClr val="FFC000"/>
                </a:solidFill>
                <a:sym typeface="Symbol" pitchFamily="18" charset="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V="1">
              <a:off x="4037845" y="518160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692091" y="3387297"/>
            <a:ext cx="2313676" cy="1195688"/>
            <a:chOff x="2213070" y="3717958"/>
            <a:chExt cx="2313676" cy="1195688"/>
          </a:xfrm>
        </p:grpSpPr>
        <p:grpSp>
          <p:nvGrpSpPr>
            <p:cNvPr id="31" name="Group 11"/>
            <p:cNvGrpSpPr/>
            <p:nvPr/>
          </p:nvGrpSpPr>
          <p:grpSpPr>
            <a:xfrm>
              <a:off x="2311665" y="4027566"/>
              <a:ext cx="2215081" cy="886080"/>
              <a:chOff x="2438400" y="3442732"/>
              <a:chExt cx="2215081" cy="886080"/>
            </a:xfrm>
          </p:grpSpPr>
          <p:sp>
            <p:nvSpPr>
              <p:cNvPr id="33" name="Text Box 26"/>
              <p:cNvSpPr txBox="1">
                <a:spLocks noChangeArrowheads="1"/>
              </p:cNvSpPr>
              <p:nvPr/>
            </p:nvSpPr>
            <p:spPr bwMode="auto">
              <a:xfrm>
                <a:off x="2438400" y="3442732"/>
                <a:ext cx="2215081" cy="371733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4" name="Line 28"/>
              <p:cNvSpPr>
                <a:spLocks noChangeShapeType="1"/>
              </p:cNvSpPr>
              <p:nvPr/>
            </p:nvSpPr>
            <p:spPr bwMode="auto">
              <a:xfrm flipH="1" flipV="1">
                <a:off x="3585170" y="3843338"/>
                <a:ext cx="425513" cy="485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2213070" y="3717958"/>
              <a:ext cx="87716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source</a:t>
              </a:r>
              <a:endParaRPr lang="en-US" i="0" dirty="0">
                <a:latin typeface="Helvetica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17"/>
              <p:cNvSpPr>
                <a:spLocks noChangeArrowheads="1"/>
              </p:cNvSpPr>
              <p:nvPr/>
            </p:nvSpPr>
            <p:spPr bwMode="auto">
              <a:xfrm>
                <a:off x="2102521" y="6036644"/>
                <a:ext cx="182934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i="0" dirty="0" smtClean="0">
                    <a:latin typeface="Helvetica" pitchFamily="34" charset="0"/>
                  </a:rPr>
                  <a:t>uniform output</a:t>
                </a:r>
                <a:endParaRPr lang="en-US" i="0" dirty="0">
                  <a:latin typeface="Helvetica" pitchFamily="34" charset="0"/>
                </a:endParaRPr>
              </a:p>
            </p:txBody>
          </p:sp>
        </mc:Choice>
        <mc:Fallback>
          <p:sp>
            <p:nvSpPr>
              <p:cNvPr id="35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1" y="6036644"/>
                <a:ext cx="1829347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r="-2333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4"/>
          <p:cNvGrpSpPr/>
          <p:nvPr/>
        </p:nvGrpSpPr>
        <p:grpSpPr>
          <a:xfrm>
            <a:off x="3354891" y="3270538"/>
            <a:ext cx="851515" cy="1322078"/>
            <a:chOff x="3831141" y="3085343"/>
            <a:chExt cx="851515" cy="1322078"/>
          </a:xfrm>
        </p:grpSpPr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3831141" y="3085343"/>
              <a:ext cx="8515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device</a:t>
              </a:r>
              <a:endParaRPr lang="en-US" i="0" dirty="0">
                <a:latin typeface="Helvetica" pitchFamily="34" charset="0"/>
              </a:endParaRPr>
            </a:p>
          </p:txBody>
        </p:sp>
        <p:sp>
          <p:nvSpPr>
            <p:cNvPr id="38" name="Line 6"/>
            <p:cNvSpPr>
              <a:spLocks noChangeShapeType="1"/>
            </p:cNvSpPr>
            <p:nvPr/>
          </p:nvSpPr>
          <p:spPr bwMode="auto">
            <a:xfrm flipH="1">
              <a:off x="4150843" y="4007365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ounded Rectangle 4"/>
            <p:cNvSpPr/>
            <p:nvPr/>
          </p:nvSpPr>
          <p:spPr>
            <a:xfrm>
              <a:off x="3919754" y="3372279"/>
              <a:ext cx="629966" cy="6505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/>
            </a:p>
          </p:txBody>
        </p:sp>
        <p:sp>
          <p:nvSpPr>
            <p:cNvPr id="40" name="Line 6"/>
            <p:cNvSpPr>
              <a:spLocks noChangeShapeType="1"/>
            </p:cNvSpPr>
            <p:nvPr/>
          </p:nvSpPr>
          <p:spPr bwMode="auto">
            <a:xfrm flipH="1">
              <a:off x="4303243" y="4005864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" name="群組 5"/>
          <p:cNvGrpSpPr/>
          <p:nvPr/>
        </p:nvGrpSpPr>
        <p:grpSpPr>
          <a:xfrm>
            <a:off x="4440741" y="3270538"/>
            <a:ext cx="851515" cy="1322078"/>
            <a:chOff x="4916991" y="3085343"/>
            <a:chExt cx="851515" cy="1322078"/>
          </a:xfrm>
        </p:grpSpPr>
        <p:sp>
          <p:nvSpPr>
            <p:cNvPr id="42" name="Rectangle 17"/>
            <p:cNvSpPr>
              <a:spLocks noChangeArrowheads="1"/>
            </p:cNvSpPr>
            <p:nvPr/>
          </p:nvSpPr>
          <p:spPr bwMode="auto">
            <a:xfrm>
              <a:off x="4916991" y="3085343"/>
              <a:ext cx="8515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device</a:t>
              </a:r>
              <a:endParaRPr lang="en-US" i="0" dirty="0">
                <a:latin typeface="Helvetica" pitchFamily="34" charset="0"/>
              </a:endParaRPr>
            </a:p>
          </p:txBody>
        </p:sp>
        <p:sp>
          <p:nvSpPr>
            <p:cNvPr id="43" name="Line 6"/>
            <p:cNvSpPr>
              <a:spLocks noChangeShapeType="1"/>
            </p:cNvSpPr>
            <p:nvPr/>
          </p:nvSpPr>
          <p:spPr bwMode="auto">
            <a:xfrm flipH="1">
              <a:off x="5236693" y="4007365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ounded Rectangle 4"/>
            <p:cNvSpPr/>
            <p:nvPr/>
          </p:nvSpPr>
          <p:spPr>
            <a:xfrm>
              <a:off x="5005604" y="3372279"/>
              <a:ext cx="629966" cy="6505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/>
            </a:p>
          </p:txBody>
        </p:sp>
        <p:sp>
          <p:nvSpPr>
            <p:cNvPr id="45" name="Line 6"/>
            <p:cNvSpPr>
              <a:spLocks noChangeShapeType="1"/>
            </p:cNvSpPr>
            <p:nvPr/>
          </p:nvSpPr>
          <p:spPr bwMode="auto">
            <a:xfrm flipH="1">
              <a:off x="5389093" y="4005864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群組 6"/>
          <p:cNvGrpSpPr/>
          <p:nvPr/>
        </p:nvGrpSpPr>
        <p:grpSpPr>
          <a:xfrm>
            <a:off x="6136989" y="3270538"/>
            <a:ext cx="1136467" cy="1256760"/>
            <a:chOff x="6613239" y="3085343"/>
            <a:chExt cx="1136467" cy="1256760"/>
          </a:xfrm>
        </p:grpSpPr>
        <p:sp>
          <p:nvSpPr>
            <p:cNvPr id="47" name="Rectangle 17"/>
            <p:cNvSpPr>
              <a:spLocks noChangeArrowheads="1"/>
            </p:cNvSpPr>
            <p:nvPr/>
          </p:nvSpPr>
          <p:spPr bwMode="auto">
            <a:xfrm>
              <a:off x="6898191" y="3085343"/>
              <a:ext cx="8515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device</a:t>
              </a:r>
              <a:endParaRPr lang="en-US" i="0" dirty="0">
                <a:latin typeface="Helvetica" pitchFamily="34" charset="0"/>
              </a:endParaRPr>
            </a:p>
          </p:txBody>
        </p:sp>
        <p:sp>
          <p:nvSpPr>
            <p:cNvPr id="48" name="Line 6"/>
            <p:cNvSpPr>
              <a:spLocks noChangeShapeType="1"/>
            </p:cNvSpPr>
            <p:nvPr/>
          </p:nvSpPr>
          <p:spPr bwMode="auto">
            <a:xfrm flipH="1">
              <a:off x="6613239" y="4007365"/>
              <a:ext cx="604653" cy="3347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ounded Rectangle 4"/>
            <p:cNvSpPr/>
            <p:nvPr/>
          </p:nvSpPr>
          <p:spPr>
            <a:xfrm>
              <a:off x="6986804" y="3372279"/>
              <a:ext cx="629966" cy="6505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/>
            </a:p>
          </p:txBody>
        </p:sp>
        <p:sp>
          <p:nvSpPr>
            <p:cNvPr id="50" name="Line 6"/>
            <p:cNvSpPr>
              <a:spLocks noChangeShapeType="1"/>
            </p:cNvSpPr>
            <p:nvPr/>
          </p:nvSpPr>
          <p:spPr bwMode="auto">
            <a:xfrm flipH="1">
              <a:off x="6859715" y="4014368"/>
              <a:ext cx="615831" cy="3277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51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706" y="3434922"/>
            <a:ext cx="308317" cy="901015"/>
          </a:xfrm>
          <a:prstGeom prst="rect">
            <a:avLst/>
          </a:prstGeom>
        </p:spPr>
      </p:pic>
      <p:pic>
        <p:nvPicPr>
          <p:cNvPr id="52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281" y="3415872"/>
            <a:ext cx="308317" cy="901015"/>
          </a:xfrm>
          <a:prstGeom prst="rect">
            <a:avLst/>
          </a:prstGeom>
        </p:spPr>
      </p:pic>
      <p:sp>
        <p:nvSpPr>
          <p:cNvPr id="53" name="Rectangle 17"/>
          <p:cNvSpPr>
            <a:spLocks noChangeArrowheads="1"/>
          </p:cNvSpPr>
          <p:nvPr/>
        </p:nvSpPr>
        <p:spPr bwMode="auto">
          <a:xfrm>
            <a:off x="5262585" y="6319109"/>
            <a:ext cx="16081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 dirty="0" smtClean="0">
                <a:latin typeface="Helvetica" pitchFamily="34" charset="0"/>
              </a:rPr>
              <a:t>Accept/Reject</a:t>
            </a:r>
            <a:endParaRPr lang="en-US" i="0" dirty="0">
              <a:latin typeface="Helvetica" pitchFamily="34" charset="0"/>
            </a:endParaRPr>
          </a:p>
        </p:txBody>
      </p:sp>
      <p:grpSp>
        <p:nvGrpSpPr>
          <p:cNvPr id="54" name="Group 15"/>
          <p:cNvGrpSpPr/>
          <p:nvPr/>
        </p:nvGrpSpPr>
        <p:grpSpPr>
          <a:xfrm>
            <a:off x="8051712" y="3654585"/>
            <a:ext cx="843315" cy="941059"/>
            <a:chOff x="6131542" y="4051300"/>
            <a:chExt cx="843315" cy="941059"/>
          </a:xfrm>
        </p:grpSpPr>
        <p:pic>
          <p:nvPicPr>
            <p:cNvPr id="55" name="Picture 2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131542" y="4100694"/>
              <a:ext cx="843315" cy="89166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56" name="Freeform 29"/>
            <p:cNvSpPr>
              <a:spLocks/>
            </p:cNvSpPr>
            <p:nvPr/>
          </p:nvSpPr>
          <p:spPr bwMode="auto">
            <a:xfrm>
              <a:off x="6676377" y="4051300"/>
              <a:ext cx="86590" cy="191071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96" y="26"/>
                </a:cxn>
                <a:cxn ang="0">
                  <a:pos x="105" y="0"/>
                </a:cxn>
                <a:cxn ang="0">
                  <a:pos x="105" y="52"/>
                </a:cxn>
                <a:cxn ang="0">
                  <a:pos x="43" y="174"/>
                </a:cxn>
                <a:cxn ang="0">
                  <a:pos x="0" y="192"/>
                </a:cxn>
              </a:cxnLst>
              <a:rect l="0" t="0" r="r" b="b"/>
              <a:pathLst>
                <a:path w="126" h="192">
                  <a:moveTo>
                    <a:pt x="0" y="113"/>
                  </a:moveTo>
                  <a:cubicBezTo>
                    <a:pt x="60" y="92"/>
                    <a:pt x="53" y="66"/>
                    <a:pt x="96" y="26"/>
                  </a:cubicBezTo>
                  <a:cubicBezTo>
                    <a:pt x="99" y="17"/>
                    <a:pt x="96" y="0"/>
                    <a:pt x="105" y="0"/>
                  </a:cubicBezTo>
                  <a:cubicBezTo>
                    <a:pt x="126" y="0"/>
                    <a:pt x="105" y="52"/>
                    <a:pt x="105" y="52"/>
                  </a:cubicBezTo>
                  <a:cubicBezTo>
                    <a:pt x="93" y="97"/>
                    <a:pt x="87" y="148"/>
                    <a:pt x="43" y="174"/>
                  </a:cubicBezTo>
                  <a:cubicBezTo>
                    <a:pt x="30" y="182"/>
                    <a:pt x="14" y="185"/>
                    <a:pt x="0" y="192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7" name="Freeform 30"/>
            <p:cNvSpPr>
              <a:spLocks/>
            </p:cNvSpPr>
            <p:nvPr/>
          </p:nvSpPr>
          <p:spPr bwMode="auto">
            <a:xfrm>
              <a:off x="6365227" y="4080791"/>
              <a:ext cx="90355" cy="147284"/>
            </a:xfrm>
            <a:custGeom>
              <a:avLst/>
              <a:gdLst/>
              <a:ahLst/>
              <a:cxnLst>
                <a:cxn ang="0">
                  <a:pos x="131" y="61"/>
                </a:cxn>
                <a:cxn ang="0">
                  <a:pos x="61" y="44"/>
                </a:cxn>
                <a:cxn ang="0">
                  <a:pos x="0" y="0"/>
                </a:cxn>
                <a:cxn ang="0">
                  <a:pos x="131" y="149"/>
                </a:cxn>
              </a:cxnLst>
              <a:rect l="0" t="0" r="r" b="b"/>
              <a:pathLst>
                <a:path w="131" h="149">
                  <a:moveTo>
                    <a:pt x="131" y="61"/>
                  </a:moveTo>
                  <a:cubicBezTo>
                    <a:pt x="119" y="59"/>
                    <a:pt x="76" y="53"/>
                    <a:pt x="61" y="44"/>
                  </a:cubicBezTo>
                  <a:cubicBezTo>
                    <a:pt x="35" y="28"/>
                    <a:pt x="31" y="11"/>
                    <a:pt x="0" y="0"/>
                  </a:cubicBezTo>
                  <a:cubicBezTo>
                    <a:pt x="24" y="69"/>
                    <a:pt x="36" y="149"/>
                    <a:pt x="131" y="149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58" name="Rectangle 17"/>
          <p:cNvSpPr>
            <a:spLocks noChangeArrowheads="1"/>
          </p:cNvSpPr>
          <p:nvPr/>
        </p:nvSpPr>
        <p:spPr bwMode="auto">
          <a:xfrm>
            <a:off x="8140765" y="3294486"/>
            <a:ext cx="5822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 dirty="0" smtClean="0">
                <a:latin typeface="Helvetica" pitchFamily="34" charset="0"/>
              </a:rPr>
              <a:t>Eve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59" name="矩形 43"/>
          <p:cNvSpPr/>
          <p:nvPr/>
        </p:nvSpPr>
        <p:spPr>
          <a:xfrm>
            <a:off x="1687434" y="3665198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60" name="矩形 45"/>
          <p:cNvSpPr/>
          <p:nvPr/>
        </p:nvSpPr>
        <p:spPr>
          <a:xfrm>
            <a:off x="3525759" y="3674723"/>
            <a:ext cx="521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D</a:t>
            </a:r>
            <a:r>
              <a:rPr lang="en-US" altLang="zh-TW" sz="2400" baseline="-25000" dirty="0" smtClean="0">
                <a:solidFill>
                  <a:srgbClr val="3333CC"/>
                </a:solidFill>
                <a:latin typeface="Helvetica" pitchFamily="34" charset="0"/>
              </a:rPr>
              <a:t>1</a:t>
            </a:r>
            <a:endParaRPr lang="zh-TW" altLang="en-US" sz="2400" baseline="-25000" dirty="0">
              <a:solidFill>
                <a:srgbClr val="3333CC"/>
              </a:solidFill>
            </a:endParaRPr>
          </a:p>
        </p:txBody>
      </p:sp>
      <p:sp>
        <p:nvSpPr>
          <p:cNvPr id="61" name="矩形 50"/>
          <p:cNvSpPr/>
          <p:nvPr/>
        </p:nvSpPr>
        <p:spPr>
          <a:xfrm>
            <a:off x="4602084" y="3655673"/>
            <a:ext cx="521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D</a:t>
            </a:r>
            <a:r>
              <a:rPr lang="en-US" altLang="zh-TW" sz="2400" baseline="-25000" dirty="0" smtClean="0">
                <a:solidFill>
                  <a:srgbClr val="3333CC"/>
                </a:solidFill>
                <a:latin typeface="Helvetica" pitchFamily="34" charset="0"/>
              </a:rPr>
              <a:t>2</a:t>
            </a:r>
            <a:endParaRPr lang="zh-TW" altLang="en-US" sz="2400" baseline="-25000" dirty="0">
              <a:solidFill>
                <a:srgbClr val="3333CC"/>
              </a:solidFill>
            </a:endParaRPr>
          </a:p>
        </p:txBody>
      </p:sp>
      <p:sp>
        <p:nvSpPr>
          <p:cNvPr id="62" name="矩形 51"/>
          <p:cNvSpPr/>
          <p:nvPr/>
        </p:nvSpPr>
        <p:spPr>
          <a:xfrm>
            <a:off x="6583284" y="3636623"/>
            <a:ext cx="4651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D</a:t>
            </a:r>
            <a:r>
              <a:rPr lang="en-US" altLang="zh-TW" sz="2400" baseline="-25000" dirty="0" smtClean="0">
                <a:solidFill>
                  <a:srgbClr val="3333CC"/>
                </a:solidFill>
                <a:latin typeface="Helvetica" pitchFamily="34" charset="0"/>
              </a:rPr>
              <a:t>t</a:t>
            </a:r>
            <a:endParaRPr lang="zh-TW" altLang="en-US" sz="2400" baseline="-25000" dirty="0">
              <a:solidFill>
                <a:srgbClr val="3333CC"/>
              </a:solidFill>
            </a:endParaRPr>
          </a:p>
        </p:txBody>
      </p:sp>
      <p:sp>
        <p:nvSpPr>
          <p:cNvPr id="63" name="矩形 52"/>
          <p:cNvSpPr/>
          <p:nvPr/>
        </p:nvSpPr>
        <p:spPr>
          <a:xfrm>
            <a:off x="8221584" y="4722473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E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64" name="矩形 53"/>
          <p:cNvSpPr/>
          <p:nvPr/>
        </p:nvSpPr>
        <p:spPr>
          <a:xfrm>
            <a:off x="3782934" y="6303623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Z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94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5" grpId="0"/>
      <p:bldP spid="53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9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What If We Are Paranoid </a:t>
            </a:r>
            <a:r>
              <a:rPr lang="en-US" altLang="zh-TW" dirty="0" smtClean="0"/>
              <a:t>about </a:t>
            </a:r>
            <a:r>
              <a:rPr lang="en-US" altLang="zh-TW" i="1" dirty="0">
                <a:solidFill>
                  <a:srgbClr val="FF0000"/>
                </a:solidFill>
              </a:rPr>
              <a:t>Independence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Assumption?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5001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Cannot be verified &amp; don’t know how to guarantee</a:t>
            </a:r>
          </a:p>
          <a:p>
            <a:r>
              <a:rPr lang="en-US" altLang="zh-TW" sz="2800" dirty="0" smtClean="0"/>
              <a:t>“Device-independent Extractors”</a:t>
            </a:r>
            <a:endParaRPr lang="en-US" altLang="zh-TW" sz="2800" dirty="0" smtClean="0"/>
          </a:p>
          <a:p>
            <a:pPr lvl="1"/>
            <a:r>
              <a:rPr lang="en-US" altLang="zh-TW" sz="2400" dirty="0" smtClean="0"/>
              <a:t>Extract randomness from quantum power without </a:t>
            </a:r>
            <a:r>
              <a:rPr lang="en-US" altLang="zh-TW" sz="2400" dirty="0" smtClean="0"/>
              <a:t>trust</a:t>
            </a:r>
          </a:p>
          <a:p>
            <a:pPr lvl="1"/>
            <a:r>
              <a:rPr lang="en-US" altLang="zh-TW" sz="2400" dirty="0" smtClean="0"/>
              <a:t>Randomness expansion: seeded setting</a:t>
            </a:r>
          </a:p>
          <a:p>
            <a:pPr lvl="2"/>
            <a:r>
              <a:rPr lang="en-US" altLang="zh-TW" sz="2000" dirty="0" smtClean="0"/>
              <a:t>still require uniform seed and independence</a:t>
            </a:r>
            <a:endParaRPr lang="en-US" altLang="zh-TW" sz="2000" dirty="0" smtClean="0"/>
          </a:p>
          <a:p>
            <a:pPr lvl="1"/>
            <a:r>
              <a:rPr lang="en-US" altLang="zh-TW" sz="2400" dirty="0" smtClean="0"/>
              <a:t>Randomness amplification: </a:t>
            </a:r>
            <a:r>
              <a:rPr lang="en-US" altLang="zh-TW" sz="2400" dirty="0" err="1" smtClean="0"/>
              <a:t>Santha-Vazirani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(SV) source</a:t>
            </a:r>
          </a:p>
          <a:p>
            <a:pPr lvl="2"/>
            <a:r>
              <a:rPr lang="en-US" altLang="zh-TW" sz="2000" dirty="0" smtClean="0"/>
              <a:t>Structured source with high min-entropy</a:t>
            </a:r>
          </a:p>
          <a:p>
            <a:pPr lvl="1"/>
            <a:endParaRPr lang="en-US" altLang="zh-TW" sz="1200" dirty="0" smtClean="0"/>
          </a:p>
          <a:p>
            <a:r>
              <a:rPr lang="en-US" altLang="zh-TW" sz="2800" dirty="0" smtClean="0"/>
              <a:t>Does randomness extraction remain feasible without any </a:t>
            </a:r>
            <a:r>
              <a:rPr lang="en-US" altLang="zh-TW" sz="2800" i="1" dirty="0" smtClean="0">
                <a:solidFill>
                  <a:srgbClr val="FF0000"/>
                </a:solidFill>
              </a:rPr>
              <a:t>independence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/>
              <a:t>or </a:t>
            </a:r>
            <a:r>
              <a:rPr lang="en-US" altLang="zh-TW" sz="2800" i="1" dirty="0" smtClean="0">
                <a:solidFill>
                  <a:srgbClr val="FF0000"/>
                </a:solidFill>
              </a:rPr>
              <a:t>structural</a:t>
            </a:r>
            <a:r>
              <a:rPr lang="en-US" altLang="zh-TW" sz="2800" dirty="0" smtClean="0">
                <a:solidFill>
                  <a:srgbClr val="FF0000"/>
                </a:solidFill>
              </a:rPr>
              <a:t> </a:t>
            </a:r>
            <a:r>
              <a:rPr lang="en-US" altLang="zh-TW" sz="2800" dirty="0" smtClean="0"/>
              <a:t>assumptions?</a:t>
            </a:r>
            <a:endParaRPr lang="zh-TW" alt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70562" y="6331353"/>
            <a:ext cx="2098876" cy="415120"/>
          </a:xfrm>
        </p:spPr>
        <p:txBody>
          <a:bodyPr/>
          <a:lstStyle/>
          <a:p>
            <a:fld id="{0999DF58-EC3F-46D8-AF26-3D8213D2285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8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7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Physical Randomness Extractor </a:t>
            </a:r>
            <a:r>
              <a:rPr lang="en-US" altLang="zh-TW" dirty="0"/>
              <a:t>(PRE)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749" y="905708"/>
            <a:ext cx="8594204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DI extraction for </a:t>
            </a:r>
            <a:r>
              <a:rPr lang="en-US" altLang="zh-TW" sz="2800" i="1" dirty="0" smtClean="0"/>
              <a:t>general</a:t>
            </a:r>
            <a:r>
              <a:rPr lang="en-US" altLang="zh-TW" sz="2800" dirty="0" smtClean="0"/>
              <a:t> weak source</a:t>
            </a:r>
          </a:p>
          <a:p>
            <a:r>
              <a:rPr lang="en-US" altLang="zh-TW" sz="2800" dirty="0" smtClean="0"/>
              <a:t>We construct </a:t>
            </a:r>
            <a:r>
              <a:rPr lang="en-US" altLang="zh-TW" sz="2800" i="1" dirty="0" smtClean="0"/>
              <a:t>quantum-secure</a:t>
            </a:r>
            <a:r>
              <a:rPr lang="en-US" altLang="zh-TW" sz="2800" dirty="0" smtClean="0"/>
              <a:t> PRE </a:t>
            </a:r>
            <a:r>
              <a:rPr lang="en-US" altLang="zh-TW" sz="2400" dirty="0" smtClean="0">
                <a:solidFill>
                  <a:srgbClr val="0070C0"/>
                </a:solidFill>
              </a:rPr>
              <a:t>[</a:t>
            </a:r>
            <a:r>
              <a:rPr lang="en-US" altLang="zh-TW" sz="2400" dirty="0" smtClean="0">
                <a:solidFill>
                  <a:srgbClr val="FF0000"/>
                </a:solidFill>
              </a:rPr>
              <a:t>C</a:t>
            </a:r>
            <a:r>
              <a:rPr lang="en-US" altLang="zh-TW" sz="2400" dirty="0" smtClean="0">
                <a:solidFill>
                  <a:srgbClr val="0070C0"/>
                </a:solidFill>
              </a:rPr>
              <a:t>SW14]</a:t>
            </a:r>
            <a:endParaRPr lang="en-US" altLang="zh-TW" sz="2800" dirty="0" smtClean="0">
              <a:solidFill>
                <a:srgbClr val="0070C0"/>
              </a:solidFill>
            </a:endParaRPr>
          </a:p>
          <a:p>
            <a:pPr lvl="1"/>
            <a:r>
              <a:rPr lang="en-US" altLang="zh-TW" sz="2400" dirty="0" smtClean="0"/>
              <a:t>Only require </a:t>
            </a:r>
            <a:r>
              <a:rPr lang="en-US" altLang="zh-TW" sz="2400" dirty="0" smtClean="0">
                <a:solidFill>
                  <a:srgbClr val="3333CC"/>
                </a:solidFill>
              </a:rPr>
              <a:t>O(1)</a:t>
            </a:r>
            <a:r>
              <a:rPr lang="en-US" altLang="zh-TW" sz="2400" dirty="0" smtClean="0"/>
              <a:t> bits min-entropy; minimal assumptions! </a:t>
            </a:r>
          </a:p>
          <a:p>
            <a:r>
              <a:rPr lang="en-US" altLang="zh-TW" sz="2800" i="1" dirty="0" smtClean="0"/>
              <a:t>No-signaling</a:t>
            </a:r>
            <a:r>
              <a:rPr lang="en-US" altLang="zh-TW" sz="2800" dirty="0" smtClean="0"/>
              <a:t>-secure PRE </a:t>
            </a:r>
            <a:r>
              <a:rPr lang="en-US" altLang="zh-TW" sz="2400" dirty="0" smtClean="0"/>
              <a:t>(ongoing work) </a:t>
            </a:r>
            <a:r>
              <a:rPr lang="en-US" altLang="zh-TW" sz="2400" dirty="0" smtClean="0">
                <a:solidFill>
                  <a:srgbClr val="0070C0"/>
                </a:solidFill>
              </a:rPr>
              <a:t>[</a:t>
            </a:r>
            <a:r>
              <a:rPr lang="en-US" altLang="zh-TW" sz="2400" dirty="0" smtClean="0">
                <a:solidFill>
                  <a:srgbClr val="FF0000"/>
                </a:solidFill>
              </a:rPr>
              <a:t>C</a:t>
            </a:r>
            <a:r>
              <a:rPr lang="en-US" altLang="zh-TW" sz="2400" dirty="0" smtClean="0">
                <a:solidFill>
                  <a:srgbClr val="0070C0"/>
                </a:solidFill>
              </a:rPr>
              <a:t>SW15]</a:t>
            </a:r>
            <a:endParaRPr lang="en-US" altLang="zh-TW" sz="2800" dirty="0" smtClean="0">
              <a:solidFill>
                <a:srgbClr val="0070C0"/>
              </a:solidFill>
            </a:endParaRPr>
          </a:p>
          <a:p>
            <a:pPr lvl="1"/>
            <a:r>
              <a:rPr lang="en-US" altLang="zh-TW" sz="2400" dirty="0" smtClean="0"/>
              <a:t>Physics interpretation </a:t>
            </a:r>
            <a:r>
              <a:rPr lang="en-US" altLang="zh-TW" sz="2000" dirty="0" smtClean="0">
                <a:solidFill>
                  <a:srgbClr val="0070C0"/>
                </a:solidFill>
              </a:rPr>
              <a:t>[GMD+13]</a:t>
            </a:r>
            <a:r>
              <a:rPr lang="en-US" altLang="zh-TW" sz="2400" dirty="0" smtClean="0"/>
              <a:t>: stronger dichotomy theorem</a:t>
            </a:r>
            <a:endParaRPr lang="zh-TW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/>
              <p:cNvSpPr>
                <a:spLocks noChangeArrowheads="1"/>
              </p:cNvSpPr>
              <p:nvPr/>
            </p:nvSpPr>
            <p:spPr bwMode="auto">
              <a:xfrm>
                <a:off x="2073245" y="4582985"/>
                <a:ext cx="3859794" cy="134104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/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4000">
                          <a:solidFill>
                            <a:schemeClr val="tx2"/>
                          </a:solidFill>
                          <a:latin typeface="Cambria Math"/>
                        </a:rPr>
                        <m:t>Ext</m:t>
                      </m:r>
                    </m:oMath>
                  </m:oMathPara>
                </a14:m>
                <a:endParaRPr lang="en-US" sz="4000" i="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3245" y="4582985"/>
                <a:ext cx="3859794" cy="134104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17"/>
          <p:cNvGrpSpPr/>
          <p:nvPr/>
        </p:nvGrpSpPr>
        <p:grpSpPr>
          <a:xfrm>
            <a:off x="2686066" y="5928504"/>
            <a:ext cx="2528347" cy="779502"/>
            <a:chOff x="2740770" y="5181600"/>
            <a:chExt cx="2528347" cy="779502"/>
          </a:xfrm>
        </p:grpSpPr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2740770" y="5591770"/>
              <a:ext cx="2528347" cy="369332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wrap="squar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endParaRPr lang="en-US" sz="1800" i="0" dirty="0">
                <a:solidFill>
                  <a:srgbClr val="FFC000"/>
                </a:solidFill>
                <a:sym typeface="Symbol" pitchFamily="18" charset="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V="1">
              <a:off x="4037845" y="5181600"/>
              <a:ext cx="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692091" y="3387297"/>
            <a:ext cx="2313676" cy="1195688"/>
            <a:chOff x="2213070" y="3717958"/>
            <a:chExt cx="2313676" cy="1195688"/>
          </a:xfrm>
        </p:grpSpPr>
        <p:grpSp>
          <p:nvGrpSpPr>
            <p:cNvPr id="31" name="Group 11"/>
            <p:cNvGrpSpPr/>
            <p:nvPr/>
          </p:nvGrpSpPr>
          <p:grpSpPr>
            <a:xfrm>
              <a:off x="2311665" y="4027566"/>
              <a:ext cx="2215081" cy="886080"/>
              <a:chOff x="2438400" y="3442732"/>
              <a:chExt cx="2215081" cy="886080"/>
            </a:xfrm>
          </p:grpSpPr>
          <p:sp>
            <p:nvSpPr>
              <p:cNvPr id="33" name="Text Box 26"/>
              <p:cNvSpPr txBox="1">
                <a:spLocks noChangeArrowheads="1"/>
              </p:cNvSpPr>
              <p:nvPr/>
            </p:nvSpPr>
            <p:spPr bwMode="auto">
              <a:xfrm>
                <a:off x="2438400" y="3442732"/>
                <a:ext cx="2215081" cy="371733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34" name="Line 28"/>
              <p:cNvSpPr>
                <a:spLocks noChangeShapeType="1"/>
              </p:cNvSpPr>
              <p:nvPr/>
            </p:nvSpPr>
            <p:spPr bwMode="auto">
              <a:xfrm flipH="1" flipV="1">
                <a:off x="3585170" y="3843338"/>
                <a:ext cx="425513" cy="48547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2213070" y="3717958"/>
              <a:ext cx="87716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source</a:t>
              </a:r>
              <a:endParaRPr lang="en-US" i="0" dirty="0">
                <a:latin typeface="Helvetica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Rectangle 17"/>
              <p:cNvSpPr>
                <a:spLocks noChangeArrowheads="1"/>
              </p:cNvSpPr>
              <p:nvPr/>
            </p:nvSpPr>
            <p:spPr bwMode="auto">
              <a:xfrm>
                <a:off x="2102521" y="6036644"/>
                <a:ext cx="182934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i="0" dirty="0" smtClean="0">
                    <a:latin typeface="Helvetica" pitchFamily="34" charset="0"/>
                  </a:rPr>
                  <a:t>uniform output</a:t>
                </a:r>
                <a:endParaRPr lang="en-US" i="0" dirty="0">
                  <a:latin typeface="Helvetica" pitchFamily="34" charset="0"/>
                </a:endParaRPr>
              </a:p>
            </p:txBody>
          </p:sp>
        </mc:Choice>
        <mc:Fallback>
          <p:sp>
            <p:nvSpPr>
              <p:cNvPr id="35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2521" y="6036644"/>
                <a:ext cx="1829347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8197" r="-2333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4"/>
          <p:cNvGrpSpPr/>
          <p:nvPr/>
        </p:nvGrpSpPr>
        <p:grpSpPr>
          <a:xfrm>
            <a:off x="3354891" y="3270538"/>
            <a:ext cx="851515" cy="1322078"/>
            <a:chOff x="3831141" y="3085343"/>
            <a:chExt cx="851515" cy="1322078"/>
          </a:xfrm>
        </p:grpSpPr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3831141" y="3085343"/>
              <a:ext cx="8515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device</a:t>
              </a:r>
              <a:endParaRPr lang="en-US" i="0" dirty="0">
                <a:latin typeface="Helvetica" pitchFamily="34" charset="0"/>
              </a:endParaRPr>
            </a:p>
          </p:txBody>
        </p:sp>
        <p:sp>
          <p:nvSpPr>
            <p:cNvPr id="38" name="Line 6"/>
            <p:cNvSpPr>
              <a:spLocks noChangeShapeType="1"/>
            </p:cNvSpPr>
            <p:nvPr/>
          </p:nvSpPr>
          <p:spPr bwMode="auto">
            <a:xfrm flipH="1">
              <a:off x="4150843" y="4007365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Rounded Rectangle 4"/>
            <p:cNvSpPr/>
            <p:nvPr/>
          </p:nvSpPr>
          <p:spPr>
            <a:xfrm>
              <a:off x="3919754" y="3372279"/>
              <a:ext cx="629966" cy="6505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/>
            </a:p>
          </p:txBody>
        </p:sp>
        <p:sp>
          <p:nvSpPr>
            <p:cNvPr id="40" name="Line 6"/>
            <p:cNvSpPr>
              <a:spLocks noChangeShapeType="1"/>
            </p:cNvSpPr>
            <p:nvPr/>
          </p:nvSpPr>
          <p:spPr bwMode="auto">
            <a:xfrm flipH="1">
              <a:off x="4303243" y="4005864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" name="群組 5"/>
          <p:cNvGrpSpPr/>
          <p:nvPr/>
        </p:nvGrpSpPr>
        <p:grpSpPr>
          <a:xfrm>
            <a:off x="4440741" y="3270538"/>
            <a:ext cx="851515" cy="1322078"/>
            <a:chOff x="4916991" y="3085343"/>
            <a:chExt cx="851515" cy="1322078"/>
          </a:xfrm>
        </p:grpSpPr>
        <p:sp>
          <p:nvSpPr>
            <p:cNvPr id="42" name="Rectangle 17"/>
            <p:cNvSpPr>
              <a:spLocks noChangeArrowheads="1"/>
            </p:cNvSpPr>
            <p:nvPr/>
          </p:nvSpPr>
          <p:spPr bwMode="auto">
            <a:xfrm>
              <a:off x="4916991" y="3085343"/>
              <a:ext cx="8515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device</a:t>
              </a:r>
              <a:endParaRPr lang="en-US" i="0" dirty="0">
                <a:latin typeface="Helvetica" pitchFamily="34" charset="0"/>
              </a:endParaRPr>
            </a:p>
          </p:txBody>
        </p:sp>
        <p:sp>
          <p:nvSpPr>
            <p:cNvPr id="43" name="Line 6"/>
            <p:cNvSpPr>
              <a:spLocks noChangeShapeType="1"/>
            </p:cNvSpPr>
            <p:nvPr/>
          </p:nvSpPr>
          <p:spPr bwMode="auto">
            <a:xfrm flipH="1">
              <a:off x="5236693" y="4007365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ounded Rectangle 4"/>
            <p:cNvSpPr/>
            <p:nvPr/>
          </p:nvSpPr>
          <p:spPr>
            <a:xfrm>
              <a:off x="5005604" y="3372279"/>
              <a:ext cx="629966" cy="6505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/>
            </a:p>
          </p:txBody>
        </p:sp>
        <p:sp>
          <p:nvSpPr>
            <p:cNvPr id="45" name="Line 6"/>
            <p:cNvSpPr>
              <a:spLocks noChangeShapeType="1"/>
            </p:cNvSpPr>
            <p:nvPr/>
          </p:nvSpPr>
          <p:spPr bwMode="auto">
            <a:xfrm flipH="1">
              <a:off x="5389093" y="4005864"/>
              <a:ext cx="0" cy="400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" name="群組 6"/>
          <p:cNvGrpSpPr/>
          <p:nvPr/>
        </p:nvGrpSpPr>
        <p:grpSpPr>
          <a:xfrm>
            <a:off x="6136989" y="3270538"/>
            <a:ext cx="1136467" cy="1256760"/>
            <a:chOff x="6613239" y="3085343"/>
            <a:chExt cx="1136467" cy="1256760"/>
          </a:xfrm>
        </p:grpSpPr>
        <p:sp>
          <p:nvSpPr>
            <p:cNvPr id="47" name="Rectangle 17"/>
            <p:cNvSpPr>
              <a:spLocks noChangeArrowheads="1"/>
            </p:cNvSpPr>
            <p:nvPr/>
          </p:nvSpPr>
          <p:spPr bwMode="auto">
            <a:xfrm>
              <a:off x="6898191" y="3085343"/>
              <a:ext cx="85151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 smtClean="0">
                  <a:latin typeface="Helvetica" pitchFamily="34" charset="0"/>
                </a:rPr>
                <a:t>device</a:t>
              </a:r>
              <a:endParaRPr lang="en-US" i="0" dirty="0">
                <a:latin typeface="Helvetica" pitchFamily="34" charset="0"/>
              </a:endParaRPr>
            </a:p>
          </p:txBody>
        </p:sp>
        <p:sp>
          <p:nvSpPr>
            <p:cNvPr id="48" name="Line 6"/>
            <p:cNvSpPr>
              <a:spLocks noChangeShapeType="1"/>
            </p:cNvSpPr>
            <p:nvPr/>
          </p:nvSpPr>
          <p:spPr bwMode="auto">
            <a:xfrm flipH="1">
              <a:off x="6613239" y="4007365"/>
              <a:ext cx="604653" cy="3347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Rounded Rectangle 4"/>
            <p:cNvSpPr/>
            <p:nvPr/>
          </p:nvSpPr>
          <p:spPr>
            <a:xfrm>
              <a:off x="6986804" y="3372279"/>
              <a:ext cx="629966" cy="65059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/>
            </a:p>
          </p:txBody>
        </p:sp>
        <p:sp>
          <p:nvSpPr>
            <p:cNvPr id="50" name="Line 6"/>
            <p:cNvSpPr>
              <a:spLocks noChangeShapeType="1"/>
            </p:cNvSpPr>
            <p:nvPr/>
          </p:nvSpPr>
          <p:spPr bwMode="auto">
            <a:xfrm flipH="1">
              <a:off x="6859715" y="4014368"/>
              <a:ext cx="615831" cy="3277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51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706" y="3434922"/>
            <a:ext cx="308317" cy="901015"/>
          </a:xfrm>
          <a:prstGeom prst="rect">
            <a:avLst/>
          </a:prstGeom>
        </p:spPr>
      </p:pic>
      <p:pic>
        <p:nvPicPr>
          <p:cNvPr id="52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281" y="3415872"/>
            <a:ext cx="308317" cy="901015"/>
          </a:xfrm>
          <a:prstGeom prst="rect">
            <a:avLst/>
          </a:prstGeom>
        </p:spPr>
      </p:pic>
      <p:sp>
        <p:nvSpPr>
          <p:cNvPr id="53" name="Rectangle 17"/>
          <p:cNvSpPr>
            <a:spLocks noChangeArrowheads="1"/>
          </p:cNvSpPr>
          <p:nvPr/>
        </p:nvSpPr>
        <p:spPr bwMode="auto">
          <a:xfrm>
            <a:off x="5262585" y="6319109"/>
            <a:ext cx="16081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 dirty="0" smtClean="0">
                <a:latin typeface="Helvetica" pitchFamily="34" charset="0"/>
              </a:rPr>
              <a:t>Accept/Reject</a:t>
            </a:r>
            <a:endParaRPr lang="en-US" i="0" dirty="0">
              <a:latin typeface="Helvetica" pitchFamily="34" charset="0"/>
            </a:endParaRPr>
          </a:p>
        </p:txBody>
      </p:sp>
      <p:grpSp>
        <p:nvGrpSpPr>
          <p:cNvPr id="54" name="Group 15"/>
          <p:cNvGrpSpPr/>
          <p:nvPr/>
        </p:nvGrpSpPr>
        <p:grpSpPr>
          <a:xfrm>
            <a:off x="8051712" y="3654585"/>
            <a:ext cx="843315" cy="941059"/>
            <a:chOff x="6131542" y="4051300"/>
            <a:chExt cx="843315" cy="941059"/>
          </a:xfrm>
        </p:grpSpPr>
        <p:pic>
          <p:nvPicPr>
            <p:cNvPr id="55" name="Picture 2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131542" y="4100694"/>
              <a:ext cx="843315" cy="89166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</p:pic>
        <p:sp>
          <p:nvSpPr>
            <p:cNvPr id="56" name="Freeform 29"/>
            <p:cNvSpPr>
              <a:spLocks/>
            </p:cNvSpPr>
            <p:nvPr/>
          </p:nvSpPr>
          <p:spPr bwMode="auto">
            <a:xfrm>
              <a:off x="6676377" y="4051300"/>
              <a:ext cx="86590" cy="191071"/>
            </a:xfrm>
            <a:custGeom>
              <a:avLst/>
              <a:gdLst/>
              <a:ahLst/>
              <a:cxnLst>
                <a:cxn ang="0">
                  <a:pos x="0" y="113"/>
                </a:cxn>
                <a:cxn ang="0">
                  <a:pos x="96" y="26"/>
                </a:cxn>
                <a:cxn ang="0">
                  <a:pos x="105" y="0"/>
                </a:cxn>
                <a:cxn ang="0">
                  <a:pos x="105" y="52"/>
                </a:cxn>
                <a:cxn ang="0">
                  <a:pos x="43" y="174"/>
                </a:cxn>
                <a:cxn ang="0">
                  <a:pos x="0" y="192"/>
                </a:cxn>
              </a:cxnLst>
              <a:rect l="0" t="0" r="r" b="b"/>
              <a:pathLst>
                <a:path w="126" h="192">
                  <a:moveTo>
                    <a:pt x="0" y="113"/>
                  </a:moveTo>
                  <a:cubicBezTo>
                    <a:pt x="60" y="92"/>
                    <a:pt x="53" y="66"/>
                    <a:pt x="96" y="26"/>
                  </a:cubicBezTo>
                  <a:cubicBezTo>
                    <a:pt x="99" y="17"/>
                    <a:pt x="96" y="0"/>
                    <a:pt x="105" y="0"/>
                  </a:cubicBezTo>
                  <a:cubicBezTo>
                    <a:pt x="126" y="0"/>
                    <a:pt x="105" y="52"/>
                    <a:pt x="105" y="52"/>
                  </a:cubicBezTo>
                  <a:cubicBezTo>
                    <a:pt x="93" y="97"/>
                    <a:pt x="87" y="148"/>
                    <a:pt x="43" y="174"/>
                  </a:cubicBezTo>
                  <a:cubicBezTo>
                    <a:pt x="30" y="182"/>
                    <a:pt x="14" y="185"/>
                    <a:pt x="0" y="192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7" name="Freeform 30"/>
            <p:cNvSpPr>
              <a:spLocks/>
            </p:cNvSpPr>
            <p:nvPr/>
          </p:nvSpPr>
          <p:spPr bwMode="auto">
            <a:xfrm>
              <a:off x="6365227" y="4080791"/>
              <a:ext cx="90355" cy="147284"/>
            </a:xfrm>
            <a:custGeom>
              <a:avLst/>
              <a:gdLst/>
              <a:ahLst/>
              <a:cxnLst>
                <a:cxn ang="0">
                  <a:pos x="131" y="61"/>
                </a:cxn>
                <a:cxn ang="0">
                  <a:pos x="61" y="44"/>
                </a:cxn>
                <a:cxn ang="0">
                  <a:pos x="0" y="0"/>
                </a:cxn>
                <a:cxn ang="0">
                  <a:pos x="131" y="149"/>
                </a:cxn>
              </a:cxnLst>
              <a:rect l="0" t="0" r="r" b="b"/>
              <a:pathLst>
                <a:path w="131" h="149">
                  <a:moveTo>
                    <a:pt x="131" y="61"/>
                  </a:moveTo>
                  <a:cubicBezTo>
                    <a:pt x="119" y="59"/>
                    <a:pt x="76" y="53"/>
                    <a:pt x="61" y="44"/>
                  </a:cubicBezTo>
                  <a:cubicBezTo>
                    <a:pt x="35" y="28"/>
                    <a:pt x="31" y="11"/>
                    <a:pt x="0" y="0"/>
                  </a:cubicBezTo>
                  <a:cubicBezTo>
                    <a:pt x="24" y="69"/>
                    <a:pt x="36" y="149"/>
                    <a:pt x="131" y="149"/>
                  </a:cubicBezTo>
                </a:path>
              </a:pathLst>
            </a:cu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</p:grpSp>
      <p:sp>
        <p:nvSpPr>
          <p:cNvPr id="58" name="Rectangle 17"/>
          <p:cNvSpPr>
            <a:spLocks noChangeArrowheads="1"/>
          </p:cNvSpPr>
          <p:nvPr/>
        </p:nvSpPr>
        <p:spPr bwMode="auto">
          <a:xfrm>
            <a:off x="8140765" y="3294486"/>
            <a:ext cx="5822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 dirty="0" smtClean="0">
                <a:latin typeface="Helvetica" pitchFamily="34" charset="0"/>
              </a:rPr>
              <a:t>Eve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59" name="矩形 43"/>
          <p:cNvSpPr/>
          <p:nvPr/>
        </p:nvSpPr>
        <p:spPr>
          <a:xfrm>
            <a:off x="1687434" y="3665198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60" name="矩形 45"/>
          <p:cNvSpPr/>
          <p:nvPr/>
        </p:nvSpPr>
        <p:spPr>
          <a:xfrm>
            <a:off x="3525759" y="3674723"/>
            <a:ext cx="521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D</a:t>
            </a:r>
            <a:r>
              <a:rPr lang="en-US" altLang="zh-TW" sz="2400" baseline="-25000" dirty="0" smtClean="0">
                <a:solidFill>
                  <a:srgbClr val="3333CC"/>
                </a:solidFill>
                <a:latin typeface="Helvetica" pitchFamily="34" charset="0"/>
              </a:rPr>
              <a:t>1</a:t>
            </a:r>
            <a:endParaRPr lang="zh-TW" altLang="en-US" sz="2400" baseline="-25000" dirty="0">
              <a:solidFill>
                <a:srgbClr val="3333CC"/>
              </a:solidFill>
            </a:endParaRPr>
          </a:p>
        </p:txBody>
      </p:sp>
      <p:sp>
        <p:nvSpPr>
          <p:cNvPr id="61" name="矩形 50"/>
          <p:cNvSpPr/>
          <p:nvPr/>
        </p:nvSpPr>
        <p:spPr>
          <a:xfrm>
            <a:off x="4602084" y="3655673"/>
            <a:ext cx="521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D</a:t>
            </a:r>
            <a:r>
              <a:rPr lang="en-US" altLang="zh-TW" sz="2400" baseline="-25000" dirty="0" smtClean="0">
                <a:solidFill>
                  <a:srgbClr val="3333CC"/>
                </a:solidFill>
                <a:latin typeface="Helvetica" pitchFamily="34" charset="0"/>
              </a:rPr>
              <a:t>2</a:t>
            </a:r>
            <a:endParaRPr lang="zh-TW" altLang="en-US" sz="2400" baseline="-25000" dirty="0">
              <a:solidFill>
                <a:srgbClr val="3333CC"/>
              </a:solidFill>
            </a:endParaRPr>
          </a:p>
        </p:txBody>
      </p:sp>
      <p:sp>
        <p:nvSpPr>
          <p:cNvPr id="62" name="矩形 51"/>
          <p:cNvSpPr/>
          <p:nvPr/>
        </p:nvSpPr>
        <p:spPr>
          <a:xfrm>
            <a:off x="6583284" y="3636623"/>
            <a:ext cx="4651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D</a:t>
            </a:r>
            <a:r>
              <a:rPr lang="en-US" altLang="zh-TW" sz="2400" baseline="-25000" dirty="0" smtClean="0">
                <a:solidFill>
                  <a:srgbClr val="3333CC"/>
                </a:solidFill>
                <a:latin typeface="Helvetica" pitchFamily="34" charset="0"/>
              </a:rPr>
              <a:t>t</a:t>
            </a:r>
            <a:endParaRPr lang="zh-TW" altLang="en-US" sz="2400" baseline="-25000" dirty="0">
              <a:solidFill>
                <a:srgbClr val="3333CC"/>
              </a:solidFill>
            </a:endParaRPr>
          </a:p>
        </p:txBody>
      </p:sp>
      <p:sp>
        <p:nvSpPr>
          <p:cNvPr id="63" name="矩形 52"/>
          <p:cNvSpPr/>
          <p:nvPr/>
        </p:nvSpPr>
        <p:spPr>
          <a:xfrm>
            <a:off x="8221584" y="4722473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E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64" name="矩形 53"/>
          <p:cNvSpPr/>
          <p:nvPr/>
        </p:nvSpPr>
        <p:spPr>
          <a:xfrm>
            <a:off x="3782934" y="6303623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  <a:latin typeface="Helvetica" pitchFamily="34" charset="0"/>
              </a:rPr>
              <a:t>Z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7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8132275" cy="1470025"/>
          </a:xfrm>
        </p:spPr>
        <p:txBody>
          <a:bodyPr/>
          <a:lstStyle/>
          <a:p>
            <a:r>
              <a:rPr lang="en-US" altLang="zh-TW" dirty="0" smtClean="0"/>
              <a:t>Our Explicit Construction of Quantum-proof Seeded Extractor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94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951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Block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Sampling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&amp;</a:t>
            </a:r>
            <a:r>
              <a:rPr lang="zh-CN" altLang="en-US" sz="3600" dirty="0" smtClean="0"/>
              <a:t> </a:t>
            </a:r>
            <a:r>
              <a:rPr lang="en-US" altLang="zh-CN" sz="3600" dirty="0"/>
              <a:t>E</a:t>
            </a:r>
            <a:r>
              <a:rPr lang="en-US" sz="3600" dirty="0" smtClean="0"/>
              <a:t>xtraction </a:t>
            </a:r>
            <a:r>
              <a:rPr lang="en-US" sz="2700" b="0" dirty="0" smtClean="0">
                <a:solidFill>
                  <a:srgbClr val="0070C0"/>
                </a:solidFill>
                <a:effectLst/>
              </a:rPr>
              <a:t>[</a:t>
            </a:r>
            <a:r>
              <a:rPr lang="en-US" sz="2700" b="0" dirty="0" smtClean="0">
                <a:solidFill>
                  <a:srgbClr val="0070C0"/>
                </a:solidFill>
                <a:effectLst/>
              </a:rPr>
              <a:t>NZ96,SZ99,Zuc97]</a:t>
            </a:r>
            <a:endParaRPr lang="en-US" sz="36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26"/>
              <p:cNvSpPr txBox="1">
                <a:spLocks noChangeArrowheads="1"/>
              </p:cNvSpPr>
              <p:nvPr/>
            </p:nvSpPr>
            <p:spPr bwMode="auto">
              <a:xfrm>
                <a:off x="623773" y="1364505"/>
                <a:ext cx="7788707" cy="461665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(</a:t>
                </a:r>
                <a:r>
                  <a:rPr lang="en-US" altLang="zh-CN" sz="2400" i="0" dirty="0" err="1" smtClean="0">
                    <a:solidFill>
                      <a:schemeClr val="tx2"/>
                    </a:solidFill>
                  </a:rPr>
                  <a:t>n,k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n)</a:t>
                </a:r>
                <a:r>
                  <a:rPr lang="zh-CN" altLang="en-US" sz="2400" i="0" dirty="0" smtClean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source</a:t>
                </a:r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773" y="1364505"/>
                <a:ext cx="7788707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6098" b="-23171"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19598" y="1948889"/>
            <a:ext cx="397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Block-</a:t>
            </a:r>
            <a:r>
              <a:rPr lang="en-US" sz="2400" b="1" dirty="0" smtClean="0">
                <a:solidFill>
                  <a:srgbClr val="C00000"/>
                </a:solidFill>
              </a:rPr>
              <a:t>Sampling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(one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by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one)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: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773" y="2568648"/>
            <a:ext cx="3693584" cy="339026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28090" y="2572520"/>
            <a:ext cx="1357008" cy="335154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01477" y="2572520"/>
            <a:ext cx="569091" cy="335154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7319" y="3964532"/>
            <a:ext cx="4028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Block-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E</a:t>
            </a:r>
            <a:r>
              <a:rPr lang="en-US" sz="2400" b="1" dirty="0" smtClean="0">
                <a:solidFill>
                  <a:srgbClr val="C00000"/>
                </a:solidFill>
              </a:rPr>
              <a:t>xtraction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(one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by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one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)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18835" y="5047144"/>
            <a:ext cx="251733" cy="3187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35348" y="1364526"/>
            <a:ext cx="846211" cy="461644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924874" y="1360594"/>
            <a:ext cx="747827" cy="47322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881413" y="1356861"/>
            <a:ext cx="747827" cy="475086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318154" y="1360949"/>
            <a:ext cx="747827" cy="473220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674078" y="1364504"/>
            <a:ext cx="687537" cy="469309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627886" y="1350272"/>
            <a:ext cx="724193" cy="489996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03151" y="1350272"/>
            <a:ext cx="372304" cy="489996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14129" y="4549846"/>
            <a:ext cx="3693584" cy="339026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318446" y="4553718"/>
            <a:ext cx="1357008" cy="335154"/>
          </a:xfrm>
          <a:prstGeom prst="rect">
            <a:avLst/>
          </a:prstGeom>
          <a:blipFill>
            <a:blip r:embed="rId7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691833" y="4553718"/>
            <a:ext cx="569091" cy="335154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6439349" y="5049069"/>
            <a:ext cx="189891" cy="31876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011838" y="5037500"/>
            <a:ext cx="670351" cy="32841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672702" y="5039427"/>
            <a:ext cx="1622460" cy="32841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053957" y="3096713"/>
            <a:ext cx="4478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Preserve entropy rate in blocks</a:t>
            </a:r>
            <a:endParaRPr lang="en-US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1055885" y="3480612"/>
            <a:ext cx="3046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Gain block structure</a:t>
            </a:r>
            <a:endParaRPr lang="en-US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1055887" y="5506175"/>
            <a:ext cx="5915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Seed = seed for the last </a:t>
            </a:r>
            <a:r>
              <a:rPr lang="en-US" altLang="zh-CN" sz="2400" i="1" dirty="0" smtClean="0"/>
              <a:t>short</a:t>
            </a:r>
            <a:r>
              <a:rPr lang="en-US" altLang="zh-CN" sz="2400" dirty="0" smtClean="0"/>
              <a:t> block (“free”)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1057815" y="5890074"/>
                <a:ext cx="74767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Block/seed size grows exponentially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rgbClr val="3333CC"/>
                    </a:solidFill>
                  </a:rPr>
                  <a:t>O(log n)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blocks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15" y="5890074"/>
                <a:ext cx="747672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1142" t="-10526" r="-1223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220581" y="6326053"/>
                <a:ext cx="52255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Seed length: O(log</a:t>
                </a:r>
                <a:r>
                  <a:rPr lang="en-US" altLang="zh-CN" sz="2400" b="1" baseline="30000" dirty="0" smtClean="0">
                    <a:solidFill>
                      <a:srgbClr val="C00000"/>
                    </a:solidFill>
                  </a:rPr>
                  <a:t>2</a:t>
                </a:r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n)   </a:t>
                </a:r>
                <a:r>
                  <a:rPr lang="en-US" altLang="zh-CN" sz="2400" b="1" dirty="0" smtClean="0">
                    <a:solidFill>
                      <a:schemeClr val="accent3"/>
                    </a:solidFill>
                  </a:rPr>
                  <a:t>for sampling!</a:t>
                </a:r>
                <a:endParaRPr lang="en-US" sz="24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81" y="6326053"/>
                <a:ext cx="5225598" cy="461665"/>
              </a:xfrm>
              <a:prstGeom prst="rect">
                <a:avLst/>
              </a:prstGeom>
              <a:blipFill rotWithShape="0">
                <a:blip r:embed="rId10"/>
                <a:stretch>
                  <a:fillRect t="-10667" r="-933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84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2" grpId="0"/>
      <p:bldP spid="31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3" grpId="0"/>
      <p:bldP spid="44" grpId="0"/>
      <p:bldP spid="45" grpId="0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951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Block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Sampling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&amp;</a:t>
            </a:r>
            <a:r>
              <a:rPr lang="zh-CN" altLang="en-US" sz="3600" dirty="0" smtClean="0"/>
              <a:t> </a:t>
            </a:r>
            <a:r>
              <a:rPr lang="en-US" altLang="zh-CN" sz="3600" dirty="0"/>
              <a:t>E</a:t>
            </a:r>
            <a:r>
              <a:rPr lang="en-US" sz="3600" dirty="0" smtClean="0"/>
              <a:t>xtraction </a:t>
            </a:r>
            <a:r>
              <a:rPr lang="en-US" sz="2700" b="0" dirty="0" smtClean="0">
                <a:solidFill>
                  <a:srgbClr val="0070C0"/>
                </a:solidFill>
                <a:effectLst/>
              </a:rPr>
              <a:t>[</a:t>
            </a:r>
            <a:r>
              <a:rPr lang="en-US" sz="2700" b="0" dirty="0" smtClean="0">
                <a:solidFill>
                  <a:srgbClr val="0070C0"/>
                </a:solidFill>
                <a:effectLst/>
              </a:rPr>
              <a:t>NZ96,SZ99,Zuc97]</a:t>
            </a:r>
            <a:endParaRPr lang="en-US" sz="36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26"/>
              <p:cNvSpPr txBox="1">
                <a:spLocks noChangeArrowheads="1"/>
              </p:cNvSpPr>
              <p:nvPr/>
            </p:nvSpPr>
            <p:spPr bwMode="auto">
              <a:xfrm>
                <a:off x="623773" y="1364505"/>
                <a:ext cx="7788707" cy="461665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(</a:t>
                </a:r>
                <a:r>
                  <a:rPr lang="en-US" altLang="zh-CN" sz="2400" i="0" dirty="0" err="1" smtClean="0">
                    <a:solidFill>
                      <a:schemeClr val="tx2"/>
                    </a:solidFill>
                  </a:rPr>
                  <a:t>n,k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n)</a:t>
                </a:r>
                <a:r>
                  <a:rPr lang="zh-CN" altLang="en-US" sz="2400" i="0" dirty="0" smtClean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source</a:t>
                </a:r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773" y="1364505"/>
                <a:ext cx="7788707" cy="461665"/>
              </a:xfrm>
              <a:prstGeom prst="rect">
                <a:avLst/>
              </a:prstGeom>
              <a:blipFill rotWithShape="0">
                <a:blip r:embed="rId4"/>
                <a:stretch>
                  <a:fillRect t="-6098" b="-23171"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19598" y="1948889"/>
            <a:ext cx="3977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Block-</a:t>
            </a:r>
            <a:r>
              <a:rPr lang="en-US" sz="2400" b="1" dirty="0" smtClean="0">
                <a:solidFill>
                  <a:srgbClr val="C00000"/>
                </a:solidFill>
              </a:rPr>
              <a:t>Sampling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(one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by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one)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: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773" y="2568648"/>
            <a:ext cx="3693584" cy="339026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35348" y="1364526"/>
            <a:ext cx="846211" cy="461644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924874" y="1360594"/>
            <a:ext cx="747827" cy="4732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881413" y="1356861"/>
            <a:ext cx="747827" cy="475086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318154" y="1360949"/>
            <a:ext cx="747827" cy="473220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220581" y="6326053"/>
                <a:ext cx="52255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Seed length: </a:t>
                </a:r>
                <a:r>
                  <a:rPr lang="en-US" altLang="zh-CN" sz="2400" b="1" dirty="0" smtClean="0">
                    <a:solidFill>
                      <a:srgbClr val="3333CC"/>
                    </a:solidFill>
                  </a:rPr>
                  <a:t>O(log</a:t>
                </a:r>
                <a:r>
                  <a:rPr lang="en-US" altLang="zh-CN" sz="2400" b="1" baseline="30000" dirty="0" smtClean="0">
                    <a:solidFill>
                      <a:srgbClr val="3333CC"/>
                    </a:solidFill>
                  </a:rPr>
                  <a:t>2</a:t>
                </a:r>
                <a:r>
                  <a:rPr lang="en-US" altLang="zh-CN" sz="2400" b="1" dirty="0" smtClean="0">
                    <a:solidFill>
                      <a:srgbClr val="3333CC"/>
                    </a:solidFill>
                  </a:rPr>
                  <a:t>n)</a:t>
                </a:r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  </a:t>
                </a:r>
                <a:r>
                  <a:rPr lang="en-US" altLang="zh-CN" sz="2400" b="1" dirty="0" smtClean="0">
                    <a:solidFill>
                      <a:schemeClr val="accent3"/>
                    </a:solidFill>
                  </a:rPr>
                  <a:t>for sampling!</a:t>
                </a:r>
                <a:endParaRPr lang="en-US" sz="24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81" y="6326053"/>
                <a:ext cx="5225598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667" r="-933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1053957" y="3096713"/>
            <a:ext cx="4478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smtClean="0"/>
              <a:t>Preserve entropy rate in blocks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055885" y="3480612"/>
                <a:ext cx="67506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Residual source entropy: </a:t>
                </a:r>
                <a:r>
                  <a:rPr lang="en-US" altLang="zh-CN" sz="2400" dirty="0" smtClean="0">
                    <a:solidFill>
                      <a:srgbClr val="C00000"/>
                    </a:solidFill>
                  </a:rPr>
                  <a:t>by </a:t>
                </a:r>
                <a:r>
                  <a:rPr lang="en-US" altLang="zh-CN" sz="2400" b="1" i="1" dirty="0" smtClean="0">
                    <a:solidFill>
                      <a:srgbClr val="C00000"/>
                    </a:solidFill>
                  </a:rPr>
                  <a:t>chain rule</a:t>
                </a:r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 smtClean="0">
                    <a:solidFill>
                      <a:srgbClr val="3333CC"/>
                    </a:solidFill>
                  </a:rPr>
                  <a:t> k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85" y="3480612"/>
                <a:ext cx="6750690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117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6951979" y="3348506"/>
            <a:ext cx="1356634" cy="659833"/>
            <a:chOff x="6870957" y="3336931"/>
            <a:chExt cx="1356634" cy="659833"/>
          </a:xfrm>
        </p:grpSpPr>
        <p:sp>
          <p:nvSpPr>
            <p:cNvPr id="32" name="Rectangle 31"/>
            <p:cNvSpPr/>
            <p:nvPr/>
          </p:nvSpPr>
          <p:spPr>
            <a:xfrm>
              <a:off x="7153830" y="3531275"/>
              <a:ext cx="786405" cy="339026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829725" y="3336931"/>
              <a:ext cx="3978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 smtClean="0">
                  <a:solidFill>
                    <a:srgbClr val="3333CC"/>
                  </a:solidFill>
                </a:rPr>
                <a:t>|</a:t>
              </a:r>
              <a:endParaRPr lang="zh-TW" altLang="en-US" sz="3600" dirty="0">
                <a:solidFill>
                  <a:srgbClr val="3333CC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870957" y="3350433"/>
              <a:ext cx="3978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 smtClean="0">
                  <a:solidFill>
                    <a:srgbClr val="3333CC"/>
                  </a:solidFill>
                </a:rPr>
                <a:t>|</a:t>
              </a:r>
              <a:endParaRPr lang="zh-TW" altLang="en-US" sz="3600" dirty="0">
                <a:solidFill>
                  <a:srgbClr val="3333CC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1057814" y="3876079"/>
                <a:ext cx="67506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 smtClean="0"/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 smtClean="0">
                    <a:solidFill>
                      <a:srgbClr val="3333CC"/>
                    </a:solidFill>
                  </a:rPr>
                  <a:t> k </a:t>
                </a:r>
                <a:r>
                  <a:rPr lang="en-US" sz="2400" dirty="0" smtClean="0"/>
                  <a:t>         </a:t>
                </a:r>
                <a:endParaRPr lang="en-US" sz="2400" dirty="0"/>
              </a:p>
            </p:txBody>
          </p:sp>
        </mc:Choice>
        <mc:Fallback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14" y="3876079"/>
                <a:ext cx="6750690" cy="461665"/>
              </a:xfrm>
              <a:prstGeom prst="rect">
                <a:avLst/>
              </a:prstGeom>
              <a:blipFill rotWithShape="0"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1328610" y="3769053"/>
            <a:ext cx="3015673" cy="648258"/>
            <a:chOff x="3562522" y="4301489"/>
            <a:chExt cx="3015673" cy="648258"/>
          </a:xfrm>
        </p:grpSpPr>
        <p:grpSp>
          <p:nvGrpSpPr>
            <p:cNvPr id="3" name="Group 2"/>
            <p:cNvGrpSpPr/>
            <p:nvPr/>
          </p:nvGrpSpPr>
          <p:grpSpPr>
            <a:xfrm>
              <a:off x="3865944" y="4515123"/>
              <a:ext cx="2418127" cy="324184"/>
              <a:chOff x="637276" y="4191031"/>
              <a:chExt cx="5646795" cy="339026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637276" y="4191031"/>
                <a:ext cx="3693584" cy="339026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341593" y="4194903"/>
                <a:ext cx="1357008" cy="335154"/>
              </a:xfrm>
              <a:prstGeom prst="rect">
                <a:avLst/>
              </a:prstGeom>
              <a:blipFill>
                <a:blip r:embed="rId9"/>
                <a:tile tx="0" ty="0" sx="100000" sy="100000" flip="none" algn="tl"/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5714980" y="4194903"/>
                <a:ext cx="569091" cy="335154"/>
              </a:xfrm>
              <a:prstGeom prst="rect">
                <a:avLst/>
              </a:prstGeom>
              <a:blipFill>
                <a:blip r:embed="rId10"/>
                <a:tile tx="0" ty="0" sx="100000" sy="100000" flip="none" algn="tl"/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Rectangle 49"/>
            <p:cNvSpPr/>
            <p:nvPr/>
          </p:nvSpPr>
          <p:spPr>
            <a:xfrm>
              <a:off x="3562522" y="4301489"/>
              <a:ext cx="3978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 smtClean="0">
                  <a:solidFill>
                    <a:srgbClr val="3333CC"/>
                  </a:solidFill>
                </a:rPr>
                <a:t>|</a:t>
              </a:r>
              <a:endParaRPr lang="zh-TW" altLang="en-US" sz="3600" dirty="0">
                <a:solidFill>
                  <a:srgbClr val="3333CC"/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180329" y="4303416"/>
              <a:ext cx="39786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3600" dirty="0" smtClean="0">
                  <a:solidFill>
                    <a:srgbClr val="3333CC"/>
                  </a:solidFill>
                </a:rPr>
                <a:t>|</a:t>
              </a:r>
              <a:endParaRPr lang="zh-TW" altLang="en-US" sz="3600" dirty="0">
                <a:solidFill>
                  <a:srgbClr val="3333CC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1059744" y="4387295"/>
                <a:ext cx="67506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 smtClean="0"/>
                  <a:t> Entropy of                     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zh-CN" alt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 smtClean="0">
                    <a:solidFill>
                      <a:srgbClr val="3333CC"/>
                    </a:solidFill>
                  </a:rPr>
                  <a:t>k </a:t>
                </a:r>
                <a:r>
                  <a:rPr lang="en-US" sz="2400" dirty="0" smtClean="0"/>
                  <a:t>         </a:t>
                </a:r>
                <a:endParaRPr lang="en-US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44" y="4387295"/>
                <a:ext cx="6750690" cy="461665"/>
              </a:xfrm>
              <a:prstGeom prst="rect">
                <a:avLst/>
              </a:prstGeom>
              <a:blipFill rotWithShape="0">
                <a:blip r:embed="rId11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53"/>
          <p:cNvGrpSpPr/>
          <p:nvPr/>
        </p:nvGrpSpPr>
        <p:grpSpPr>
          <a:xfrm>
            <a:off x="2907175" y="4447603"/>
            <a:ext cx="2418127" cy="324184"/>
            <a:chOff x="637276" y="4191031"/>
            <a:chExt cx="5646795" cy="339026"/>
          </a:xfrm>
        </p:grpSpPr>
        <p:sp>
          <p:nvSpPr>
            <p:cNvPr id="57" name="Rectangle 56"/>
            <p:cNvSpPr/>
            <p:nvPr/>
          </p:nvSpPr>
          <p:spPr>
            <a:xfrm>
              <a:off x="637276" y="4191031"/>
              <a:ext cx="3693584" cy="339026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341593" y="4194903"/>
              <a:ext cx="1357008" cy="335154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714980" y="4194903"/>
              <a:ext cx="569091" cy="335154"/>
            </a:xfrm>
            <a:prstGeom prst="rect">
              <a:avLst/>
            </a:prstGeom>
            <a:blipFill>
              <a:blip r:embed="rId10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/>
              <p:cNvSpPr txBox="1"/>
              <p:nvPr/>
            </p:nvSpPr>
            <p:spPr>
              <a:xfrm>
                <a:off x="222509" y="4950601"/>
                <a:ext cx="32810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Output length: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400" b="1" dirty="0" smtClean="0">
                    <a:solidFill>
                      <a:srgbClr val="33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zh-CN" sz="2400" b="1" dirty="0" smtClean="0">
                    <a:solidFill>
                      <a:srgbClr val="3333CC"/>
                    </a:solidFill>
                  </a:rPr>
                  <a:t> k</a:t>
                </a:r>
                <a:endParaRPr lang="en-US" sz="24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9" y="4950601"/>
                <a:ext cx="3281026" cy="461665"/>
              </a:xfrm>
              <a:prstGeom prst="rect">
                <a:avLst/>
              </a:prstGeom>
              <a:blipFill rotWithShape="0">
                <a:blip r:embed="rId12"/>
                <a:stretch>
                  <a:fillRect t="-10526" r="-204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3722523" y="4930816"/>
                <a:ext cx="2527806" cy="4650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altLang="zh-TW" sz="2400" b="1" dirty="0" smtClean="0">
                    <a:solidFill>
                      <a:schemeClr val="accent3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zh-TW" altLang="en-US" sz="2400" b="1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zh-TW" sz="2400" b="1" dirty="0" smtClean="0">
                    <a:solidFill>
                      <a:schemeClr val="accent3"/>
                    </a:solidFill>
                  </a:rPr>
                  <a:t>k)</a:t>
                </a:r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400" b="1" dirty="0" smtClean="0">
                    <a:solidFill>
                      <a:schemeClr val="accent3"/>
                    </a:solidFill>
                  </a:rPr>
                  <a:t>achievable</a:t>
                </a:r>
                <a:r>
                  <a:rPr lang="en-US" altLang="zh-CN" sz="2400" b="1" dirty="0">
                    <a:solidFill>
                      <a:schemeClr val="accent3"/>
                    </a:solidFill>
                  </a:rPr>
                  <a:t>!</a:t>
                </a:r>
                <a:endParaRPr lang="en-US" altLang="zh-TW" sz="24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523" y="4930816"/>
                <a:ext cx="2527806" cy="465086"/>
              </a:xfrm>
              <a:prstGeom prst="rect">
                <a:avLst/>
              </a:prstGeom>
              <a:blipFill rotWithShape="0">
                <a:blip r:embed="rId13"/>
                <a:stretch>
                  <a:fillRect l="-725" t="-10526" r="-96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14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9" grpId="0"/>
      <p:bldP spid="52" grpId="0"/>
      <p:bldP spid="60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9363"/>
            <a:ext cx="8229600" cy="73951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Self Composition </a:t>
            </a:r>
            <a:r>
              <a:rPr lang="en-US" sz="2800" b="0" dirty="0" smtClean="0">
                <a:solidFill>
                  <a:srgbClr val="0070C0"/>
                </a:solidFill>
                <a:effectLst/>
              </a:rPr>
              <a:t>[</a:t>
            </a:r>
            <a:r>
              <a:rPr lang="en-US" sz="2800" b="0" dirty="0" smtClean="0">
                <a:solidFill>
                  <a:srgbClr val="0070C0"/>
                </a:solidFill>
                <a:effectLst/>
              </a:rPr>
              <a:t>NZ96,SZ99,Zuc97]</a:t>
            </a:r>
            <a:endParaRPr lang="en-US" sz="40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19598" y="1057635"/>
            <a:ext cx="4203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What we have achieved:</a:t>
            </a:r>
            <a:endParaRPr lang="en-US" sz="2800" dirty="0"/>
          </a:p>
        </p:txBody>
      </p:sp>
      <p:sp>
        <p:nvSpPr>
          <p:cNvPr id="37" name="TextBox 36"/>
          <p:cNvSpPr txBox="1"/>
          <p:nvPr/>
        </p:nvSpPr>
        <p:spPr>
          <a:xfrm>
            <a:off x="556250" y="2054983"/>
            <a:ext cx="4033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gives: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558179" y="2971311"/>
            <a:ext cx="408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again:</a:t>
            </a:r>
            <a:endParaRPr lang="en-US" sz="28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441635" y="1556404"/>
            <a:ext cx="7934728" cy="461665"/>
            <a:chOff x="441635" y="1567979"/>
            <a:chExt cx="7934728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1389616" y="1567979"/>
                  <a:ext cx="2776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2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616" y="1567979"/>
                  <a:ext cx="2776081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516" t="-10526" r="-220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5616312" y="1567979"/>
                  <a:ext cx="276005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zh-CN" altLang="en-US" sz="2400" b="1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312" y="1567979"/>
                  <a:ext cx="2760051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311" t="-10526" r="-2649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441635" y="1567979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1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5138" y="2530604"/>
            <a:ext cx="8043893" cy="461665"/>
            <a:chOff x="455138" y="2576904"/>
            <a:chExt cx="8043893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1391546" y="2576904"/>
                  <a:ext cx="38164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 </a:t>
                  </a:r>
                  <a:r>
                    <a:rPr lang="en-US" altLang="zh-CN" sz="2400" b="1" dirty="0" err="1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546" y="2576904"/>
                  <a:ext cx="3816429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396" t="-10526" r="-1597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618242" y="2576904"/>
                  <a:ext cx="28807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2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8242" y="2576904"/>
                  <a:ext cx="2880789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390" t="-10526" r="-2331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/>
            <p:cNvSpPr/>
            <p:nvPr/>
          </p:nvSpPr>
          <p:spPr>
            <a:xfrm>
              <a:off x="455138" y="2576904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2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8288" y="3492268"/>
            <a:ext cx="8022672" cy="461665"/>
            <a:chOff x="478288" y="3538568"/>
            <a:chExt cx="8022672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393475" y="3538568"/>
                  <a:ext cx="427168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 log </a:t>
                  </a:r>
                  <a:r>
                    <a:rPr lang="en-US" altLang="zh-CN" sz="2400" b="1" dirty="0" err="1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75" y="3538568"/>
                  <a:ext cx="4271682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286" t="-10526" r="-1286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5620171" y="3538568"/>
                  <a:ext cx="28807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3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71" y="3538568"/>
                  <a:ext cx="2880789" cy="46166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3383" t="-10526" r="-2114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478288" y="3538568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3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Rectangle 78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/>
          <p:cNvSpPr txBox="1"/>
          <p:nvPr/>
        </p:nvSpPr>
        <p:spPr>
          <a:xfrm>
            <a:off x="558179" y="4684364"/>
            <a:ext cx="5503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</a:t>
            </a:r>
            <a:r>
              <a:rPr lang="en-US" altLang="zh-CN" sz="2800" b="1" dirty="0" smtClean="0">
                <a:solidFill>
                  <a:srgbClr val="3333CC"/>
                </a:solidFill>
              </a:rPr>
              <a:t>s = log*n</a:t>
            </a:r>
            <a:r>
              <a:rPr lang="en-US" altLang="zh-CN" sz="2800" dirty="0" smtClean="0"/>
              <a:t> times:</a:t>
            </a:r>
            <a:endParaRPr lang="en-US" sz="2800" dirty="0"/>
          </a:p>
        </p:txBody>
      </p:sp>
      <p:grpSp>
        <p:nvGrpSpPr>
          <p:cNvPr id="81" name="Group 80"/>
          <p:cNvGrpSpPr/>
          <p:nvPr/>
        </p:nvGrpSpPr>
        <p:grpSpPr>
          <a:xfrm>
            <a:off x="478288" y="5205321"/>
            <a:ext cx="8000230" cy="461665"/>
            <a:chOff x="478288" y="3538568"/>
            <a:chExt cx="8000230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1393475" y="3538568"/>
                  <a:ext cx="350224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(s)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75" y="3538568"/>
                  <a:ext cx="3502241" cy="461665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787" t="-10526" r="-1742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5620171" y="3538568"/>
                  <a:ext cx="28583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s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71" y="3538568"/>
                  <a:ext cx="2858347" cy="461665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l="-3412" t="-10526" r="-2132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Rectangle 83"/>
            <p:cNvSpPr/>
            <p:nvPr/>
          </p:nvSpPr>
          <p:spPr>
            <a:xfrm>
              <a:off x="478288" y="3538568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err="1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err="1" smtClean="0">
                  <a:solidFill>
                    <a:srgbClr val="3333CC"/>
                  </a:solidFill>
                </a:rPr>
                <a:t>s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矩形 21"/>
              <p:cNvSpPr/>
              <p:nvPr/>
            </p:nvSpPr>
            <p:spPr>
              <a:xfrm rot="5400000">
                <a:off x="4200636" y="4022200"/>
                <a:ext cx="909585" cy="82856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800" b="1" i="1" cap="none" spc="0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TW" altLang="en-US" sz="4800" b="1" cap="none" spc="0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</p:txBody>
          </p:sp>
        </mc:Choice>
        <mc:Fallback>
          <p:sp>
            <p:nvSpPr>
              <p:cNvPr id="85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200636" y="4022200"/>
                <a:ext cx="909585" cy="82856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Rectangle 85"/>
          <p:cNvSpPr/>
          <p:nvPr/>
        </p:nvSpPr>
        <p:spPr>
          <a:xfrm>
            <a:off x="2984537" y="5617143"/>
            <a:ext cx="1428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= </a:t>
            </a:r>
            <a:r>
              <a:rPr lang="en-US" altLang="zh-CN" sz="2400" b="1" dirty="0" smtClean="0">
                <a:solidFill>
                  <a:srgbClr val="3333CC"/>
                </a:solidFill>
              </a:rPr>
              <a:t>O(log n)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384851" y="5549622"/>
            <a:ext cx="1273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need &gt; 1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/>
              <p:cNvSpPr txBox="1"/>
              <p:nvPr/>
            </p:nvSpPr>
            <p:spPr>
              <a:xfrm>
                <a:off x="625699" y="6152423"/>
                <a:ext cx="29165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chemeClr val="accent3"/>
                    </a:solidFill>
                  </a:rPr>
                  <a:t>Require:</a:t>
                </a:r>
                <a:r>
                  <a:rPr lang="en-US" sz="2800" dirty="0" smtClean="0"/>
                  <a:t> </a:t>
                </a:r>
                <a:r>
                  <a:rPr lang="en-US" sz="2800" b="1" dirty="0" smtClean="0">
                    <a:solidFill>
                      <a:srgbClr val="C00000"/>
                    </a:solidFill>
                  </a:rPr>
                  <a:t>k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b="1" dirty="0" smtClean="0">
                    <a:solidFill>
                      <a:srgbClr val="C00000"/>
                    </a:solidFill>
                  </a:rPr>
                  <a:t> n</a:t>
                </a:r>
                <a:r>
                  <a:rPr lang="en-US" sz="2800" b="1" baseline="30000" dirty="0" smtClean="0">
                    <a:solidFill>
                      <a:srgbClr val="C00000"/>
                    </a:solidFill>
                  </a:rPr>
                  <a:t>1-o(1)</a:t>
                </a:r>
                <a:endParaRPr lang="en-US" sz="2800" b="1" baseline="30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99" y="6152423"/>
                <a:ext cx="2916504" cy="523220"/>
              </a:xfrm>
              <a:prstGeom prst="rect">
                <a:avLst/>
              </a:prstGeom>
              <a:blipFill rotWithShape="0">
                <a:blip r:embed="rId13"/>
                <a:stretch>
                  <a:fillRect l="-4393" t="-10465" r="-1046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92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3" grpId="0"/>
      <p:bldP spid="80" grpId="0"/>
      <p:bldP spid="85" grpId="0"/>
      <p:bldP spid="86" grpId="0"/>
      <p:bldP spid="87" grpId="0"/>
      <p:bldP spid="8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951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Win-win argument</a:t>
            </a:r>
            <a:endParaRPr lang="en-US" sz="36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26"/>
              <p:cNvSpPr txBox="1">
                <a:spLocks noChangeArrowheads="1"/>
              </p:cNvSpPr>
              <p:nvPr/>
            </p:nvSpPr>
            <p:spPr bwMode="auto">
              <a:xfrm>
                <a:off x="623773" y="1271905"/>
                <a:ext cx="7788707" cy="461665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(</a:t>
                </a:r>
                <a:r>
                  <a:rPr lang="en-US" altLang="zh-CN" sz="2400" i="0" dirty="0" err="1" smtClean="0">
                    <a:solidFill>
                      <a:schemeClr val="tx2"/>
                    </a:solidFill>
                  </a:rPr>
                  <a:t>n,k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n)</a:t>
                </a:r>
                <a:r>
                  <a:rPr lang="zh-CN" altLang="en-US" sz="2400" i="0" dirty="0" smtClean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source</a:t>
                </a:r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773" y="1271905"/>
                <a:ext cx="7788707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6173" b="-24691"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623773" y="2128802"/>
            <a:ext cx="5646795" cy="339026"/>
            <a:chOff x="623773" y="2314002"/>
            <a:chExt cx="5646795" cy="339026"/>
          </a:xfrm>
        </p:grpSpPr>
        <p:sp>
          <p:nvSpPr>
            <p:cNvPr id="8" name="Rectangle 7"/>
            <p:cNvSpPr/>
            <p:nvPr/>
          </p:nvSpPr>
          <p:spPr>
            <a:xfrm>
              <a:off x="623773" y="2314002"/>
              <a:ext cx="3693584" cy="339026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328090" y="2317874"/>
              <a:ext cx="1357008" cy="335154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01477" y="2317874"/>
              <a:ext cx="569091" cy="335154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35348" y="1257672"/>
            <a:ext cx="7430633" cy="489996"/>
            <a:chOff x="635348" y="1350272"/>
            <a:chExt cx="7430633" cy="489996"/>
          </a:xfrm>
        </p:grpSpPr>
        <p:sp>
          <p:nvSpPr>
            <p:cNvPr id="20" name="Rectangle 19"/>
            <p:cNvSpPr/>
            <p:nvPr/>
          </p:nvSpPr>
          <p:spPr>
            <a:xfrm>
              <a:off x="635348" y="1364526"/>
              <a:ext cx="846211" cy="46164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24874" y="1360594"/>
              <a:ext cx="747827" cy="473220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881413" y="1356861"/>
              <a:ext cx="747827" cy="475086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18154" y="1360949"/>
              <a:ext cx="747827" cy="473220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74078" y="1364504"/>
              <a:ext cx="687537" cy="469309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7886" y="1350272"/>
              <a:ext cx="724193" cy="489996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03151" y="1350272"/>
              <a:ext cx="372304" cy="489996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99498" y="2125738"/>
            <a:ext cx="2374672" cy="331072"/>
            <a:chOff x="6599498" y="2125738"/>
            <a:chExt cx="2374672" cy="331072"/>
          </a:xfrm>
        </p:grpSpPr>
        <p:sp>
          <p:nvSpPr>
            <p:cNvPr id="30" name="Right Arrow 29"/>
            <p:cNvSpPr/>
            <p:nvPr/>
          </p:nvSpPr>
          <p:spPr>
            <a:xfrm>
              <a:off x="6599498" y="2142363"/>
              <a:ext cx="565232" cy="24938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516668" y="2125738"/>
              <a:ext cx="1457502" cy="33107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</a:t>
              </a:r>
              <a:r>
                <a:rPr lang="en-US" baseline="-25000" dirty="0" smtClean="0"/>
                <a:t>1</a:t>
              </a:r>
              <a:endParaRPr lang="en-US" baseline="-25000" dirty="0"/>
            </a:p>
          </p:txBody>
        </p:sp>
      </p:grpSp>
      <p:sp>
        <p:nvSpPr>
          <p:cNvPr id="42" name="Text Box 26"/>
          <p:cNvSpPr txBox="1">
            <a:spLocks noChangeArrowheads="1"/>
          </p:cNvSpPr>
          <p:nvPr/>
        </p:nvSpPr>
        <p:spPr bwMode="auto">
          <a:xfrm>
            <a:off x="625704" y="2130346"/>
            <a:ext cx="5644864" cy="34725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2400" i="0" dirty="0">
              <a:solidFill>
                <a:schemeClr val="tx2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625702" y="3102995"/>
            <a:ext cx="3704317" cy="339026"/>
            <a:chOff x="623773" y="2314002"/>
            <a:chExt cx="5646795" cy="339026"/>
          </a:xfrm>
        </p:grpSpPr>
        <p:sp>
          <p:nvSpPr>
            <p:cNvPr id="48" name="Rectangle 47"/>
            <p:cNvSpPr/>
            <p:nvPr/>
          </p:nvSpPr>
          <p:spPr>
            <a:xfrm>
              <a:off x="623773" y="2314002"/>
              <a:ext cx="3693584" cy="339026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328090" y="2317874"/>
              <a:ext cx="1357008" cy="335154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701477" y="2317874"/>
              <a:ext cx="569091" cy="335154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616058" y="3104550"/>
            <a:ext cx="3701299" cy="34904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2400" i="0" dirty="0">
              <a:solidFill>
                <a:schemeClr val="tx2"/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627631" y="4030898"/>
            <a:ext cx="2421075" cy="371334"/>
            <a:chOff x="623773" y="2314002"/>
            <a:chExt cx="5646795" cy="339026"/>
          </a:xfrm>
        </p:grpSpPr>
        <p:sp>
          <p:nvSpPr>
            <p:cNvPr id="53" name="Rectangle 52"/>
            <p:cNvSpPr/>
            <p:nvPr/>
          </p:nvSpPr>
          <p:spPr>
            <a:xfrm>
              <a:off x="623773" y="2314002"/>
              <a:ext cx="3693584" cy="339026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328090" y="2317874"/>
              <a:ext cx="1357008" cy="335154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701477" y="2317874"/>
              <a:ext cx="569091" cy="335154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Text Box 26"/>
          <p:cNvSpPr txBox="1">
            <a:spLocks noChangeArrowheads="1"/>
          </p:cNvSpPr>
          <p:nvPr/>
        </p:nvSpPr>
        <p:spPr bwMode="auto">
          <a:xfrm>
            <a:off x="617987" y="4032451"/>
            <a:ext cx="2437760" cy="41580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2400" i="0" dirty="0">
              <a:solidFill>
                <a:schemeClr val="tx2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6589852" y="3111515"/>
            <a:ext cx="2374672" cy="331072"/>
            <a:chOff x="6589852" y="3111515"/>
            <a:chExt cx="2374672" cy="331072"/>
          </a:xfrm>
        </p:grpSpPr>
        <p:sp>
          <p:nvSpPr>
            <p:cNvPr id="57" name="Right Arrow 56"/>
            <p:cNvSpPr/>
            <p:nvPr/>
          </p:nvSpPr>
          <p:spPr>
            <a:xfrm>
              <a:off x="6589852" y="3128140"/>
              <a:ext cx="565232" cy="24938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07022" y="3111515"/>
              <a:ext cx="1457502" cy="33107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</a:t>
              </a:r>
              <a:r>
                <a:rPr lang="en-US" baseline="-25000" dirty="0" smtClean="0"/>
                <a:t>2</a:t>
              </a:r>
              <a:endParaRPr lang="en-US" baseline="-250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613001" y="4025914"/>
            <a:ext cx="2374672" cy="331072"/>
            <a:chOff x="6613001" y="4025914"/>
            <a:chExt cx="2374672" cy="331072"/>
          </a:xfrm>
        </p:grpSpPr>
        <p:sp>
          <p:nvSpPr>
            <p:cNvPr id="59" name="Right Arrow 58"/>
            <p:cNvSpPr/>
            <p:nvPr/>
          </p:nvSpPr>
          <p:spPr>
            <a:xfrm>
              <a:off x="6613001" y="4042539"/>
              <a:ext cx="565232" cy="24938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530171" y="4025914"/>
              <a:ext cx="1457502" cy="33107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</a:t>
              </a:r>
              <a:r>
                <a:rPr lang="en-US" baseline="-25000" dirty="0" smtClean="0"/>
                <a:t>3</a:t>
              </a:r>
              <a:endParaRPr lang="en-US" baseline="-25000" dirty="0"/>
            </a:p>
          </p:txBody>
        </p:sp>
      </p:grpSp>
      <p:cxnSp>
        <p:nvCxnSpPr>
          <p:cNvPr id="61" name="Straight Connector 60"/>
          <p:cNvCxnSpPr/>
          <p:nvPr/>
        </p:nvCxnSpPr>
        <p:spPr>
          <a:xfrm flipH="1">
            <a:off x="6270568" y="1774606"/>
            <a:ext cx="2141912" cy="35113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4330019" y="2490071"/>
            <a:ext cx="1954649" cy="61292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3055747" y="3429550"/>
            <a:ext cx="1309454" cy="61298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1149281" y="4595151"/>
            <a:ext cx="1457502" cy="763039"/>
            <a:chOff x="7530171" y="3593947"/>
            <a:chExt cx="1457502" cy="763039"/>
          </a:xfrm>
        </p:grpSpPr>
        <p:sp>
          <p:nvSpPr>
            <p:cNvPr id="65" name="Right Arrow 64"/>
            <p:cNvSpPr/>
            <p:nvPr/>
          </p:nvSpPr>
          <p:spPr>
            <a:xfrm rot="5400000">
              <a:off x="8030875" y="3629745"/>
              <a:ext cx="320979" cy="249383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530171" y="4025914"/>
              <a:ext cx="1457502" cy="33107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</a:t>
              </a:r>
              <a:r>
                <a:rPr lang="en-US" baseline="-25000" dirty="0" smtClean="0"/>
                <a:t>4</a:t>
              </a:r>
              <a:endParaRPr lang="en-US" baseline="-25000" dirty="0"/>
            </a:p>
          </p:txBody>
        </p:sp>
      </p:grpSp>
      <p:sp>
        <p:nvSpPr>
          <p:cNvPr id="67" name="Rectangle 66"/>
          <p:cNvSpPr/>
          <p:nvPr/>
        </p:nvSpPr>
        <p:spPr>
          <a:xfrm>
            <a:off x="645155" y="5845064"/>
            <a:ext cx="1457502" cy="3310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68" name="Rectangle 67"/>
          <p:cNvSpPr/>
          <p:nvPr/>
        </p:nvSpPr>
        <p:spPr>
          <a:xfrm>
            <a:off x="2117067" y="5846992"/>
            <a:ext cx="1457502" cy="3310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</a:t>
            </a:r>
            <a:r>
              <a:rPr lang="en-US" baseline="-25000" dirty="0" smtClean="0"/>
              <a:t>2</a:t>
            </a:r>
            <a:endParaRPr lang="en-US" baseline="-25000" dirty="0"/>
          </a:p>
        </p:txBody>
      </p:sp>
      <p:sp>
        <p:nvSpPr>
          <p:cNvPr id="69" name="Rectangle 68"/>
          <p:cNvSpPr/>
          <p:nvPr/>
        </p:nvSpPr>
        <p:spPr>
          <a:xfrm>
            <a:off x="3598627" y="5846993"/>
            <a:ext cx="1457502" cy="3310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</a:t>
            </a:r>
            <a:r>
              <a:rPr lang="en-US" baseline="-25000" dirty="0" smtClean="0"/>
              <a:t>3</a:t>
            </a:r>
            <a:endParaRPr lang="en-US" baseline="-25000" dirty="0"/>
          </a:p>
        </p:txBody>
      </p:sp>
      <p:sp>
        <p:nvSpPr>
          <p:cNvPr id="70" name="Rectangle 69"/>
          <p:cNvSpPr/>
          <p:nvPr/>
        </p:nvSpPr>
        <p:spPr>
          <a:xfrm>
            <a:off x="5080190" y="5835417"/>
            <a:ext cx="1457502" cy="3310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</a:t>
            </a:r>
            <a:r>
              <a:rPr lang="en-US" baseline="-25000" dirty="0" smtClean="0"/>
              <a:t>4</a:t>
            </a:r>
            <a:endParaRPr lang="en-US" baseline="-25000" dirty="0"/>
          </a:p>
        </p:txBody>
      </p:sp>
      <p:grpSp>
        <p:nvGrpSpPr>
          <p:cNvPr id="71" name="Group 70"/>
          <p:cNvGrpSpPr/>
          <p:nvPr/>
        </p:nvGrpSpPr>
        <p:grpSpPr>
          <a:xfrm>
            <a:off x="6765401" y="5821918"/>
            <a:ext cx="1961914" cy="331072"/>
            <a:chOff x="6613001" y="4025914"/>
            <a:chExt cx="1961914" cy="331072"/>
          </a:xfrm>
        </p:grpSpPr>
        <p:sp>
          <p:nvSpPr>
            <p:cNvPr id="72" name="Right Arrow 71"/>
            <p:cNvSpPr/>
            <p:nvPr/>
          </p:nvSpPr>
          <p:spPr>
            <a:xfrm>
              <a:off x="6613001" y="4065689"/>
              <a:ext cx="565232" cy="24938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7530171" y="4025914"/>
              <a:ext cx="1044744" cy="33107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Z</a:t>
              </a:r>
              <a:endParaRPr lang="en-US" baseline="-25000" dirty="0"/>
            </a:p>
          </p:txBody>
        </p:sp>
      </p:grpSp>
      <p:sp>
        <p:nvSpPr>
          <p:cNvPr id="74" name="Text Box 26"/>
          <p:cNvSpPr txBox="1">
            <a:spLocks noChangeArrowheads="1"/>
          </p:cNvSpPr>
          <p:nvPr/>
        </p:nvSpPr>
        <p:spPr bwMode="auto">
          <a:xfrm>
            <a:off x="627632" y="5847749"/>
            <a:ext cx="5910059" cy="339964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2400" i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1" grpId="0" animBg="1"/>
      <p:bldP spid="56" grpId="0" animBg="1"/>
      <p:bldP spid="67" grpId="0" animBg="1"/>
      <p:bldP spid="68" grpId="0" animBg="1"/>
      <p:bldP spid="69" grpId="0" animBg="1"/>
      <p:bldP spid="70" grpId="0" animBg="1"/>
      <p:bldP spid="7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951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Controlling the Parameters</a:t>
            </a:r>
            <a:endParaRPr lang="en-US" sz="36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26"/>
              <p:cNvSpPr txBox="1">
                <a:spLocks noChangeArrowheads="1"/>
              </p:cNvSpPr>
              <p:nvPr/>
            </p:nvSpPr>
            <p:spPr bwMode="auto">
              <a:xfrm>
                <a:off x="623773" y="1271905"/>
                <a:ext cx="7788707" cy="461665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(</a:t>
                </a:r>
                <a:r>
                  <a:rPr lang="en-US" altLang="zh-CN" sz="2400" i="0" dirty="0" err="1" smtClean="0">
                    <a:solidFill>
                      <a:schemeClr val="tx2"/>
                    </a:solidFill>
                  </a:rPr>
                  <a:t>n,k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n)</a:t>
                </a:r>
                <a:r>
                  <a:rPr lang="zh-CN" altLang="en-US" sz="2400" i="0" dirty="0" smtClean="0">
                    <a:solidFill>
                      <a:schemeClr val="tx2"/>
                    </a:solidFill>
                  </a:rPr>
                  <a:t> </a:t>
                </a:r>
                <a:r>
                  <a:rPr lang="en-US" altLang="zh-CN" sz="2400" i="0" dirty="0" smtClean="0">
                    <a:solidFill>
                      <a:schemeClr val="tx2"/>
                    </a:solidFill>
                  </a:rPr>
                  <a:t>source</a:t>
                </a:r>
                <a:endParaRPr lang="en-US" sz="2400" i="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773" y="1271905"/>
                <a:ext cx="7788707" cy="461665"/>
              </a:xfrm>
              <a:prstGeom prst="rect">
                <a:avLst/>
              </a:prstGeom>
              <a:blipFill rotWithShape="0">
                <a:blip r:embed="rId5"/>
                <a:stretch>
                  <a:fillRect t="-6173" b="-24691"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623773" y="2128802"/>
            <a:ext cx="5646795" cy="339026"/>
            <a:chOff x="623773" y="2314002"/>
            <a:chExt cx="5646795" cy="339026"/>
          </a:xfrm>
        </p:grpSpPr>
        <p:sp>
          <p:nvSpPr>
            <p:cNvPr id="8" name="Rectangle 7"/>
            <p:cNvSpPr/>
            <p:nvPr/>
          </p:nvSpPr>
          <p:spPr>
            <a:xfrm>
              <a:off x="623773" y="2314002"/>
              <a:ext cx="3693584" cy="339026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328090" y="2317874"/>
              <a:ext cx="1357008" cy="335154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01477" y="2317874"/>
              <a:ext cx="569091" cy="335154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35348" y="1257672"/>
            <a:ext cx="7430633" cy="489996"/>
            <a:chOff x="635348" y="1350272"/>
            <a:chExt cx="7430633" cy="489996"/>
          </a:xfrm>
        </p:grpSpPr>
        <p:sp>
          <p:nvSpPr>
            <p:cNvPr id="20" name="Rectangle 19"/>
            <p:cNvSpPr/>
            <p:nvPr/>
          </p:nvSpPr>
          <p:spPr>
            <a:xfrm>
              <a:off x="635348" y="1364526"/>
              <a:ext cx="846211" cy="46164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24874" y="1360594"/>
              <a:ext cx="747827" cy="473220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881413" y="1356861"/>
              <a:ext cx="747827" cy="475086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18154" y="1360949"/>
              <a:ext cx="747827" cy="473220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74078" y="1364504"/>
              <a:ext cx="687537" cy="469309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27886" y="1350272"/>
              <a:ext cx="724193" cy="489996"/>
            </a:xfrm>
            <a:prstGeom prst="rect">
              <a:avLst/>
            </a:prstGeom>
            <a:blipFill>
              <a:blip r:embed="rId7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03151" y="1350272"/>
              <a:ext cx="372304" cy="489996"/>
            </a:xfrm>
            <a:prstGeom prst="rect">
              <a:avLst/>
            </a:prstGeom>
            <a:blipFill>
              <a:blip r:embed="rId8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99498" y="2125738"/>
            <a:ext cx="2374672" cy="331072"/>
            <a:chOff x="6599498" y="2125738"/>
            <a:chExt cx="2374672" cy="331072"/>
          </a:xfrm>
        </p:grpSpPr>
        <p:sp>
          <p:nvSpPr>
            <p:cNvPr id="30" name="Right Arrow 29"/>
            <p:cNvSpPr/>
            <p:nvPr/>
          </p:nvSpPr>
          <p:spPr>
            <a:xfrm>
              <a:off x="6599498" y="2142363"/>
              <a:ext cx="565232" cy="24938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516668" y="2125738"/>
              <a:ext cx="1457502" cy="33107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W</a:t>
              </a:r>
              <a:r>
                <a:rPr lang="en-US" baseline="-25000" dirty="0" smtClean="0"/>
                <a:t>1</a:t>
              </a:r>
              <a:endParaRPr lang="en-US" baseline="-250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519598" y="2874864"/>
                <a:ext cx="24754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Shrinking factor</a:t>
                </a: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98" y="2874864"/>
                <a:ext cx="2475421" cy="461665"/>
              </a:xfrm>
              <a:prstGeom prst="rect">
                <a:avLst/>
              </a:prstGeom>
              <a:blipFill rotWithShape="0">
                <a:blip r:embed="rId9"/>
                <a:stretch>
                  <a:fillRect l="-3695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1053957" y="3374505"/>
                <a:ext cx="33972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/>
                  <a:t>Source length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n</a:t>
                </a:r>
                <a:r>
                  <a:rPr lang="en-US" altLang="zh-CN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n </a:t>
                </a:r>
                <a:endParaRPr lang="en-US" sz="24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957" y="3374505"/>
                <a:ext cx="3397212" cy="461665"/>
              </a:xfrm>
              <a:prstGeom prst="rect">
                <a:avLst/>
              </a:prstGeom>
              <a:blipFill rotWithShape="0">
                <a:blip r:embed="rId10"/>
                <a:stretch>
                  <a:fillRect l="-2513" t="-10667" r="-1616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/>
              <p:cNvSpPr txBox="1"/>
              <p:nvPr/>
            </p:nvSpPr>
            <p:spPr>
              <a:xfrm>
                <a:off x="1055888" y="3804695"/>
                <a:ext cx="4181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/>
                  <a:t>Pay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 </a:t>
                </a:r>
                <a:r>
                  <a:rPr lang="en-US" altLang="zh-CN" sz="2400" dirty="0" smtClean="0"/>
                  <a:t>factor in output length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 </a:t>
                </a:r>
                <a:endParaRPr lang="en-US" sz="24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88" y="3804695"/>
                <a:ext cx="4181850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1895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/>
              <p:cNvSpPr txBox="1"/>
              <p:nvPr/>
            </p:nvSpPr>
            <p:spPr>
              <a:xfrm>
                <a:off x="521529" y="4265751"/>
                <a:ext cx="31945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Residual entropy rate</a:t>
                </a:r>
                <a:r>
                  <a:rPr lang="zh-CN" altLang="en-US" sz="2400" b="1" dirty="0" smtClean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529" y="4265751"/>
                <a:ext cx="3194529" cy="461665"/>
              </a:xfrm>
              <a:prstGeom prst="rect">
                <a:avLst/>
              </a:prstGeom>
              <a:blipFill rotWithShape="0">
                <a:blip r:embed="rId12"/>
                <a:stretch>
                  <a:fillRect l="-305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/>
              <p:cNvSpPr txBox="1"/>
              <p:nvPr/>
            </p:nvSpPr>
            <p:spPr>
              <a:xfrm>
                <a:off x="1055888" y="4765392"/>
                <a:ext cx="5586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/>
                  <a:t>Assume residual entropy @ level 1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k </a:t>
                </a:r>
                <a:endParaRPr lang="en-US" sz="24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888" y="4765392"/>
                <a:ext cx="5586850" cy="461665"/>
              </a:xfrm>
              <a:prstGeom prst="rect">
                <a:avLst/>
              </a:prstGeom>
              <a:blipFill rotWithShape="0">
                <a:blip r:embed="rId13"/>
                <a:stretch>
                  <a:fillRect l="-1418" t="-10667" r="-763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/>
              <p:cNvSpPr txBox="1"/>
              <p:nvPr/>
            </p:nvSpPr>
            <p:spPr>
              <a:xfrm>
                <a:off x="1057819" y="5195582"/>
                <a:ext cx="70774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/>
                  <a:t>By win-win, if false, then entropy @ level 2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2400" dirty="0">
                    <a:solidFill>
                      <a:srgbClr val="3333CC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(1-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3333CC"/>
                    </a:solidFill>
                  </a:rPr>
                  <a:t>k </a:t>
                </a:r>
                <a:endParaRPr lang="en-US" altLang="zh-TW" sz="24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19" y="5195582"/>
                <a:ext cx="7077450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1206" t="-10526" r="-34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/>
              <p:cNvSpPr txBox="1"/>
              <p:nvPr/>
            </p:nvSpPr>
            <p:spPr>
              <a:xfrm>
                <a:off x="1057816" y="5600698"/>
                <a:ext cx="47813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/>
                  <a:t>Also </a:t>
                </a:r>
                <a:r>
                  <a:rPr lang="en-US" altLang="zh-TW" sz="2400" dirty="0"/>
                  <a:t>p</a:t>
                </a:r>
                <a:r>
                  <a:rPr lang="en-US" altLang="zh-CN" sz="2400" dirty="0" smtClean="0"/>
                  <a:t>ay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 </a:t>
                </a:r>
                <a:r>
                  <a:rPr lang="en-US" altLang="zh-CN" sz="2400" dirty="0" smtClean="0"/>
                  <a:t>factor in output length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 </a:t>
                </a:r>
                <a:endParaRPr lang="en-US" sz="2400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816" y="5600698"/>
                <a:ext cx="4781374" cy="461665"/>
              </a:xfrm>
              <a:prstGeom prst="rect">
                <a:avLst/>
              </a:prstGeom>
              <a:blipFill rotWithShape="0">
                <a:blip r:embed="rId15"/>
                <a:stretch>
                  <a:fillRect l="-1786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/>
              <p:cNvSpPr txBox="1"/>
              <p:nvPr/>
            </p:nvSpPr>
            <p:spPr>
              <a:xfrm>
                <a:off x="118335" y="6096494"/>
                <a:ext cx="34076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sz="2400" b="1" dirty="0" smtClean="0">
                    <a:solidFill>
                      <a:srgbClr val="C00000"/>
                    </a:solidFill>
                  </a:rPr>
                  <a:t> Output length </a:t>
                </a:r>
                <a:r>
                  <a:rPr lang="en-US" altLang="zh-CN" sz="2400" b="1" dirty="0" smtClean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≈</a:t>
                </a:r>
                <a:r>
                  <a:rPr lang="en-US" altLang="zh-CN" sz="2400" b="1" dirty="0" smtClean="0">
                    <a:solidFill>
                      <a:srgbClr val="3333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𝜶𝜷</m:t>
                    </m:r>
                  </m:oMath>
                </a14:m>
                <a:r>
                  <a:rPr lang="en-US" altLang="zh-CN" sz="2400" b="1" dirty="0" smtClean="0">
                    <a:solidFill>
                      <a:srgbClr val="3333CC"/>
                    </a:solidFill>
                  </a:rPr>
                  <a:t> k</a:t>
                </a:r>
                <a:endParaRPr lang="en-US" sz="24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5" y="6096494"/>
                <a:ext cx="3407664" cy="461665"/>
              </a:xfrm>
              <a:prstGeom prst="rect">
                <a:avLst/>
              </a:prstGeom>
              <a:blipFill rotWithShape="0">
                <a:blip r:embed="rId16"/>
                <a:stretch>
                  <a:fillRect t="-13158" r="-1789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Rectangle 82"/>
              <p:cNvSpPr/>
              <p:nvPr/>
            </p:nvSpPr>
            <p:spPr>
              <a:xfrm>
                <a:off x="3606778" y="6099860"/>
                <a:ext cx="913841" cy="4650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b="1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zh-CN" altLang="en-US" sz="2400" b="1" i="1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altLang="zh-TW" sz="2400" b="1" dirty="0" smtClean="0">
                    <a:solidFill>
                      <a:schemeClr val="accent3"/>
                    </a:solidFill>
                  </a:rPr>
                  <a:t>k</a:t>
                </a:r>
                <a:endParaRPr lang="en-US" altLang="zh-TW" sz="2400" b="1" dirty="0">
                  <a:solidFill>
                    <a:schemeClr val="accent3"/>
                  </a:solidFill>
                </a:endParaRPr>
              </a:p>
            </p:txBody>
          </p:sp>
        </mc:Choice>
        <mc:Fallback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778" y="6099860"/>
                <a:ext cx="913841" cy="465086"/>
              </a:xfrm>
              <a:prstGeom prst="rect">
                <a:avLst/>
              </a:prstGeom>
              <a:blipFill rotWithShape="0">
                <a:blip r:embed="rId17"/>
                <a:stretch>
                  <a:fillRect l="-1333" t="-10526" r="-6000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 Box 26"/>
              <p:cNvSpPr txBox="1">
                <a:spLocks noChangeArrowheads="1"/>
              </p:cNvSpPr>
              <p:nvPr/>
            </p:nvSpPr>
            <p:spPr bwMode="auto">
              <a:xfrm>
                <a:off x="625704" y="2130346"/>
                <a:ext cx="5644864" cy="461665"/>
              </a:xfrm>
              <a:prstGeom prst="rect">
                <a:avLst/>
              </a:prstGeom>
              <a:blipFill>
                <a:blip r:embed="rId4"/>
                <a:tile tx="0" ty="0" sx="100000" sy="100000" flip="none" algn="tl"/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wrap="squar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algn="ctr"/>
                <a:r>
                  <a:rPr lang="en-US" i="0" dirty="0" smtClean="0">
                    <a:solidFill>
                      <a:srgbClr val="FF0000"/>
                    </a:solidFill>
                  </a:rPr>
                  <a:t>(1-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400" i="0" dirty="0" smtClean="0">
                    <a:solidFill>
                      <a:srgbClr val="FF0000"/>
                    </a:solidFill>
                  </a:rPr>
                  <a:t>)k</a:t>
                </a:r>
                <a:endParaRPr lang="en-US" sz="2400" i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5704" y="2130346"/>
                <a:ext cx="5644864" cy="461665"/>
              </a:xfrm>
              <a:prstGeom prst="rect">
                <a:avLst/>
              </a:prstGeom>
              <a:blipFill rotWithShape="0">
                <a:blip r:embed="rId18"/>
                <a:stretch>
                  <a:fillRect t="-6098" b="-23171"/>
                </a:stretch>
              </a:blip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18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7" grpId="0"/>
      <p:bldP spid="78" grpId="0"/>
      <p:bldP spid="79" grpId="0"/>
      <p:bldP spid="81" grpId="0"/>
      <p:bldP spid="82" grpId="0"/>
      <p:bldP spid="83" grpId="0"/>
      <p:bldP spid="8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52591" y="1406063"/>
                <a:ext cx="8498812" cy="510962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Self composition for </a:t>
                </a:r>
                <a:r>
                  <a:rPr lang="en-US" altLang="zh-CN" sz="2800" b="1" dirty="0">
                    <a:solidFill>
                      <a:srgbClr val="3333CC"/>
                    </a:solidFill>
                  </a:rPr>
                  <a:t>s = log*n</a:t>
                </a:r>
                <a:r>
                  <a:rPr lang="en-US" altLang="zh-CN" sz="2800" dirty="0"/>
                  <a:t> </a:t>
                </a:r>
                <a:r>
                  <a:rPr lang="en-US" altLang="zh-CN" sz="2800" dirty="0" smtClean="0"/>
                  <a:t>times: </a:t>
                </a:r>
                <a:endParaRPr lang="en-US" altLang="zh-TW" sz="2800" dirty="0" smtClean="0"/>
              </a:p>
              <a:p>
                <a:endParaRPr lang="en-US" altLang="zh-TW" sz="2800" dirty="0"/>
              </a:p>
              <a:p>
                <a:endParaRPr lang="en-US" altLang="zh-TW" sz="2800" dirty="0" smtClean="0"/>
              </a:p>
              <a:p>
                <a:endParaRPr lang="en-US" altLang="zh-TW" sz="2800" dirty="0"/>
              </a:p>
              <a:p>
                <a:endParaRPr lang="en-US" altLang="zh-TW" sz="2800" dirty="0" smtClean="0"/>
              </a:p>
              <a:p>
                <a:pPr lvl="4"/>
                <a:endParaRPr lang="en-US" altLang="zh-TW" sz="900" dirty="0" smtClean="0"/>
              </a:p>
              <a:p>
                <a:r>
                  <a:rPr lang="en-US" altLang="zh-TW" sz="2800" dirty="0" smtClean="0"/>
                  <a:t>Reason for </a:t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0.51</a:t>
                </a:r>
              </a:p>
              <a:p>
                <a:pPr lvl="1"/>
                <a:r>
                  <a:rPr lang="en-US" altLang="zh-TW" sz="2400" dirty="0" smtClean="0"/>
                  <a:t>Quantum sampling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[KR11]</a:t>
                </a:r>
                <a:r>
                  <a:rPr lang="en-US" altLang="zh-TW" sz="2400" dirty="0" smtClean="0"/>
                  <a:t> stop working for </a:t>
                </a:r>
                <a:r>
                  <a:rPr lang="en-US" altLang="zh-CN" sz="2400" dirty="0">
                    <a:solidFill>
                      <a:srgbClr val="3333CC"/>
                    </a:solidFill>
                  </a:rPr>
                  <a:t>k</a:t>
                </a:r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n</a:t>
                </a:r>
                <a:r>
                  <a:rPr lang="en-US" altLang="zh-CN" sz="2400" b="1" baseline="30000" dirty="0" smtClean="0">
                    <a:solidFill>
                      <a:srgbClr val="FF0000"/>
                    </a:solidFill>
                  </a:rPr>
                  <a:t>0.5</a:t>
                </a:r>
              </a:p>
              <a:p>
                <a:pPr lvl="1"/>
                <a:r>
                  <a:rPr lang="en-US" altLang="zh-TW" sz="2400" dirty="0" smtClean="0"/>
                  <a:t>Otherwise (e.g. classically), works for any constant exponent</a:t>
                </a:r>
              </a:p>
              <a:p>
                <a:pPr lvl="1"/>
                <a:r>
                  <a:rPr lang="en-US" altLang="zh-TW" sz="2400" b="1" dirty="0" smtClean="0"/>
                  <a:t>Open</a:t>
                </a:r>
                <a:r>
                  <a:rPr lang="en-US" altLang="zh-TW" sz="2400" dirty="0" smtClean="0"/>
                  <a:t>: improve quantum sampling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591" y="1406063"/>
                <a:ext cx="8498812" cy="5109622"/>
              </a:xfrm>
              <a:blipFill rotWithShape="0">
                <a:blip r:embed="rId3"/>
                <a:stretch>
                  <a:fillRect l="-1291" t="-11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52591" y="2073832"/>
                <a:ext cx="7480239" cy="1768964"/>
              </a:xfrm>
              <a:prstGeom prst="rect">
                <a:avLst/>
              </a:prstGeom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5000">
                    <a:schemeClr val="accent3">
                      <a:lumMod val="20000"/>
                      <a:lumOff val="80000"/>
                    </a:schemeClr>
                  </a:gs>
                  <a:gs pos="100000">
                    <a:schemeClr val="accent3">
                      <a:lumMod val="40000"/>
                      <a:lumOff val="60000"/>
                    </a:schemeClr>
                  </a:gs>
                </a:gsLst>
              </a:gradFill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[</a:t>
                </a:r>
                <a:r>
                  <a:rPr lang="en-US" altLang="zh-CN" sz="2800" b="1" dirty="0" err="1" smtClean="0">
                    <a:solidFill>
                      <a:schemeClr val="tx1"/>
                    </a:solidFill>
                  </a:rPr>
                  <a:t>Thm</a:t>
                </a:r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800" dirty="0" smtClean="0">
                    <a:solidFill>
                      <a:schemeClr val="tx1"/>
                    </a:solidFill>
                  </a:rPr>
                  <a:t>explicit quantum-proof Ext with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Seed length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d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O(log (n/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 smtClean="0">
                    <a:solidFill>
                      <a:srgbClr val="3333CC"/>
                    </a:solidFill>
                  </a:rPr>
                  <a:t>))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Output length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m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k</a:t>
                </a:r>
                <a:r>
                  <a:rPr lang="en-US" altLang="zh-CN" sz="2400" baseline="30000" dirty="0" smtClean="0">
                    <a:solidFill>
                      <a:srgbClr val="3333CC"/>
                    </a:solidFill>
                  </a:rPr>
                  <a:t>0.99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 smtClean="0">
                    <a:solidFill>
                      <a:schemeClr val="tx1"/>
                    </a:solidFill>
                  </a:rPr>
                  <a:t>For any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k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rgbClr val="3333CC"/>
                    </a:solidFill>
                  </a:rPr>
                  <a:t>n</a:t>
                </a:r>
                <a:r>
                  <a:rPr lang="en-US" altLang="zh-CN" sz="2400" b="1" baseline="30000" dirty="0" smtClean="0">
                    <a:solidFill>
                      <a:srgbClr val="FF0000"/>
                    </a:solidFill>
                  </a:rPr>
                  <a:t>0.51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and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solidFill>
                                  <a:srgbClr val="3333CC"/>
                                </a:solidFill>
                                <a:latin typeface="Cambria Math" panose="02040503050406030204" pitchFamily="18" charset="0"/>
                              </a:rPr>
                              <m:t>0.99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sz="2400" dirty="0" smtClean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1" y="2073832"/>
                <a:ext cx="7480239" cy="176896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91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8132275" cy="1470025"/>
          </a:xfrm>
        </p:spPr>
        <p:txBody>
          <a:bodyPr/>
          <a:lstStyle/>
          <a:p>
            <a:r>
              <a:rPr lang="en-US" altLang="zh-TW" dirty="0" smtClean="0"/>
              <a:t>Open Questions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81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0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Privacy Amplification with </a:t>
            </a:r>
            <a:br>
              <a:rPr lang="en-US" altLang="zh-TW" dirty="0" smtClean="0"/>
            </a:br>
            <a:r>
              <a:rPr lang="en-US" altLang="zh-TW" dirty="0" smtClean="0"/>
              <a:t>Man-in-the-Middle (MIM) Adversary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5542"/>
            <a:ext cx="8229600" cy="214523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Eve </a:t>
            </a:r>
            <a:r>
              <a:rPr lang="en-US" altLang="zh-TW" sz="2800" dirty="0"/>
              <a:t>holds side info </a:t>
            </a:r>
            <a:r>
              <a:rPr lang="en-US" altLang="zh-TW" sz="2800" dirty="0">
                <a:solidFill>
                  <a:srgbClr val="3333CC"/>
                </a:solidFill>
              </a:rPr>
              <a:t>E</a:t>
            </a:r>
            <a:r>
              <a:rPr lang="zh-TW" altLang="en-US" sz="2800" dirty="0"/>
              <a:t> </a:t>
            </a:r>
            <a:r>
              <a:rPr lang="en-US" altLang="zh-TW" sz="2800" dirty="0"/>
              <a:t>about</a:t>
            </a:r>
            <a:r>
              <a:rPr lang="zh-TW" altLang="en-US" sz="2800" dirty="0"/>
              <a:t> </a:t>
            </a:r>
            <a:r>
              <a:rPr lang="en-US" altLang="zh-TW" sz="2800" dirty="0">
                <a:solidFill>
                  <a:srgbClr val="3333CC"/>
                </a:solidFill>
              </a:rPr>
              <a:t>X</a:t>
            </a:r>
            <a:r>
              <a:rPr lang="en-US" altLang="zh-TW" sz="2800" dirty="0"/>
              <a:t> &amp; launch </a:t>
            </a:r>
            <a:r>
              <a:rPr lang="en-US" altLang="zh-TW" sz="2800" dirty="0">
                <a:solidFill>
                  <a:srgbClr val="FF0000"/>
                </a:solidFill>
              </a:rPr>
              <a:t>MIM </a:t>
            </a:r>
            <a:r>
              <a:rPr lang="en-US" altLang="zh-TW" sz="2800" dirty="0"/>
              <a:t>attack</a:t>
            </a:r>
          </a:p>
          <a:p>
            <a:pPr lvl="1"/>
            <a:r>
              <a:rPr lang="en-US" altLang="zh-TW" sz="2400" dirty="0"/>
              <a:t>Can arbitrarily modify, insert, delete, and reorder </a:t>
            </a:r>
            <a:r>
              <a:rPr lang="en-US" altLang="zh-TW" sz="2400" dirty="0" smtClean="0"/>
              <a:t>message</a:t>
            </a:r>
          </a:p>
          <a:p>
            <a:r>
              <a:rPr lang="en-US" altLang="zh-TW" sz="2800" dirty="0" smtClean="0"/>
              <a:t>Well-studied problem classically </a:t>
            </a:r>
            <a:r>
              <a:rPr lang="en-US" altLang="zh-TW" sz="900" dirty="0">
                <a:solidFill>
                  <a:srgbClr val="0070C0"/>
                </a:solidFill>
              </a:rPr>
              <a:t>[MW97,DW09,RW03, KR09,CKOR10,DLWZ11,CRS12,Li12,Li15</a:t>
            </a:r>
            <a:r>
              <a:rPr lang="en-US" altLang="zh-TW" sz="900" dirty="0" smtClean="0">
                <a:solidFill>
                  <a:srgbClr val="0070C0"/>
                </a:solidFill>
              </a:rPr>
              <a:t>]</a:t>
            </a:r>
          </a:p>
          <a:p>
            <a:r>
              <a:rPr lang="en-US" altLang="zh-TW" sz="2800" dirty="0" smtClean="0"/>
              <a:t>Motivate </a:t>
            </a:r>
            <a:r>
              <a:rPr lang="en-US" altLang="zh-TW" sz="2800" dirty="0" smtClean="0">
                <a:solidFill>
                  <a:srgbClr val="FF0000"/>
                </a:solidFill>
              </a:rPr>
              <a:t>quantum-proof non-malleable Ext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35" descr="j023073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68" y="3389929"/>
            <a:ext cx="1169988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6" descr="j023074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106" y="3364529"/>
            <a:ext cx="862012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7"/>
          <p:cNvSpPr>
            <a:spLocks noChangeArrowheads="1"/>
          </p:cNvSpPr>
          <p:nvPr/>
        </p:nvSpPr>
        <p:spPr bwMode="auto">
          <a:xfrm flipH="1">
            <a:off x="991133" y="4572438"/>
            <a:ext cx="68480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Alice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 flipH="1">
            <a:off x="6690458" y="4533526"/>
            <a:ext cx="5950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i="0" dirty="0" smtClean="0">
                <a:latin typeface="Helvetica" pitchFamily="34" charset="0"/>
              </a:rPr>
              <a:t>Bob</a:t>
            </a:r>
            <a:endParaRPr lang="en-US" i="0" dirty="0">
              <a:latin typeface="Helvetica" pitchFamily="34" charset="0"/>
            </a:endParaRP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943729" y="4951527"/>
            <a:ext cx="1137127" cy="338554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6523075" y="4889914"/>
            <a:ext cx="1137127" cy="338554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sz="1600" i="0" dirty="0">
              <a:solidFill>
                <a:schemeClr val="tx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15562" y="4905683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65728" y="4844074"/>
            <a:ext cx="344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3333CC"/>
                </a:solidFill>
              </a:rPr>
              <a:t>X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321295" y="4192320"/>
            <a:ext cx="1401282" cy="491955"/>
            <a:chOff x="2321295" y="4192320"/>
            <a:chExt cx="1401282" cy="491955"/>
          </a:xfrm>
        </p:grpSpPr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H="1" flipV="1">
              <a:off x="2321295" y="4684275"/>
              <a:ext cx="13426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321296" y="4192320"/>
              <a:ext cx="140128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/>
                <a:t>uniform</a:t>
              </a:r>
              <a:r>
                <a:rPr lang="en-US" altLang="zh-TW" sz="2400" dirty="0" smtClean="0">
                  <a:solidFill>
                    <a:schemeClr val="tx2"/>
                  </a:solidFill>
                </a:rPr>
                <a:t> </a:t>
              </a:r>
              <a:r>
                <a:rPr lang="en-US" altLang="zh-TW" sz="2400" dirty="0" smtClean="0">
                  <a:solidFill>
                    <a:srgbClr val="3333CC"/>
                  </a:solidFill>
                </a:rPr>
                <a:t>Y</a:t>
              </a:r>
              <a:endParaRPr lang="zh-TW" altLang="en-US" sz="2400" dirty="0">
                <a:solidFill>
                  <a:srgbClr val="3333CC"/>
                </a:solidFill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73287" y="5667680"/>
            <a:ext cx="14217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smtClean="0">
                <a:solidFill>
                  <a:srgbClr val="3333CC"/>
                </a:solidFill>
              </a:rPr>
              <a:t>Z=Ext(X,Y)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05554" y="5674165"/>
            <a:ext cx="15729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solidFill>
                  <a:srgbClr val="FF0000"/>
                </a:solidFill>
              </a:rPr>
              <a:t>Z’</a:t>
            </a:r>
            <a:r>
              <a:rPr lang="en-US" altLang="zh-TW" sz="2400" dirty="0" smtClean="0">
                <a:solidFill>
                  <a:srgbClr val="3333CC"/>
                </a:solidFill>
              </a:rPr>
              <a:t>=Ext(X,</a:t>
            </a:r>
            <a:r>
              <a:rPr lang="en-US" altLang="zh-TW" sz="2400" dirty="0" smtClean="0">
                <a:solidFill>
                  <a:srgbClr val="FF0000"/>
                </a:solidFill>
              </a:rPr>
              <a:t>Y’</a:t>
            </a:r>
            <a:r>
              <a:rPr lang="en-US" altLang="zh-TW" sz="2400" dirty="0" smtClean="0">
                <a:solidFill>
                  <a:srgbClr val="3333CC"/>
                </a:solidFill>
              </a:rPr>
              <a:t>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863540" y="3614735"/>
            <a:ext cx="1092328" cy="1472605"/>
            <a:chOff x="3863540" y="4470761"/>
            <a:chExt cx="1092328" cy="1472605"/>
          </a:xfrm>
        </p:grpSpPr>
        <p:grpSp>
          <p:nvGrpSpPr>
            <p:cNvPr id="7" name="群組 27"/>
            <p:cNvGrpSpPr/>
            <p:nvPr/>
          </p:nvGrpSpPr>
          <p:grpSpPr>
            <a:xfrm flipH="1">
              <a:off x="3863540" y="4470761"/>
              <a:ext cx="843315" cy="1353455"/>
              <a:chOff x="8051712" y="3763126"/>
              <a:chExt cx="843315" cy="1353455"/>
            </a:xfrm>
          </p:grpSpPr>
          <p:grpSp>
            <p:nvGrpSpPr>
              <p:cNvPr id="8" name="Group 15"/>
              <p:cNvGrpSpPr/>
              <p:nvPr/>
            </p:nvGrpSpPr>
            <p:grpSpPr>
              <a:xfrm>
                <a:off x="8051712" y="4175522"/>
                <a:ext cx="843315" cy="941059"/>
                <a:chOff x="6131542" y="4051300"/>
                <a:chExt cx="843315" cy="941059"/>
              </a:xfrm>
            </p:grpSpPr>
            <p:pic>
              <p:nvPicPr>
                <p:cNvPr id="11" name="Picture 28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6131542" y="4100694"/>
                  <a:ext cx="843315" cy="891665"/>
                </a:xfrm>
                <a:prstGeom prst="rect">
                  <a:avLst/>
                </a:prstGeom>
                <a:noFill/>
                <a:ln w="9525">
                  <a:noFill/>
                  <a:round/>
                  <a:headEnd/>
                  <a:tailEnd/>
                </a:ln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p:spPr>
            </p:pic>
            <p:sp>
              <p:nvSpPr>
                <p:cNvPr id="12" name="Freeform 29"/>
                <p:cNvSpPr>
                  <a:spLocks/>
                </p:cNvSpPr>
                <p:nvPr/>
              </p:nvSpPr>
              <p:spPr bwMode="auto">
                <a:xfrm>
                  <a:off x="6676377" y="4051300"/>
                  <a:ext cx="86590" cy="191071"/>
                </a:xfrm>
                <a:custGeom>
                  <a:avLst/>
                  <a:gdLst/>
                  <a:ahLst/>
                  <a:cxnLst>
                    <a:cxn ang="0">
                      <a:pos x="0" y="113"/>
                    </a:cxn>
                    <a:cxn ang="0">
                      <a:pos x="96" y="26"/>
                    </a:cxn>
                    <a:cxn ang="0">
                      <a:pos x="105" y="0"/>
                    </a:cxn>
                    <a:cxn ang="0">
                      <a:pos x="105" y="52"/>
                    </a:cxn>
                    <a:cxn ang="0">
                      <a:pos x="43" y="174"/>
                    </a:cxn>
                    <a:cxn ang="0">
                      <a:pos x="0" y="192"/>
                    </a:cxn>
                  </a:cxnLst>
                  <a:rect l="0" t="0" r="r" b="b"/>
                  <a:pathLst>
                    <a:path w="126" h="192">
                      <a:moveTo>
                        <a:pt x="0" y="113"/>
                      </a:moveTo>
                      <a:cubicBezTo>
                        <a:pt x="60" y="92"/>
                        <a:pt x="53" y="66"/>
                        <a:pt x="96" y="26"/>
                      </a:cubicBezTo>
                      <a:cubicBezTo>
                        <a:pt x="99" y="17"/>
                        <a:pt x="96" y="0"/>
                        <a:pt x="105" y="0"/>
                      </a:cubicBezTo>
                      <a:cubicBezTo>
                        <a:pt x="126" y="0"/>
                        <a:pt x="105" y="52"/>
                        <a:pt x="105" y="52"/>
                      </a:cubicBezTo>
                      <a:cubicBezTo>
                        <a:pt x="93" y="97"/>
                        <a:pt x="87" y="148"/>
                        <a:pt x="43" y="174"/>
                      </a:cubicBezTo>
                      <a:cubicBezTo>
                        <a:pt x="30" y="182"/>
                        <a:pt x="14" y="185"/>
                        <a:pt x="0" y="192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  <p:sp>
              <p:nvSpPr>
                <p:cNvPr id="13" name="Freeform 30"/>
                <p:cNvSpPr>
                  <a:spLocks/>
                </p:cNvSpPr>
                <p:nvPr/>
              </p:nvSpPr>
              <p:spPr bwMode="auto">
                <a:xfrm>
                  <a:off x="6365227" y="4080791"/>
                  <a:ext cx="90355" cy="147284"/>
                </a:xfrm>
                <a:custGeom>
                  <a:avLst/>
                  <a:gdLst/>
                  <a:ahLst/>
                  <a:cxnLst>
                    <a:cxn ang="0">
                      <a:pos x="131" y="61"/>
                    </a:cxn>
                    <a:cxn ang="0">
                      <a:pos x="61" y="44"/>
                    </a:cxn>
                    <a:cxn ang="0">
                      <a:pos x="0" y="0"/>
                    </a:cxn>
                    <a:cxn ang="0">
                      <a:pos x="131" y="149"/>
                    </a:cxn>
                  </a:cxnLst>
                  <a:rect l="0" t="0" r="r" b="b"/>
                  <a:pathLst>
                    <a:path w="131" h="149">
                      <a:moveTo>
                        <a:pt x="131" y="61"/>
                      </a:moveTo>
                      <a:cubicBezTo>
                        <a:pt x="119" y="59"/>
                        <a:pt x="76" y="53"/>
                        <a:pt x="61" y="44"/>
                      </a:cubicBezTo>
                      <a:cubicBezTo>
                        <a:pt x="35" y="28"/>
                        <a:pt x="31" y="11"/>
                        <a:pt x="0" y="0"/>
                      </a:cubicBezTo>
                      <a:cubicBezTo>
                        <a:pt x="24" y="69"/>
                        <a:pt x="36" y="149"/>
                        <a:pt x="131" y="149"/>
                      </a:cubicBezTo>
                    </a:path>
                  </a:pathLst>
                </a:custGeom>
                <a:solidFill>
                  <a:srgbClr val="FF0000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CA"/>
                </a:p>
              </p:txBody>
            </p:sp>
          </p:grpSp>
          <p:sp>
            <p:nvSpPr>
              <p:cNvPr id="10" name="Rectangle 17"/>
              <p:cNvSpPr>
                <a:spLocks noChangeArrowheads="1"/>
              </p:cNvSpPr>
              <p:nvPr/>
            </p:nvSpPr>
            <p:spPr bwMode="auto">
              <a:xfrm>
                <a:off x="8194716" y="3763126"/>
                <a:ext cx="58221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i="0" dirty="0" smtClean="0">
                    <a:latin typeface="Helvetica" pitchFamily="34" charset="0"/>
                  </a:rPr>
                  <a:t>Eve</a:t>
                </a:r>
                <a:endParaRPr lang="en-US" i="0" dirty="0">
                  <a:latin typeface="Helvetica" pitchFamily="34" charset="0"/>
                </a:endParaRP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4620520" y="5481701"/>
              <a:ext cx="33534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dirty="0" smtClean="0">
                  <a:solidFill>
                    <a:srgbClr val="3333CC"/>
                  </a:solidFill>
                </a:rPr>
                <a:t>E</a:t>
              </a:r>
              <a:endParaRPr lang="zh-TW" altLang="en-US" sz="24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043272" y="4194245"/>
            <a:ext cx="1342661" cy="491955"/>
            <a:chOff x="5043272" y="4194245"/>
            <a:chExt cx="1342661" cy="491955"/>
          </a:xfrm>
        </p:grpSpPr>
        <p:sp>
          <p:nvSpPr>
            <p:cNvPr id="26" name="Line 29"/>
            <p:cNvSpPr>
              <a:spLocks noChangeShapeType="1"/>
            </p:cNvSpPr>
            <p:nvPr/>
          </p:nvSpPr>
          <p:spPr bwMode="auto">
            <a:xfrm flipH="1" flipV="1">
              <a:off x="5043272" y="4686200"/>
              <a:ext cx="13426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5135871" y="4194245"/>
                  <a:ext cx="9339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zh-TW" sz="2400" dirty="0" smtClean="0">
                      <a:solidFill>
                        <a:srgbClr val="FF0000"/>
                      </a:solidFill>
                    </a:rPr>
                    <a:t>Y’ </a:t>
                  </a:r>
                  <a14:m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a14:m>
                  <a:r>
                    <a:rPr lang="zh-TW" altLang="en-US" sz="2400" dirty="0" smtClean="0">
                      <a:solidFill>
                        <a:srgbClr val="3333CC"/>
                      </a:solidFill>
                    </a:rPr>
                    <a:t> </a:t>
                  </a:r>
                  <a:r>
                    <a:rPr lang="en-US" altLang="zh-TW" sz="2400" dirty="0" smtClean="0">
                      <a:solidFill>
                        <a:srgbClr val="3333CC"/>
                      </a:solidFill>
                    </a:rPr>
                    <a:t>Y</a:t>
                  </a:r>
                  <a:endParaRPr lang="zh-TW" alt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5871" y="4194245"/>
                  <a:ext cx="933974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9740" t="-10526" r="-8442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Box 29"/>
          <p:cNvSpPr txBox="1"/>
          <p:nvPr/>
        </p:nvSpPr>
        <p:spPr>
          <a:xfrm>
            <a:off x="2849312" y="5509596"/>
            <a:ext cx="2908015" cy="10156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chemeClr val="accent6">
                    <a:lumMod val="75000"/>
                  </a:schemeClr>
                </a:solidFill>
              </a:rPr>
              <a:t>Open!</a:t>
            </a:r>
          </a:p>
          <a:p>
            <a:pPr algn="ctr"/>
            <a:r>
              <a:rPr lang="en-US" altLang="zh-TW" sz="2800" b="1" dirty="0" smtClean="0">
                <a:solidFill>
                  <a:schemeClr val="accent6">
                    <a:lumMod val="75000"/>
                  </a:schemeClr>
                </a:solidFill>
              </a:rPr>
              <a:t>for quantum </a:t>
            </a:r>
            <a:r>
              <a:rPr lang="en-US" altLang="zh-TW" sz="2800" b="1" dirty="0" smtClean="0">
                <a:solidFill>
                  <a:srgbClr val="3333CC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85362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3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32" y="274638"/>
            <a:ext cx="8999316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Cryptography w/ </a:t>
            </a:r>
            <a:r>
              <a:rPr lang="en-US" altLang="zh-TW" dirty="0" smtClean="0"/>
              <a:t>Imperfect Randomness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72875"/>
                <a:ext cx="8229600" cy="512127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Strong impossibility </a:t>
                </a:r>
                <a:r>
                  <a:rPr lang="en-US" altLang="zh-TW" sz="2400" dirty="0" smtClean="0">
                    <a:solidFill>
                      <a:srgbClr val="0070C0"/>
                    </a:solidFill>
                  </a:rPr>
                  <a:t>[DOPS04]</a:t>
                </a:r>
                <a:endParaRPr lang="en-US" altLang="zh-TW" sz="2800" dirty="0" smtClean="0">
                  <a:solidFill>
                    <a:srgbClr val="0070C0"/>
                  </a:solidFill>
                </a:endParaRPr>
              </a:p>
              <a:p>
                <a:pPr lvl="1"/>
                <a:r>
                  <a:rPr lang="en-US" altLang="zh-TW" sz="2400" dirty="0" smtClean="0"/>
                  <a:t>Encryption, commitment, two-party computation, etc.</a:t>
                </a:r>
              </a:p>
              <a:p>
                <a:r>
                  <a:rPr lang="en-US" altLang="zh-TW" sz="2800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solidFill>
                          <a:srgbClr val="33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2800" dirty="0" smtClean="0">
                    <a:solidFill>
                      <a:srgbClr val="3333CC"/>
                    </a:solidFill>
                  </a:rPr>
                  <a:t> 2</a:t>
                </a:r>
                <a:r>
                  <a:rPr lang="en-US" altLang="zh-TW" sz="2800" dirty="0" smtClean="0"/>
                  <a:t> </a:t>
                </a:r>
                <a:r>
                  <a:rPr lang="en-US" altLang="zh-TW" sz="2800" dirty="0" err="1" smtClean="0"/>
                  <a:t>indep</a:t>
                </a:r>
                <a:r>
                  <a:rPr lang="en-US" altLang="zh-TW" sz="2800" dirty="0" smtClean="0"/>
                  <a:t> sources available </a:t>
                </a:r>
                <a14:m>
                  <m:oMath xmlns:m="http://schemas.openxmlformats.org/officeDocument/2006/math">
                    <m:r>
                      <a:rPr lang="en-US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sz="2800" dirty="0" smtClean="0"/>
                  <a:t> multi-source Ext </a:t>
                </a:r>
              </a:p>
              <a:p>
                <a:r>
                  <a:rPr lang="en-US" altLang="zh-TW" sz="2800" dirty="0" smtClean="0"/>
                  <a:t>Multi-party computation </a:t>
                </a:r>
                <a:endParaRPr lang="en-US" altLang="zh-TW" sz="2800" dirty="0" smtClean="0"/>
              </a:p>
              <a:p>
                <a:pPr lvl="1"/>
                <a:r>
                  <a:rPr lang="en-US" altLang="zh-TW" sz="2400" dirty="0" smtClean="0"/>
                  <a:t>Each party has </a:t>
                </a:r>
                <a:r>
                  <a:rPr lang="en-US" altLang="zh-TW" sz="2400" i="1" dirty="0" smtClean="0"/>
                  <a:t>single</a:t>
                </a:r>
                <a:r>
                  <a:rPr lang="en-US" altLang="zh-TW" sz="2400" dirty="0" smtClean="0"/>
                  <a:t> privacy weak source</a:t>
                </a:r>
              </a:p>
              <a:p>
                <a:pPr lvl="1"/>
                <a:r>
                  <a:rPr lang="en-US" altLang="zh-TW" sz="2400" dirty="0" smtClean="0"/>
                  <a:t>Classically, solve by 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network extractor</a:t>
                </a:r>
                <a:r>
                  <a:rPr lang="en-US" altLang="zh-TW" sz="2400" dirty="0" smtClean="0"/>
                  <a:t> protocols</a:t>
                </a:r>
              </a:p>
              <a:p>
                <a:pPr lvl="2"/>
                <a:r>
                  <a:rPr lang="en-US" altLang="zh-TW" dirty="0" smtClean="0"/>
                  <a:t>Weak feasibility in I.T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setting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[KLRZ08]</a:t>
                </a:r>
              </a:p>
              <a:p>
                <a:pPr lvl="2"/>
                <a:r>
                  <a:rPr lang="en-US" altLang="zh-TW" dirty="0" smtClean="0"/>
                  <a:t>Strong feasibility in comp. setting </a:t>
                </a:r>
                <a:r>
                  <a:rPr lang="en-US" altLang="zh-TW" sz="2000" dirty="0" smtClean="0">
                    <a:solidFill>
                      <a:srgbClr val="0070C0"/>
                    </a:solidFill>
                  </a:rPr>
                  <a:t>[KLRZ08,KLR09]</a:t>
                </a:r>
              </a:p>
              <a:p>
                <a:pPr lvl="1"/>
                <a:r>
                  <a:rPr lang="en-US" altLang="zh-TW" sz="2400" dirty="0" smtClean="0">
                    <a:solidFill>
                      <a:srgbClr val="FF0000"/>
                    </a:solidFill>
                  </a:rPr>
                  <a:t>Quantum-proof network extractors </a:t>
                </a:r>
              </a:p>
              <a:p>
                <a:pPr lvl="2"/>
                <a:r>
                  <a:rPr lang="en-US" altLang="zh-TW" dirty="0" smtClean="0"/>
                  <a:t>We made some progress, but widely open</a:t>
                </a:r>
                <a:endParaRPr lang="en-US" altLang="zh-TW" sz="2000" dirty="0" smtClean="0"/>
              </a:p>
              <a:p>
                <a:pPr lvl="1"/>
                <a:endParaRPr lang="en-US" altLang="zh-TW" sz="2400" dirty="0" smtClean="0"/>
              </a:p>
              <a:p>
                <a:pPr lvl="1"/>
                <a:endParaRPr lang="zh-TW" alt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72875"/>
                <a:ext cx="8229600" cy="5121275"/>
              </a:xfrm>
              <a:blipFill rotWithShape="0">
                <a:blip r:embed="rId3"/>
                <a:stretch>
                  <a:fillRect l="-1333" t="-11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0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32" y="274638"/>
            <a:ext cx="8559478" cy="1143000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QCrypt</a:t>
            </a:r>
            <a:r>
              <a:rPr lang="en-US" altLang="zh-TW" dirty="0" smtClean="0"/>
              <a:t> against</a:t>
            </a:r>
            <a:r>
              <a:rPr lang="en-US" altLang="zh-TW" dirty="0" smtClean="0"/>
              <a:t> Quantum Side Info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Significant gap in our understanding between cryptography against classical vs. quantum side info</a:t>
            </a:r>
          </a:p>
          <a:p>
            <a:pPr lvl="1"/>
            <a:r>
              <a:rPr lang="en-US" altLang="zh-TW" sz="2400" dirty="0" smtClean="0"/>
              <a:t>Seeded and multi-source extractors</a:t>
            </a:r>
          </a:p>
          <a:p>
            <a:pPr lvl="1"/>
            <a:r>
              <a:rPr lang="en-US" altLang="zh-TW" sz="2400" dirty="0" smtClean="0"/>
              <a:t>Privacy amplification, non-malleable extractors</a:t>
            </a:r>
          </a:p>
          <a:p>
            <a:pPr lvl="1"/>
            <a:r>
              <a:rPr lang="en-US" altLang="zh-TW" sz="2400" dirty="0" smtClean="0"/>
              <a:t>Network extractors</a:t>
            </a:r>
          </a:p>
          <a:p>
            <a:pPr lvl="1"/>
            <a:r>
              <a:rPr lang="en-US" altLang="zh-TW" sz="2400" dirty="0" smtClean="0"/>
              <a:t>Leakage-resilient cryptography, </a:t>
            </a:r>
            <a:r>
              <a:rPr lang="en-US" altLang="zh-TW" sz="2400" dirty="0" err="1" smtClean="0"/>
              <a:t>etc</a:t>
            </a: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r>
              <a:rPr lang="en-US" altLang="zh-TW" sz="2800" dirty="0" smtClean="0"/>
              <a:t>It’s time to bridge the gap!</a:t>
            </a:r>
            <a:endParaRPr lang="en-US" altLang="zh-TW" sz="2800" dirty="0" smtClean="0"/>
          </a:p>
          <a:p>
            <a:pPr lvl="1"/>
            <a:endParaRPr lang="zh-TW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7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Thank you! Questions?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977" y="2796828"/>
            <a:ext cx="2022676" cy="202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6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9363"/>
            <a:ext cx="8229600" cy="73951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Self Composition </a:t>
            </a:r>
            <a:r>
              <a:rPr lang="en-US" sz="2800" b="0" dirty="0" smtClean="0">
                <a:solidFill>
                  <a:srgbClr val="0070C0"/>
                </a:solidFill>
                <a:effectLst/>
              </a:rPr>
              <a:t>[</a:t>
            </a:r>
            <a:r>
              <a:rPr lang="en-US" sz="2800" b="0" dirty="0" smtClean="0">
                <a:solidFill>
                  <a:srgbClr val="0070C0"/>
                </a:solidFill>
                <a:effectLst/>
              </a:rPr>
              <a:t>NZ96,SZ99,Zuc97]</a:t>
            </a:r>
            <a:endParaRPr lang="en-US" sz="40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19598" y="1057635"/>
            <a:ext cx="4203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What we have achieved:</a:t>
            </a:r>
            <a:endParaRPr lang="en-US" sz="2800" dirty="0"/>
          </a:p>
        </p:txBody>
      </p:sp>
      <p:sp>
        <p:nvSpPr>
          <p:cNvPr id="37" name="TextBox 36"/>
          <p:cNvSpPr txBox="1"/>
          <p:nvPr/>
        </p:nvSpPr>
        <p:spPr>
          <a:xfrm>
            <a:off x="556250" y="2054983"/>
            <a:ext cx="4033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gives: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558179" y="2971311"/>
            <a:ext cx="408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again:</a:t>
            </a:r>
            <a:endParaRPr lang="en-US" sz="28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441635" y="1556404"/>
            <a:ext cx="7934728" cy="461665"/>
            <a:chOff x="441635" y="1567979"/>
            <a:chExt cx="7934728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1389616" y="1567979"/>
                  <a:ext cx="2776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2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616" y="1567979"/>
                  <a:ext cx="2776081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516" t="-10526" r="-220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5616312" y="1567979"/>
                  <a:ext cx="276005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zh-CN" altLang="en-US" sz="2400" b="1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312" y="1567979"/>
                  <a:ext cx="2760051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311" t="-10526" r="-2649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441635" y="1567979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1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5138" y="2530604"/>
            <a:ext cx="8043893" cy="461665"/>
            <a:chOff x="455138" y="2576904"/>
            <a:chExt cx="8043893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1391546" y="2576904"/>
                  <a:ext cx="38164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 </a:t>
                  </a:r>
                  <a:r>
                    <a:rPr lang="en-US" altLang="zh-CN" sz="2400" b="1" dirty="0" err="1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546" y="2576904"/>
                  <a:ext cx="3816429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396" t="-10526" r="-1597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618242" y="2576904"/>
                  <a:ext cx="28807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2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8242" y="2576904"/>
                  <a:ext cx="2880789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390" t="-10526" r="-2331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/>
            <p:cNvSpPr/>
            <p:nvPr/>
          </p:nvSpPr>
          <p:spPr>
            <a:xfrm>
              <a:off x="455138" y="2576904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2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8288" y="3492268"/>
            <a:ext cx="8022672" cy="461665"/>
            <a:chOff x="478288" y="3538568"/>
            <a:chExt cx="8022672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393475" y="3538568"/>
                  <a:ext cx="427168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 log </a:t>
                  </a:r>
                  <a:r>
                    <a:rPr lang="en-US" altLang="zh-CN" sz="2400" b="1" dirty="0" err="1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75" y="3538568"/>
                  <a:ext cx="4271682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286" t="-10526" r="-1286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5620171" y="3538568"/>
                  <a:ext cx="28807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3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71" y="3538568"/>
                  <a:ext cx="2880789" cy="46166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3383" t="-10526" r="-2114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478288" y="3538568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3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2074" y="4497255"/>
            <a:ext cx="5898399" cy="523220"/>
            <a:chOff x="590971" y="5770468"/>
            <a:chExt cx="5898399" cy="523220"/>
          </a:xfrm>
        </p:grpSpPr>
        <p:sp>
          <p:nvSpPr>
            <p:cNvPr id="53" name="TextBox 52"/>
            <p:cNvSpPr txBox="1"/>
            <p:nvPr/>
          </p:nvSpPr>
          <p:spPr>
            <a:xfrm>
              <a:off x="590971" y="5770468"/>
              <a:ext cx="43937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Idea: </a:t>
              </a:r>
              <a:r>
                <a:rPr lang="en-US" sz="2800" b="1" dirty="0" smtClean="0">
                  <a:solidFill>
                    <a:srgbClr val="3333CC"/>
                  </a:solidFill>
                </a:rPr>
                <a:t>Ext</a:t>
              </a:r>
              <a:r>
                <a:rPr lang="en-US" sz="2800" b="1" baseline="-25000" dirty="0" smtClean="0">
                  <a:solidFill>
                    <a:srgbClr val="3333CC"/>
                  </a:solidFill>
                </a:rPr>
                <a:t>2</a:t>
              </a:r>
              <a:r>
                <a:rPr lang="en-US" sz="2800" dirty="0" smtClean="0"/>
                <a:t> use </a:t>
              </a:r>
              <a:r>
                <a:rPr lang="en-US" sz="2800" b="1" dirty="0" smtClean="0">
                  <a:solidFill>
                    <a:srgbClr val="3333CC"/>
                  </a:solidFill>
                </a:rPr>
                <a:t>Ext</a:t>
              </a:r>
              <a:r>
                <a:rPr lang="en-US" sz="2800" b="1" baseline="-25000" dirty="0" smtClean="0">
                  <a:solidFill>
                    <a:srgbClr val="3333CC"/>
                  </a:solidFill>
                </a:rPr>
                <a:t>1</a:t>
              </a:r>
              <a:r>
                <a:rPr lang="en-US" sz="2800" dirty="0" smtClean="0"/>
                <a:t> to extract </a:t>
              </a:r>
              <a:endParaRPr lang="en-US" sz="2800" b="1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907667" y="5881561"/>
              <a:ext cx="1581703" cy="324184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1134988" y="5169919"/>
            <a:ext cx="5939071" cy="1383863"/>
            <a:chOff x="614129" y="1350272"/>
            <a:chExt cx="7798351" cy="17142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623773" y="1364505"/>
                  <a:ext cx="7788707" cy="495619"/>
                </a:xfrm>
                <a:prstGeom prst="rect">
                  <a:avLst/>
                </a:prstGeom>
                <a:blipFill>
                  <a:blip r:embed="rId10"/>
                  <a:tile tx="0" ty="0" sx="100000" sy="100000" flip="none" algn="tl"/>
                </a:blip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 wrap="square">
                  <a:spAutoFit/>
                </a:bodyPr>
                <a:lstStyle>
                  <a:lvl1pPr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i="1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algn="ctr"/>
                  <a:r>
                    <a:rPr lang="en-US" altLang="zh-CN" i="0" dirty="0" smtClean="0">
                      <a:solidFill>
                        <a:schemeClr val="tx2"/>
                      </a:solidFill>
                    </a:rPr>
                    <a:t>(</a:t>
                  </a:r>
                  <a:r>
                    <a:rPr lang="en-US" altLang="zh-CN" i="0" dirty="0" err="1" smtClean="0">
                      <a:solidFill>
                        <a:schemeClr val="tx2"/>
                      </a:solidFill>
                    </a:rPr>
                    <a:t>n,k</a:t>
                  </a:r>
                  <a:r>
                    <a:rPr lang="en-US" altLang="zh-CN" i="0" dirty="0" smtClean="0">
                      <a:solidFill>
                        <a:schemeClr val="tx2"/>
                      </a:solidFill>
                    </a:rPr>
                    <a:t>=</a:t>
                  </a:r>
                  <a14:m>
                    <m:oMath xmlns:m="http://schemas.openxmlformats.org/officeDocument/2006/math">
                      <m:r>
                        <a:rPr lang="zh-CN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altLang="zh-CN" i="0" dirty="0" smtClean="0">
                      <a:solidFill>
                        <a:schemeClr val="tx2"/>
                      </a:solidFill>
                    </a:rPr>
                    <a:t>n)</a:t>
                  </a:r>
                  <a:r>
                    <a:rPr lang="zh-CN" altLang="en-US" i="0" dirty="0" smtClean="0">
                      <a:solidFill>
                        <a:schemeClr val="tx2"/>
                      </a:solidFill>
                    </a:rPr>
                    <a:t> </a:t>
                  </a:r>
                  <a:r>
                    <a:rPr lang="en-US" altLang="zh-CN" i="0" dirty="0" smtClean="0">
                      <a:solidFill>
                        <a:schemeClr val="tx2"/>
                      </a:solidFill>
                    </a:rPr>
                    <a:t>source</a:t>
                  </a:r>
                  <a:endParaRPr lang="en-US" i="0" dirty="0">
                    <a:solidFill>
                      <a:schemeClr val="tx2"/>
                    </a:solidFill>
                  </a:endParaRPr>
                </a:p>
              </p:txBody>
            </p:sp>
          </mc:Choice>
          <mc:Fallback>
            <p:sp>
              <p:nvSpPr>
                <p:cNvPr id="62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3773" y="1364505"/>
                  <a:ext cx="7788707" cy="495619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t="-4167" b="-19444"/>
                  </a:stretch>
                </a:blip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/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Rectangle 62"/>
            <p:cNvSpPr/>
            <p:nvPr/>
          </p:nvSpPr>
          <p:spPr>
            <a:xfrm>
              <a:off x="6018835" y="2743779"/>
              <a:ext cx="251733" cy="31876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35348" y="1364526"/>
              <a:ext cx="846211" cy="461644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924874" y="1360594"/>
              <a:ext cx="747827" cy="473220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881413" y="1356861"/>
              <a:ext cx="747827" cy="475086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318154" y="1360949"/>
              <a:ext cx="747827" cy="473220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674078" y="1364504"/>
              <a:ext cx="687537" cy="469309"/>
            </a:xfrm>
            <a:prstGeom prst="rect">
              <a:avLst/>
            </a:prstGeom>
            <a:blipFill>
              <a:blip r:embed="rId12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627886" y="1350272"/>
              <a:ext cx="724193" cy="489996"/>
            </a:xfrm>
            <a:prstGeom prst="rect">
              <a:avLst/>
            </a:prstGeom>
            <a:blipFill>
              <a:blip r:embed="rId12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03151" y="1350272"/>
              <a:ext cx="372304" cy="489996"/>
            </a:xfrm>
            <a:prstGeom prst="rect">
              <a:avLst/>
            </a:prstGeom>
            <a:blipFill>
              <a:blip r:embed="rId13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14129" y="2246481"/>
              <a:ext cx="3693584" cy="339026"/>
            </a:xfrm>
            <a:prstGeom prst="rect">
              <a:avLst/>
            </a:prstGeom>
            <a:blipFill>
              <a:blip r:embed="rId9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318446" y="2250353"/>
              <a:ext cx="1357008" cy="335154"/>
            </a:xfrm>
            <a:prstGeom prst="rect">
              <a:avLst/>
            </a:prstGeom>
            <a:blipFill>
              <a:blip r:embed="rId12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691833" y="2250353"/>
              <a:ext cx="569091" cy="335154"/>
            </a:xfrm>
            <a:prstGeom prst="rect">
              <a:avLst/>
            </a:prstGeom>
            <a:blipFill>
              <a:blip r:embed="rId13"/>
              <a:tile tx="0" ty="0" sx="100000" sy="100000" flip="none" algn="tl"/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6439349" y="2745704"/>
              <a:ext cx="189891" cy="31876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011838" y="2734135"/>
              <a:ext cx="670351" cy="32841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672702" y="2736062"/>
              <a:ext cx="1622460" cy="32841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Rectangle 78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14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8167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9363"/>
            <a:ext cx="8229600" cy="739515"/>
          </a:xfrm>
        </p:spPr>
        <p:txBody>
          <a:bodyPr>
            <a:normAutofit/>
          </a:bodyPr>
          <a:lstStyle/>
          <a:p>
            <a:r>
              <a:rPr lang="en-US" sz="4000" dirty="0" smtClean="0"/>
              <a:t>Self Composition </a:t>
            </a:r>
            <a:r>
              <a:rPr lang="en-US" sz="2800" b="0" dirty="0" smtClean="0">
                <a:solidFill>
                  <a:srgbClr val="0070C0"/>
                </a:solidFill>
                <a:effectLst/>
              </a:rPr>
              <a:t>[</a:t>
            </a:r>
            <a:r>
              <a:rPr lang="en-US" sz="2800" b="0" dirty="0" smtClean="0">
                <a:solidFill>
                  <a:srgbClr val="0070C0"/>
                </a:solidFill>
                <a:effectLst/>
              </a:rPr>
              <a:t>NZ96,SZ99,Zuc97]</a:t>
            </a:r>
            <a:endParaRPr lang="en-US" sz="4000" b="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9DF58-EC3F-46D8-AF26-3D8213D2285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19598" y="1057635"/>
            <a:ext cx="42030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smtClean="0"/>
              <a:t>What we have achieved:</a:t>
            </a:r>
            <a:endParaRPr lang="en-US" sz="2800" dirty="0"/>
          </a:p>
        </p:txBody>
      </p:sp>
      <p:sp>
        <p:nvSpPr>
          <p:cNvPr id="37" name="TextBox 36"/>
          <p:cNvSpPr txBox="1"/>
          <p:nvPr/>
        </p:nvSpPr>
        <p:spPr>
          <a:xfrm>
            <a:off x="556250" y="2054983"/>
            <a:ext cx="40330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gives: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558179" y="3700516"/>
            <a:ext cx="5503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 smtClean="0"/>
              <a:t>Self composition</a:t>
            </a:r>
            <a:r>
              <a:rPr lang="en-US" altLang="zh-CN" sz="2800" dirty="0" smtClean="0"/>
              <a:t> </a:t>
            </a:r>
            <a:r>
              <a:rPr lang="en-US" altLang="zh-CN" sz="2800" b="1" dirty="0" smtClean="0">
                <a:solidFill>
                  <a:srgbClr val="3333CC"/>
                </a:solidFill>
              </a:rPr>
              <a:t>s = log*n</a:t>
            </a:r>
            <a:r>
              <a:rPr lang="en-US" altLang="zh-CN" sz="2800" dirty="0" smtClean="0"/>
              <a:t> times:</a:t>
            </a:r>
            <a:endParaRPr lang="en-US" sz="28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441635" y="1556404"/>
            <a:ext cx="7934728" cy="461665"/>
            <a:chOff x="441635" y="1567979"/>
            <a:chExt cx="7934728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1389616" y="1567979"/>
                  <a:ext cx="277608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2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9616" y="1567979"/>
                  <a:ext cx="2776081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516" t="-10526" r="-220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5616312" y="1567979"/>
                  <a:ext cx="276005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zh-CN" altLang="en-US" sz="2400" b="1" i="1" dirty="0" smtClean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312" y="1567979"/>
                  <a:ext cx="2760051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3311" t="-10526" r="-2649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441635" y="1567979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1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5138" y="2530604"/>
            <a:ext cx="8043893" cy="461665"/>
            <a:chOff x="455138" y="2576904"/>
            <a:chExt cx="8043893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1391546" y="2576904"/>
                  <a:ext cx="38164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 </a:t>
                  </a:r>
                  <a:r>
                    <a:rPr lang="en-US" altLang="zh-CN" sz="2400" b="1" dirty="0" err="1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546" y="2576904"/>
                  <a:ext cx="3816429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2396" t="-10526" r="-1597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5618242" y="2576904"/>
                  <a:ext cx="288078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2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8242" y="2576904"/>
                  <a:ext cx="2880789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3390" t="-10526" r="-2331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Rectangle 43"/>
            <p:cNvSpPr/>
            <p:nvPr/>
          </p:nvSpPr>
          <p:spPr>
            <a:xfrm>
              <a:off x="455138" y="2576904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smtClean="0">
                  <a:solidFill>
                    <a:srgbClr val="3333CC"/>
                  </a:solidFill>
                </a:rPr>
                <a:t>2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78288" y="4221473"/>
            <a:ext cx="8000230" cy="461665"/>
            <a:chOff x="478288" y="3538568"/>
            <a:chExt cx="8000230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393475" y="3538568"/>
                  <a:ext cx="350224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Seed length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log</a:t>
                  </a:r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(s)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n log n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475" y="3538568"/>
                  <a:ext cx="3502241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787" t="-10526" r="-1742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5620171" y="3538568"/>
                  <a:ext cx="285834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 smtClean="0">
                      <a:solidFill>
                        <a:srgbClr val="C00000"/>
                      </a:solidFill>
                    </a:rPr>
                    <a:t>Output length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400" b="1" i="1" dirty="0">
                          <a:solidFill>
                            <a:srgbClr val="3333CC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US" altLang="zh-CN" sz="2400" b="1" baseline="30000" dirty="0" smtClean="0">
                      <a:solidFill>
                        <a:srgbClr val="3333CC"/>
                      </a:solidFill>
                    </a:rPr>
                    <a:t>s</a:t>
                  </a:r>
                  <a:r>
                    <a:rPr lang="en-US" altLang="zh-CN" sz="2400" b="1" dirty="0" smtClean="0">
                      <a:solidFill>
                        <a:srgbClr val="3333CC"/>
                      </a:solidFill>
                    </a:rPr>
                    <a:t> k</a:t>
                  </a:r>
                  <a:endParaRPr lang="en-US" sz="2400" b="1" dirty="0">
                    <a:solidFill>
                      <a:srgbClr val="3333CC"/>
                    </a:solidFill>
                  </a:endParaRPr>
                </a:p>
              </p:txBody>
            </p:sp>
          </mc:Choice>
          <mc:Fallback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171" y="3538568"/>
                  <a:ext cx="2858347" cy="46166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3412" t="-10526" r="-2132" b="-2894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Rectangle 44"/>
            <p:cNvSpPr/>
            <p:nvPr/>
          </p:nvSpPr>
          <p:spPr>
            <a:xfrm>
              <a:off x="478288" y="3538568"/>
              <a:ext cx="7729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 err="1" smtClean="0">
                  <a:solidFill>
                    <a:srgbClr val="3333CC"/>
                  </a:solidFill>
                </a:rPr>
                <a:t>Ext</a:t>
              </a:r>
              <a:r>
                <a:rPr lang="en-US" altLang="zh-CN" sz="2400" b="1" baseline="-25000" dirty="0" err="1" smtClean="0">
                  <a:solidFill>
                    <a:srgbClr val="3333CC"/>
                  </a:solidFill>
                </a:rPr>
                <a:t>s</a:t>
              </a:r>
              <a:r>
                <a:rPr lang="en-US" altLang="zh-CN" sz="2400" b="1" dirty="0" smtClean="0">
                  <a:solidFill>
                    <a:srgbClr val="C00000"/>
                  </a:solidFill>
                </a:rPr>
                <a:t>:</a:t>
              </a:r>
              <a:endParaRPr lang="zh-TW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 21"/>
              <p:cNvSpPr/>
              <p:nvPr/>
            </p:nvSpPr>
            <p:spPr>
              <a:xfrm rot="5400000">
                <a:off x="4200636" y="3038352"/>
                <a:ext cx="909585" cy="82856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800" b="1" i="1" cap="none" spc="0" dirty="0" smtClean="0">
                          <a:ln w="12700">
                            <a:solidFill>
                              <a:schemeClr val="accent1"/>
                            </a:solidFill>
                            <a:prstDash val="solid"/>
                          </a:ln>
                          <a:pattFill prst="pct50">
                            <a:fgClr>
                              <a:schemeClr val="accent1"/>
                            </a:fgClr>
                            <a:bgClr>
                              <a:schemeClr val="accent1">
                                <a:lumMod val="20000"/>
                                <a:lumOff val="80000"/>
                              </a:schemeClr>
                            </a:bgClr>
                          </a:pattFill>
                          <a:effectLst>
                            <a:outerShdw dist="38100" dir="2640000" algn="bl" rotWithShape="0">
                              <a:schemeClr val="accent1"/>
                            </a:outerShdw>
                          </a:effectLst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TW" altLang="en-US" sz="4800" b="1" cap="none" spc="0" dirty="0">
                  <a:ln w="12700">
                    <a:solidFill>
                      <a:schemeClr val="accent1"/>
                    </a:solidFill>
                    <a:prstDash val="solid"/>
                  </a:ln>
                  <a:pattFill prst="pct50">
                    <a:fgClr>
                      <a:schemeClr val="accent1"/>
                    </a:fgClr>
                    <a:bgClr>
                      <a:schemeClr val="accent1">
                        <a:lumMod val="20000"/>
                        <a:lumOff val="80000"/>
                      </a:schemeClr>
                    </a:bgClr>
                  </a:pattFill>
                  <a:effectLst>
                    <a:outerShdw dist="38100" dir="2640000" algn="bl" rotWithShape="0">
                      <a:schemeClr val="accent1"/>
                    </a:outerShdw>
                  </a:effectLst>
                </a:endParaRPr>
              </a:p>
            </p:txBody>
          </p:sp>
        </mc:Choice>
        <mc:Fallback>
          <p:sp>
            <p:nvSpPr>
              <p:cNvPr id="39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200636" y="3038352"/>
                <a:ext cx="909585" cy="82856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984537" y="4633295"/>
            <a:ext cx="1428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= </a:t>
            </a:r>
            <a:r>
              <a:rPr lang="en-US" altLang="zh-CN" sz="2400" b="1" dirty="0" smtClean="0">
                <a:solidFill>
                  <a:srgbClr val="3333CC"/>
                </a:solidFill>
              </a:rPr>
              <a:t>O(log n)</a:t>
            </a:r>
            <a:endParaRPr lang="zh-TW" altLang="en-US" sz="2400" dirty="0">
              <a:solidFill>
                <a:srgbClr val="3333CC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384851" y="4565774"/>
            <a:ext cx="1273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</a:rPr>
              <a:t>need &gt; 1</a:t>
            </a:r>
            <a:endParaRPr lang="zh-TW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25699" y="5515819"/>
                <a:ext cx="29165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smtClean="0">
                    <a:solidFill>
                      <a:schemeClr val="accent3"/>
                    </a:solidFill>
                  </a:rPr>
                  <a:t>Require:</a:t>
                </a:r>
                <a:r>
                  <a:rPr lang="en-US" sz="2800" dirty="0" smtClean="0"/>
                  <a:t> </a:t>
                </a:r>
                <a:r>
                  <a:rPr lang="en-US" sz="2800" b="1" dirty="0" smtClean="0">
                    <a:solidFill>
                      <a:srgbClr val="C00000"/>
                    </a:solidFill>
                  </a:rPr>
                  <a:t>k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b="1" dirty="0" smtClean="0">
                    <a:solidFill>
                      <a:srgbClr val="C00000"/>
                    </a:solidFill>
                  </a:rPr>
                  <a:t> n</a:t>
                </a:r>
                <a:r>
                  <a:rPr lang="en-US" sz="2800" b="1" baseline="30000" dirty="0" smtClean="0">
                    <a:solidFill>
                      <a:srgbClr val="C00000"/>
                    </a:solidFill>
                  </a:rPr>
                  <a:t>1-o(1)</a:t>
                </a:r>
                <a:endParaRPr lang="en-US" sz="2800" b="1" baseline="30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99" y="5515819"/>
                <a:ext cx="2916504" cy="523220"/>
              </a:xfrm>
              <a:prstGeom prst="rect">
                <a:avLst/>
              </a:prstGeom>
              <a:blipFill rotWithShape="0">
                <a:blip r:embed="rId10"/>
                <a:stretch>
                  <a:fillRect l="-4393" t="-11628" r="-1046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ectangle 47"/>
              <p:cNvSpPr/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 smtClean="0">
                    <a:solidFill>
                      <a:prstClr val="black"/>
                    </a:solidFill>
                  </a:rPr>
                  <a:t>Entropy rate: 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zh-TW" altLang="en-US" dirty="0">
                  <a:solidFill>
                    <a:srgbClr val="3333CC"/>
                  </a:solidFill>
                </a:endParaRPr>
              </a:p>
            </p:txBody>
          </p:sp>
        </mc:Choice>
        <mc:Fallback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438" y="833377"/>
                <a:ext cx="2257877" cy="461665"/>
              </a:xfrm>
              <a:prstGeom prst="rect">
                <a:avLst/>
              </a:prstGeom>
              <a:blipFill rotWithShape="0">
                <a:blip r:embed="rId11"/>
                <a:stretch>
                  <a:fillRect l="-4043" t="-10667" b="-30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773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9" grpId="0"/>
      <p:bldP spid="3" grpId="0"/>
      <p:bldP spid="42" grpId="0"/>
      <p:bldP spid="47" grpId="0"/>
    </p:bldLst>
  </p:timing>
</p:sld>
</file>

<file path=ppt/theme/theme1.xml><?xml version="1.0" encoding="utf-8"?>
<a:theme xmlns:a="http://schemas.openxmlformats.org/drawingml/2006/main" name="Office Theme">
  <a:themeElements>
    <a:clrScheme name="EasyPrecis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0000"/>
      </a:accent2>
      <a:accent3>
        <a:srgbClr val="07A916"/>
      </a:accent3>
      <a:accent4>
        <a:srgbClr val="7030A0"/>
      </a:accent4>
      <a:accent5>
        <a:srgbClr val="4BACC6"/>
      </a:accent5>
      <a:accent6>
        <a:srgbClr val="F5814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_Docs_" ma:contentTypeID="0x002AAD0B4B672CD14E849ABCDF65E9B8C3" ma:contentTypeVersion="" ma:contentTypeDescription="" ma:contentTypeScope="" ma:versionID="d48406587f746d3dc3f27f4b6def2add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3e5d9eca856144ce6ca1da655f95619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D" minOccurs="0"/>
                <xsd:element ref="ns1:ContentTypeId" minOccurs="0"/>
                <xsd:element ref="ns1:Author" minOccurs="0"/>
                <xsd:element ref="ns1:Editor" minOccurs="0"/>
                <xsd:element ref="ns1:_HasCopyDestinations" minOccurs="0"/>
                <xsd:element ref="ns1:_CopySource" minOccurs="0"/>
                <xsd:element ref="ns1:_ModerationStatus" minOccurs="0"/>
                <xsd:element ref="ns1:_ModerationComments" minOccurs="0"/>
                <xsd:element ref="ns1:FileRef" minOccurs="0"/>
                <xsd:element ref="ns1:FileDirRef" minOccurs="0"/>
                <xsd:element ref="ns1:Last_x0020_Modified" minOccurs="0"/>
                <xsd:element ref="ns1:Created_x0020_Date" minOccurs="0"/>
                <xsd:element ref="ns1:File_x0020_Size" minOccurs="0"/>
                <xsd:element ref="ns1:FSObjType" minOccurs="0"/>
                <xsd:element ref="ns1:CheckedOutUserId" minOccurs="0"/>
                <xsd:element ref="ns1:IsCheckedoutToLocal" minOccurs="0"/>
                <xsd:element ref="ns1:CheckoutUser" minOccurs="0"/>
                <xsd:element ref="ns1:UniqueId" minOccurs="0"/>
                <xsd:element ref="ns1:ProgId" minOccurs="0"/>
                <xsd:element ref="ns1:ScopeId" minOccurs="0"/>
                <xsd:element ref="ns1:VirusStatus" minOccurs="0"/>
                <xsd:element ref="ns1:CheckedOutTitle" minOccurs="0"/>
                <xsd:element ref="ns1:_CheckinComment" minOccurs="0"/>
                <xsd:element ref="ns1:File_x0020_Type" minOccurs="0"/>
                <xsd:element ref="ns1:HTML_x0020_File_x0020_Type" minOccurs="0"/>
                <xsd:element ref="ns1:_SourceUrl" minOccurs="0"/>
                <xsd:element ref="ns1:_SharedFileIndex" minOccurs="0"/>
                <xsd:element ref="ns1:MetaInfo" minOccurs="0"/>
                <xsd:element ref="ns1:_Level" minOccurs="0"/>
                <xsd:element ref="ns1:_IsCurrentVersion" minOccurs="0"/>
                <xsd:element ref="ns1:owshiddenversion" minOccurs="0"/>
                <xsd:element ref="ns1:_UIVersion" minOccurs="0"/>
                <xsd:element ref="ns1:_UIVersionString" minOccurs="0"/>
                <xsd:element ref="ns1:InstanceID" minOccurs="0"/>
                <xsd:element ref="ns1:Order" minOccurs="0"/>
                <xsd:element ref="ns1:GUID" minOccurs="0"/>
                <xsd:element ref="ns1:WorkflowVersion" minOccurs="0"/>
                <xsd:element ref="ns1:WorkflowInstanceID" minOccurs="0"/>
                <xsd:element ref="ns1:ParentVersionString" minOccurs="0"/>
                <xsd:element ref="ns1:ParentLeafName" minOccurs="0"/>
                <xsd:element ref="ns1:AutoVersionDisabled" minOccurs="0"/>
                <xsd:element ref="ns1:ItemType" minOccurs="0"/>
                <xsd:element ref="ns1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ID" ma:index="0" nillable="true" ma:displayName="ID" ma:internalName="ID" ma:readOnly="true">
      <xsd:simpleType>
        <xsd:restriction base="dms:Unknown"/>
      </xsd:simpleType>
    </xsd:element>
    <xsd:element name="ContentTypeId" ma:index="1" nillable="true" ma:displayName="Content Type ID" ma:hidden="true" ma:internalName="ContentTypeId" ma:readOnly="true">
      <xsd:simpleType>
        <xsd:restriction base="dms:Unknown"/>
      </xsd:simpleType>
    </xsd:element>
    <xsd:element name="Author" ma:index="4" nillable="true" ma:displayName="Created By" ma:list="UserInfo" ma:internalName="Autho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" ma:index="6" nillable="true" ma:displayName="Modified By" ma:list="UserInfo" ma:internalName="Edito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HasCopyDestinations" ma:index="7" nillable="true" ma:displayName="Has Copy Destinations" ma:hidden="true" ma:internalName="_HasCopyDestinations" ma:readOnly="true">
      <xsd:simpleType>
        <xsd:restriction base="dms:Boolean"/>
      </xsd:simpleType>
    </xsd:element>
    <xsd:element name="_CopySource" ma:index="8" nillable="true" ma:displayName="Copy Source" ma:internalName="_CopySource" ma:readOnly="true">
      <xsd:simpleType>
        <xsd:restriction base="dms:Text"/>
      </xsd:simpleType>
    </xsd:element>
    <xsd:element name="_ModerationStatus" ma:index="9" nillable="true" ma:displayName="Approval Status" ma:default="0" ma:hidden="true" ma:internalName="_ModerationStatus" ma:readOnly="true">
      <xsd:simpleType>
        <xsd:restriction base="dms:Unknown"/>
      </xsd:simpleType>
    </xsd:element>
    <xsd:element name="_ModerationComments" ma:index="10" nillable="true" ma:displayName="Approver Comments" ma:hidden="true" ma:internalName="_ModerationComments" ma:readOnly="true">
      <xsd:simpleType>
        <xsd:restriction base="dms:Note"/>
      </xsd:simpleType>
    </xsd:element>
    <xsd:element name="FileRef" ma:index="11" nillable="true" ma:displayName="URL Path" ma:hidden="true" ma:list="Docs" ma:internalName="FileRef" ma:readOnly="true" ma:showField="FullUrl">
      <xsd:simpleType>
        <xsd:restriction base="dms:Lookup"/>
      </xsd:simpleType>
    </xsd:element>
    <xsd:element name="FileDirRef" ma:index="12" nillable="true" ma:displayName="Path" ma:hidden="true" ma:list="Docs" ma:internalName="FileDirRef" ma:readOnly="true" ma:showField="DirName">
      <xsd:simpleType>
        <xsd:restriction base="dms:Lookup"/>
      </xsd:simpleType>
    </xsd:element>
    <xsd:element name="Last_x0020_Modified" ma:index="13" nillable="true" ma:displayName="Modified" ma:format="TRUE" ma:hidden="true" ma:list="Docs" ma:internalName="Last_x0020_Modified" ma:readOnly="true" ma:showField="TimeLastModified">
      <xsd:simpleType>
        <xsd:restriction base="dms:Lookup"/>
      </xsd:simpleType>
    </xsd:element>
    <xsd:element name="Created_x0020_Date" ma:index="14" nillable="true" ma:displayName="Created" ma:format="TRUE" ma:hidden="true" ma:list="Docs" ma:internalName="Created_x0020_Date" ma:readOnly="true" ma:showField="TimeCreated">
      <xsd:simpleType>
        <xsd:restriction base="dms:Lookup"/>
      </xsd:simpleType>
    </xsd:element>
    <xsd:element name="File_x0020_Size" ma:index="15" nillable="true" ma:displayName="File Size" ma:format="TRUE" ma:hidden="true" ma:list="Docs" ma:internalName="File_x0020_Size" ma:readOnly="true" ma:showField="SizeInKB">
      <xsd:simpleType>
        <xsd:restriction base="dms:Lookup"/>
      </xsd:simpleType>
    </xsd:element>
    <xsd:element name="FSObjType" ma:index="16" nillable="true" ma:displayName="Item Type" ma:hidden="true" ma:list="Docs" ma:internalName="FSObjType" ma:readOnly="true" ma:showField="FSType">
      <xsd:simpleType>
        <xsd:restriction base="dms:Lookup"/>
      </xsd:simpleType>
    </xsd:element>
    <xsd:element name="CheckedOutUserId" ma:index="18" nillable="true" ma:displayName="ID of the User who has the item Checked Out" ma:hidden="true" ma:list="Docs" ma:internalName="CheckedOutUserId" ma:readOnly="true" ma:showField="CheckoutUserId">
      <xsd:simpleType>
        <xsd:restriction base="dms:Lookup"/>
      </xsd:simpleType>
    </xsd:element>
    <xsd:element name="IsCheckedoutToLocal" ma:index="19" nillable="true" ma:displayName="Is Checked out to local" ma:hidden="true" ma:list="Docs" ma:internalName="IsCheckedoutToLocal" ma:readOnly="true" ma:showField="IsCheckoutToLocal">
      <xsd:simpleType>
        <xsd:restriction base="dms:Lookup"/>
      </xsd:simpleType>
    </xsd:element>
    <xsd:element name="CheckoutUser" ma:index="20" nillable="true" ma:displayName="Checked Out To" ma:list="UserInfo" ma:internalName="CheckoutUse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UniqueId" ma:index="22" nillable="true" ma:displayName="Unique Id" ma:hidden="true" ma:list="Docs" ma:internalName="UniqueId" ma:readOnly="true" ma:showField="UniqueId">
      <xsd:simpleType>
        <xsd:restriction base="dms:Lookup"/>
      </xsd:simpleType>
    </xsd:element>
    <xsd:element name="ProgId" ma:index="23" nillable="true" ma:displayName="ProgId" ma:hidden="true" ma:list="Docs" ma:internalName="ProgId" ma:readOnly="true" ma:showField="ProgId">
      <xsd:simpleType>
        <xsd:restriction base="dms:Lookup"/>
      </xsd:simpleType>
    </xsd:element>
    <xsd:element name="ScopeId" ma:index="24" nillable="true" ma:displayName="ScopeId" ma:hidden="true" ma:list="Docs" ma:internalName="ScopeId" ma:readOnly="true" ma:showField="ScopeId">
      <xsd:simpleType>
        <xsd:restriction base="dms:Lookup"/>
      </xsd:simpleType>
    </xsd:element>
    <xsd:element name="VirusStatus" ma:index="25" nillable="true" ma:displayName="Virus Status" ma:format="TRUE" ma:hidden="true" ma:list="Docs" ma:internalName="VirusStatus" ma:readOnly="true" ma:showField="Size">
      <xsd:simpleType>
        <xsd:restriction base="dms:Lookup"/>
      </xsd:simpleType>
    </xsd:element>
    <xsd:element name="CheckedOutTitle" ma:index="26" nillable="true" ma:displayName="Checked Out To" ma:format="TRUE" ma:hidden="true" ma:list="Docs" ma:internalName="CheckedOutTitle" ma:readOnly="true" ma:showField="CheckedOutTitle">
      <xsd:simpleType>
        <xsd:restriction base="dms:Lookup"/>
      </xsd:simpleType>
    </xsd:element>
    <xsd:element name="_CheckinComment" ma:index="27" nillable="true" ma:displayName="Check In Comment" ma:format="TRUE" ma:list="Docs" ma:internalName="_CheckinComment" ma:readOnly="true" ma:showField="CheckinComment">
      <xsd:simpleType>
        <xsd:restriction base="dms:Lookup"/>
      </xsd:simpleType>
    </xsd:element>
    <xsd:element name="File_x0020_Type" ma:index="31" nillable="true" ma:displayName="File Type" ma:hidden="true" ma:internalName="File_x0020_Type" ma:readOnly="true">
      <xsd:simpleType>
        <xsd:restriction base="dms:Text"/>
      </xsd:simpleType>
    </xsd:element>
    <xsd:element name="HTML_x0020_File_x0020_Type" ma:index="32" nillable="true" ma:displayName="HTML File Type" ma:hidden="true" ma:internalName="HTML_x0020_File_x0020_Type" ma:readOnly="true">
      <xsd:simpleType>
        <xsd:restriction base="dms:Text"/>
      </xsd:simpleType>
    </xsd:element>
    <xsd:element name="_SourceUrl" ma:index="33" nillable="true" ma:displayName="Source Url" ma:hidden="true" ma:internalName="_SourceUrl">
      <xsd:simpleType>
        <xsd:restriction base="dms:Text"/>
      </xsd:simpleType>
    </xsd:element>
    <xsd:element name="_SharedFileIndex" ma:index="34" nillable="true" ma:displayName="Shared File Index" ma:hidden="true" ma:internalName="_SharedFileIndex">
      <xsd:simpleType>
        <xsd:restriction base="dms:Text"/>
      </xsd:simpleType>
    </xsd:element>
    <xsd:element name="MetaInfo" ma:index="44" nillable="true" ma:displayName="Property Bag" ma:hidden="true" ma:list="Docs" ma:internalName="MetaInfo" ma:showField="MetaInfo">
      <xsd:simpleType>
        <xsd:restriction base="dms:Lookup"/>
      </xsd:simpleType>
    </xsd:element>
    <xsd:element name="_Level" ma:index="45" nillable="true" ma:displayName="Level" ma:hidden="true" ma:internalName="_Level" ma:readOnly="true">
      <xsd:simpleType>
        <xsd:restriction base="dms:Unknown"/>
      </xsd:simpleType>
    </xsd:element>
    <xsd:element name="_IsCurrentVersion" ma:index="46" nillable="true" ma:displayName="Is Current Version" ma:hidden="true" ma:internalName="_IsCurrentVersion" ma:readOnly="true">
      <xsd:simpleType>
        <xsd:restriction base="dms:Boolean"/>
      </xsd:simpleType>
    </xsd:element>
    <xsd:element name="owshiddenversion" ma:index="50" nillable="true" ma:displayName="owshiddenversion" ma:hidden="true" ma:internalName="owshiddenversion" ma:readOnly="true">
      <xsd:simpleType>
        <xsd:restriction base="dms:Unknown"/>
      </xsd:simpleType>
    </xsd:element>
    <xsd:element name="_UIVersion" ma:index="51" nillable="true" ma:displayName="UI Version" ma:hidden="true" ma:internalName="_UIVersion" ma:readOnly="true">
      <xsd:simpleType>
        <xsd:restriction base="dms:Unknown"/>
      </xsd:simpleType>
    </xsd:element>
    <xsd:element name="_UIVersionString" ma:index="52" nillable="true" ma:displayName="Version" ma:internalName="_UIVersionString" ma:readOnly="true">
      <xsd:simpleType>
        <xsd:restriction base="dms:Text"/>
      </xsd:simpleType>
    </xsd:element>
    <xsd:element name="InstanceID" ma:index="53" nillable="true" ma:displayName="Instance ID" ma:hidden="true" ma:internalName="InstanceID" ma:readOnly="true">
      <xsd:simpleType>
        <xsd:restriction base="dms:Unknown"/>
      </xsd:simpleType>
    </xsd:element>
    <xsd:element name="Order" ma:index="54" nillable="true" ma:displayName="Order" ma:hidden="true" ma:internalName="Order">
      <xsd:simpleType>
        <xsd:restriction base="dms:Number"/>
      </xsd:simpleType>
    </xsd:element>
    <xsd:element name="GUID" ma:index="55" nillable="true" ma:displayName="GUID" ma:hidden="true" ma:internalName="GUID" ma:readOnly="true">
      <xsd:simpleType>
        <xsd:restriction base="dms:Unknown"/>
      </xsd:simpleType>
    </xsd:element>
    <xsd:element name="WorkflowVersion" ma:index="56" nillable="true" ma:displayName="Workflow Version" ma:hidden="true" ma:internalName="WorkflowVersion" ma:readOnly="true">
      <xsd:simpleType>
        <xsd:restriction base="dms:Unknown"/>
      </xsd:simpleType>
    </xsd:element>
    <xsd:element name="WorkflowInstanceID" ma:index="57" nillable="true" ma:displayName="Workflow Instance ID" ma:hidden="true" ma:internalName="WorkflowInstanceID" ma:readOnly="true">
      <xsd:simpleType>
        <xsd:restriction base="dms:Unknown"/>
      </xsd:simpleType>
    </xsd:element>
    <xsd:element name="ParentVersionString" ma:index="58" nillable="true" ma:displayName="Source Version (Converted Document)" ma:hidden="true" ma:list="Docs" ma:internalName="ParentVersionString" ma:readOnly="true" ma:showField="ParentVersionString">
      <xsd:simpleType>
        <xsd:restriction base="dms:Lookup"/>
      </xsd:simpleType>
    </xsd:element>
    <xsd:element name="ParentLeafName" ma:index="59" nillable="true" ma:displayName="Source Name (Converted Document)" ma:hidden="true" ma:list="Docs" ma:internalName="ParentLeafName" ma:readOnly="true" ma:showField="ParentLeafName">
      <xsd:simpleType>
        <xsd:restriction base="dms:Lookup"/>
      </xsd:simpleType>
    </xsd:element>
    <xsd:element name="AutoVersionDisabled" ma:index="60" nillable="true" ma:displayName="AutoVersionDisabled" ma:default="FALSE" ma:hidden="true" ma:internalName="AutoVersionDisabled">
      <xsd:simpleType>
        <xsd:restriction base="dms:Boolean"/>
      </xsd:simpleType>
    </xsd:element>
    <xsd:element name="ItemType" ma:index="61" nillable="true" ma:displayName="ItemType" ma:default="1" ma:hidden="true" ma:internalName="ItemType">
      <xsd:simpleType>
        <xsd:restriction base="dms:Unknown"/>
      </xsd:simpleType>
    </xsd:element>
    <xsd:element name="Description" ma:index="62" nillable="true" ma:displayName="Description" ma:hidden="true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" ma:displayName="Content Type" ma:readOnly="tru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ContentTypeId xmlns="http://schemas.microsoft.com/sharepoint/v3" xsi:nil="true"/>
    <_SourceUrl xmlns="http://schemas.microsoft.com/sharepoint/v3" xsi:nil="true"/>
    <AutoVersionDisabled xmlns="http://schemas.microsoft.com/sharepoint/v3" xsi:nil="true"/>
    <ItemType xmlns="http://schemas.microsoft.com/sharepoint/v3" xsi:nil="true"/>
    <Order xmlns="http://schemas.microsoft.com/sharepoint/v3" xsi:nil="true"/>
    <_SharedFileIndex xmlns="http://schemas.microsoft.com/sharepoint/v3" xsi:nil="true"/>
    <MetaInfo xmlns="http://schemas.microsoft.com/sharepoint/v3" xsi:nil="true"/>
    <Description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72EA27F-464E-42C8-8883-12CCA4509D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C15D47FC-4BAF-4FD8-8055-E02D7BB930D5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37752</TotalTime>
  <Words>2587</Words>
  <Application>Microsoft Office PowerPoint</Application>
  <PresentationFormat>On-screen Show (4:3)</PresentationFormat>
  <Paragraphs>548</Paragraphs>
  <Slides>35</Slides>
  <Notes>31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宋体</vt:lpstr>
      <vt:lpstr>新細明體</vt:lpstr>
      <vt:lpstr>Arial</vt:lpstr>
      <vt:lpstr>Calibri</vt:lpstr>
      <vt:lpstr>Cambria Math</vt:lpstr>
      <vt:lpstr>Helvetica</vt:lpstr>
      <vt:lpstr>Symbol</vt:lpstr>
      <vt:lpstr>Times New Roman</vt:lpstr>
      <vt:lpstr>Office Theme</vt:lpstr>
      <vt:lpstr>Randomness Extraction Beyond  the Classical World</vt:lpstr>
      <vt:lpstr>Original Motivation from 90’s</vt:lpstr>
      <vt:lpstr>Randomness Extraction Paradigm</vt:lpstr>
      <vt:lpstr>Classical Seeded Extractors [NZ96]</vt:lpstr>
      <vt:lpstr>Pervasive Applications</vt:lpstr>
      <vt:lpstr>Privacy Amplification [BBR88]</vt:lpstr>
      <vt:lpstr>Handle Side Information</vt:lpstr>
      <vt:lpstr>Quantum-Proof Strong Extractors</vt:lpstr>
      <vt:lpstr>Entropy &amp; Distance: Operational Def.</vt:lpstr>
      <vt:lpstr>What Do We Know?</vt:lpstr>
      <vt:lpstr>Our Results [CW15]</vt:lpstr>
      <vt:lpstr>Quantum-proof Multi-source Ext</vt:lpstr>
      <vt:lpstr>What If We Don’t Have Uniform Seed?</vt:lpstr>
      <vt:lpstr>Privacy Amp. w/o Perfect Randomness</vt:lpstr>
      <vt:lpstr>Quantum-Proof Multi-source Ext</vt:lpstr>
      <vt:lpstr>IA &amp; BS Model for Two-sources [KK12] </vt:lpstr>
      <vt:lpstr>Our Results [CLW15]</vt:lpstr>
      <vt:lpstr>Physical Randomness Extractors</vt:lpstr>
      <vt:lpstr>What If We Are Paranoid about Independence Assumption?</vt:lpstr>
      <vt:lpstr>What If We Are Paranoid about Independence Assumption?</vt:lpstr>
      <vt:lpstr>Physical Randomness Extractor (PRE)</vt:lpstr>
      <vt:lpstr>Our Explicit Construction of Quantum-proof Seeded Extractor</vt:lpstr>
      <vt:lpstr>Block Sampling &amp; Extraction [NZ96,SZ99,Zuc97]</vt:lpstr>
      <vt:lpstr>Block Sampling &amp; Extraction [NZ96,SZ99,Zuc97]</vt:lpstr>
      <vt:lpstr>Self Composition [NZ96,SZ99,Zuc97]</vt:lpstr>
      <vt:lpstr>Win-win argument</vt:lpstr>
      <vt:lpstr>Controlling the Parameters</vt:lpstr>
      <vt:lpstr>Summary</vt:lpstr>
      <vt:lpstr>Open Questions</vt:lpstr>
      <vt:lpstr>Privacy Amplification with  Man-in-the-Middle (MIM) Adversary</vt:lpstr>
      <vt:lpstr>Cryptography w/ Imperfect Randomness</vt:lpstr>
      <vt:lpstr>QCrypt against Quantum Side Info</vt:lpstr>
      <vt:lpstr>Thank you! Questions?</vt:lpstr>
      <vt:lpstr>Self Composition [NZ96,SZ99,Zuc97]</vt:lpstr>
      <vt:lpstr>Self Composition [NZ96,SZ99,Zuc97]</vt:lpstr>
    </vt:vector>
  </TitlesOfParts>
  <Company>Cornell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Precise Concurrent Zero Knowledge</dc:title>
  <dc:subject>Zero Knowledge</dc:subject>
  <dc:creator>Dustin Tseng</dc:creator>
  <cp:keywords>Eurocrypt 2008</cp:keywords>
  <dc:description>Presentation for EUROCRYPT 2008</dc:description>
  <cp:lastModifiedBy>Kai-Min Chung</cp:lastModifiedBy>
  <cp:revision>2345</cp:revision>
  <dcterms:created xsi:type="dcterms:W3CDTF">2009-10-01T20:06:34Z</dcterms:created>
  <dcterms:modified xsi:type="dcterms:W3CDTF">2015-09-29T01:42:53Z</dcterms:modified>
  <cp:category>Cryptography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ObjectUpdateEventProcessedVersion">
    <vt:lpwstr>32.0</vt:lpwstr>
  </property>
</Properties>
</file>