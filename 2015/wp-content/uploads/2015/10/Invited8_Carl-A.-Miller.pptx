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3"/>
  </p:notesMasterIdLst>
  <p:sldIdLst>
    <p:sldId id="498" r:id="rId2"/>
    <p:sldId id="727" r:id="rId3"/>
    <p:sldId id="679" r:id="rId4"/>
    <p:sldId id="663" r:id="rId5"/>
    <p:sldId id="651" r:id="rId6"/>
    <p:sldId id="664" r:id="rId7"/>
    <p:sldId id="728" r:id="rId8"/>
    <p:sldId id="670" r:id="rId9"/>
    <p:sldId id="672" r:id="rId10"/>
    <p:sldId id="730" r:id="rId11"/>
    <p:sldId id="731" r:id="rId12"/>
    <p:sldId id="673" r:id="rId13"/>
    <p:sldId id="675" r:id="rId14"/>
    <p:sldId id="676" r:id="rId15"/>
    <p:sldId id="677" r:id="rId16"/>
    <p:sldId id="718" r:id="rId17"/>
    <p:sldId id="729" r:id="rId18"/>
    <p:sldId id="685" r:id="rId19"/>
    <p:sldId id="686" r:id="rId20"/>
    <p:sldId id="687" r:id="rId21"/>
    <p:sldId id="723" r:id="rId22"/>
    <p:sldId id="714" r:id="rId23"/>
    <p:sldId id="717" r:id="rId24"/>
    <p:sldId id="715" r:id="rId25"/>
    <p:sldId id="693" r:id="rId26"/>
    <p:sldId id="694" r:id="rId27"/>
    <p:sldId id="690" r:id="rId28"/>
    <p:sldId id="698" r:id="rId29"/>
    <p:sldId id="699" r:id="rId30"/>
    <p:sldId id="709" r:id="rId31"/>
    <p:sldId id="710" r:id="rId32"/>
    <p:sldId id="734" r:id="rId33"/>
    <p:sldId id="735" r:id="rId34"/>
    <p:sldId id="736" r:id="rId35"/>
    <p:sldId id="737" r:id="rId36"/>
    <p:sldId id="738" r:id="rId37"/>
    <p:sldId id="722" r:id="rId38"/>
    <p:sldId id="712" r:id="rId39"/>
    <p:sldId id="713" r:id="rId40"/>
    <p:sldId id="721" r:id="rId41"/>
    <p:sldId id="71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9E0047C-DF77-4D50-8407-6E3D95B1CFAF}">
          <p14:sldIdLst>
            <p14:sldId id="498"/>
            <p14:sldId id="727"/>
            <p14:sldId id="679"/>
            <p14:sldId id="663"/>
            <p14:sldId id="651"/>
            <p14:sldId id="664"/>
            <p14:sldId id="728"/>
            <p14:sldId id="670"/>
            <p14:sldId id="672"/>
            <p14:sldId id="730"/>
            <p14:sldId id="731"/>
            <p14:sldId id="673"/>
            <p14:sldId id="675"/>
            <p14:sldId id="676"/>
            <p14:sldId id="677"/>
            <p14:sldId id="718"/>
            <p14:sldId id="729"/>
            <p14:sldId id="685"/>
            <p14:sldId id="686"/>
            <p14:sldId id="687"/>
            <p14:sldId id="723"/>
            <p14:sldId id="714"/>
            <p14:sldId id="717"/>
            <p14:sldId id="715"/>
            <p14:sldId id="693"/>
            <p14:sldId id="694"/>
            <p14:sldId id="690"/>
            <p14:sldId id="698"/>
            <p14:sldId id="699"/>
            <p14:sldId id="709"/>
            <p14:sldId id="710"/>
            <p14:sldId id="734"/>
            <p14:sldId id="735"/>
            <p14:sldId id="736"/>
            <p14:sldId id="737"/>
            <p14:sldId id="738"/>
            <p14:sldId id="722"/>
            <p14:sldId id="712"/>
            <p14:sldId id="713"/>
            <p14:sldId id="721"/>
            <p14:sldId id="7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80FF"/>
    <a:srgbClr val="FFFFFF"/>
    <a:srgbClr val="FFC8C8"/>
    <a:srgbClr val="FF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60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</inkml:traceFormat>
        <inkml:channelProperties>
          <inkml:channelProperty channel="X" name="resolution" value="326.19775" units="1/cm"/>
          <inkml:channelProperty channel="Y" name="resolution" value="434.78262" units="1/cm"/>
          <inkml:channelProperty channel="F" name="resolution" value="0" units="1/dev"/>
        </inkml:channelProperties>
      </inkml:inkSource>
      <inkml:timestamp xml:id="ts0" timeString="2014-02-02T02:11:54.742"/>
    </inkml:context>
    <inkml:brush xml:id="br0">
      <inkml:brushProperty name="width" value="0.15875" units="cm"/>
      <inkml:brushProperty name="height" value="0.15875" units="cm"/>
      <inkml:brushProperty name="color" value="#7030A0"/>
      <inkml:brushProperty name="fitToCurve" value="1"/>
    </inkml:brush>
  </inkml:definitions>
  <inkml:trace contextRef="#ctx0" brushRef="#br0">9 350 17,'-3'-2'8,"0"2"4,3 0-8,0-3-1,-2 3 1,2 3-3,0-6 0,0 6 2,0-3 1,0 5 2,2-3 1,1 8-3,0 7 1,2 8-2,-3 8 1,3 2 0,1 7 0,-1 8-2,0 5 1,0 2 2,0-3 1,8-6-3,0-6 0,5-12 5,3-15 0,5-20 0,15-23 1,16-21-9,21-23 0,-3-10-1,10-20 0,3-1-6,8 9 1,-16 12-20,-7 7 0,-11 16-5,-5 6 0,-16 16 22,-12 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</inkml:traceFormat>
        <inkml:channelProperties>
          <inkml:channelProperty channel="X" name="resolution" value="326.19775" units="1/cm"/>
          <inkml:channelProperty channel="Y" name="resolution" value="434.78262" units="1/cm"/>
          <inkml:channelProperty channel="F" name="resolution" value="0" units="1/dev"/>
        </inkml:channelProperties>
      </inkml:inkSource>
      <inkml:timestamp xml:id="ts0" timeString="2014-02-02T02:12:12.773"/>
    </inkml:context>
    <inkml:brush xml:id="br0">
      <inkml:brushProperty name="width" value="0.15875" units="cm"/>
      <inkml:brushProperty name="height" value="0.15875" units="cm"/>
      <inkml:brushProperty name="color" value="#7030A0"/>
      <inkml:brushProperty name="fitToCurve" value="1"/>
    </inkml:brush>
  </inkml:definitions>
  <inkml:trace contextRef="#ctx0" brushRef="#br0">4 29 22,'0'-2'11,"-4"-10"5,4 4-10,0 5 0,0-2 1,0 5-5,0-3 0,0 3 3,8 5 1,5 1 0,11 8 1,14 8-2,15 9 0,9 14-5,0 3 1,4 11 0,0 5 0,-3 13-2,-1-4 1,-8-6-1,-5-8 1,-3-8-18,3-15 1,1-16-8,-9-6 0,-4-14 15,-8-9 0</inkml:trace>
  <inkml:trace contextRef="#ctx0" brushRef="#br0" timeOffset="288.0097">806 10 24,'0'-14'12,"33"3"0,-29 8-12,-4 3 5,-8 3 1,-4 5-1,-9 6 0,-16 14 1,-8 11 0,-17 12-6,0 13 1,0 12-1,-25 14 0,8-5-2,-4 2 0,13-14-12,8-9 0,16-13-10,22-17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</inkml:traceFormat>
        <inkml:channelProperties>
          <inkml:channelProperty channel="X" name="resolution" value="326.19775" units="1/cm"/>
          <inkml:channelProperty channel="Y" name="resolution" value="434.78262" units="1/cm"/>
          <inkml:channelProperty channel="F" name="resolution" value="0" units="1/dev"/>
        </inkml:channelProperties>
      </inkml:inkSource>
      <inkml:timestamp xml:id="ts0" timeString="2014-02-02T02:11:54.742"/>
    </inkml:context>
    <inkml:brush xml:id="br0">
      <inkml:brushProperty name="width" value="0.15875" units="cm"/>
      <inkml:brushProperty name="height" value="0.15875" units="cm"/>
      <inkml:brushProperty name="color" value="#7030A0"/>
      <inkml:brushProperty name="fitToCurve" value="1"/>
    </inkml:brush>
  </inkml:definitions>
  <inkml:trace contextRef="#ctx0" brushRef="#br0">9 350 17,'-3'-2'8,"0"2"4,3 0-8,0-3-1,-2 3 1,2 3-3,0-6 0,0 6 2,0-3 1,0 5 2,2-3 1,1 8-3,0 7 1,2 8-2,-3 8 1,3 2 0,1 7 0,-1 8-2,0 5 1,0 2 2,0-3 1,8-6-3,0-6 0,5-12 5,3-15 0,5-20 0,15-23 1,16-21-9,21-23 0,-3-10-1,10-20 0,3-1-6,8 9 1,-16 12-20,-7 7 0,-11 16-5,-5 6 0,-16 16 22,-12 10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</inkml:traceFormat>
        <inkml:channelProperties>
          <inkml:channelProperty channel="X" name="resolution" value="326.19775" units="1/cm"/>
          <inkml:channelProperty channel="Y" name="resolution" value="434.78262" units="1/cm"/>
          <inkml:channelProperty channel="F" name="resolution" value="0" units="1/dev"/>
        </inkml:channelProperties>
      </inkml:inkSource>
      <inkml:timestamp xml:id="ts0" timeString="2014-02-02T02:12:12.773"/>
    </inkml:context>
    <inkml:brush xml:id="br0">
      <inkml:brushProperty name="width" value="0.15875" units="cm"/>
      <inkml:brushProperty name="height" value="0.15875" units="cm"/>
      <inkml:brushProperty name="color" value="#7030A0"/>
      <inkml:brushProperty name="fitToCurve" value="1"/>
    </inkml:brush>
  </inkml:definitions>
  <inkml:trace contextRef="#ctx0" brushRef="#br0">4 29 22,'0'-2'11,"-4"-10"5,4 4-10,0 5 0,0-2 1,0 5-5,0-3 0,0 3 3,8 5 1,5 1 0,11 8 1,14 8-2,15 9 0,9 14-5,0 3 1,4 11 0,0 5 0,-3 13-2,-1-4 1,-8-6-1,-5-8 1,-3-8-18,3-15 1,1-16-8,-9-6 0,-4-14 15,-8-9 0</inkml:trace>
  <inkml:trace contextRef="#ctx0" brushRef="#br0" timeOffset="288.0097">806 10 24,'0'-14'12,"33"3"0,-29 8-12,-4 3 5,-8 3 1,-4 5-1,-9 6 0,-16 14 1,-8 11 0,-17 12-6,0 13 1,0 12-1,-25 14 0,8-5-2,-4 2 0,13-14-12,8-9 0,16-13-10,22-17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</inkml:traceFormat>
        <inkml:channelProperties>
          <inkml:channelProperty channel="X" name="resolution" value="326.19775" units="1/cm"/>
          <inkml:channelProperty channel="Y" name="resolution" value="434.78262" units="1/cm"/>
          <inkml:channelProperty channel="F" name="resolution" value="0" units="1/dev"/>
        </inkml:channelProperties>
      </inkml:inkSource>
      <inkml:timestamp xml:id="ts0" timeString="2014-02-02T02:11:54.742"/>
    </inkml:context>
    <inkml:brush xml:id="br0">
      <inkml:brushProperty name="width" value="0.15875" units="cm"/>
      <inkml:brushProperty name="height" value="0.15875" units="cm"/>
      <inkml:brushProperty name="color" value="#7030A0"/>
      <inkml:brushProperty name="fitToCurve" value="1"/>
    </inkml:brush>
  </inkml:definitions>
  <inkml:trace contextRef="#ctx0" brushRef="#br0">9 350 17,'-3'-2'8,"0"2"4,3 0-8,0-3-1,-2 3 1,2 3-3,0-6 0,0 6 2,0-3 1,0 5 2,2-3 1,1 8-3,0 7 1,2 8-2,-3 8 1,3 2 0,1 7 0,-1 8-2,0 5 1,0 2 2,0-3 1,8-6-3,0-6 0,5-12 5,3-15 0,5-20 0,15-23 1,16-21-9,21-23 0,-3-10-1,10-20 0,3-1-6,8 9 1,-16 12-20,-7 7 0,-11 16-5,-5 6 0,-16 16 22,-12 10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</inkml:traceFormat>
        <inkml:channelProperties>
          <inkml:channelProperty channel="X" name="resolution" value="326.19775" units="1/cm"/>
          <inkml:channelProperty channel="Y" name="resolution" value="434.78262" units="1/cm"/>
          <inkml:channelProperty channel="F" name="resolution" value="0" units="1/dev"/>
        </inkml:channelProperties>
      </inkml:inkSource>
      <inkml:timestamp xml:id="ts0" timeString="2014-02-02T02:12:12.773"/>
    </inkml:context>
    <inkml:brush xml:id="br0">
      <inkml:brushProperty name="width" value="0.15875" units="cm"/>
      <inkml:brushProperty name="height" value="0.15875" units="cm"/>
      <inkml:brushProperty name="color" value="#7030A0"/>
      <inkml:brushProperty name="fitToCurve" value="1"/>
    </inkml:brush>
  </inkml:definitions>
  <inkml:trace contextRef="#ctx0" brushRef="#br0">4 29 22,'0'-2'11,"-4"-10"5,4 4-10,0 5 0,0-2 1,0 5-5,0-3 0,0 3 3,8 5 1,5 1 0,11 8 1,14 8-2,15 9 0,9 14-5,0 3 1,4 11 0,0 5 0,-3 13-2,-1-4 1,-8-6-1,-5-8 1,-3-8-18,3-15 1,1-16-8,-9-6 0,-4-14 15,-8-9 0</inkml:trace>
  <inkml:trace contextRef="#ctx0" brushRef="#br0" timeOffset="288.0097">806 10 24,'0'-14'12,"33"3"0,-29 8-12,-4 3 5,-8 3 1,-4 5-1,-9 6 0,-16 14 1,-8 11 0,-17 12-6,0 13 1,0 12-1,-25 14 0,8-5-2,-4 2 0,13-14-12,8-9 0,16-13-10,22-17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</inkml:traceFormat>
        <inkml:channelProperties>
          <inkml:channelProperty channel="X" name="resolution" value="326.19775" units="1/cm"/>
          <inkml:channelProperty channel="Y" name="resolution" value="434.78262" units="1/cm"/>
          <inkml:channelProperty channel="F" name="resolution" value="0" units="1/dev"/>
        </inkml:channelProperties>
      </inkml:inkSource>
      <inkml:timestamp xml:id="ts0" timeString="2014-02-02T02:11:54.742"/>
    </inkml:context>
    <inkml:brush xml:id="br0">
      <inkml:brushProperty name="width" value="0.15875" units="cm"/>
      <inkml:brushProperty name="height" value="0.15875" units="cm"/>
      <inkml:brushProperty name="color" value="#7030A0"/>
      <inkml:brushProperty name="fitToCurve" value="1"/>
    </inkml:brush>
  </inkml:definitions>
  <inkml:trace contextRef="#ctx0" brushRef="#br0">9 350 17,'-3'-2'8,"0"2"4,3 0-8,0-3-1,-2 3 1,2 3-3,0-6 0,0 6 2,0-3 1,0 5 2,2-3 1,1 8-3,0 7 1,2 8-2,-3 8 1,3 2 0,1 7 0,-1 8-2,0 5 1,0 2 2,0-3 1,8-6-3,0-6 0,5-12 5,3-15 0,5-20 0,15-23 1,16-21-9,21-23 0,-3-10-1,10-20 0,3-1-6,8 9 1,-16 12-20,-7 7 0,-11 16-5,-5 6 0,-16 16 22,-12 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</inkml:traceFormat>
        <inkml:channelProperties>
          <inkml:channelProperty channel="X" name="resolution" value="326.19775" units="1/cm"/>
          <inkml:channelProperty channel="Y" name="resolution" value="434.78262" units="1/cm"/>
          <inkml:channelProperty channel="F" name="resolution" value="0" units="1/dev"/>
        </inkml:channelProperties>
      </inkml:inkSource>
      <inkml:timestamp xml:id="ts0" timeString="2014-02-02T02:12:12.773"/>
    </inkml:context>
    <inkml:brush xml:id="br0">
      <inkml:brushProperty name="width" value="0.15875" units="cm"/>
      <inkml:brushProperty name="height" value="0.15875" units="cm"/>
      <inkml:brushProperty name="color" value="#7030A0"/>
      <inkml:brushProperty name="fitToCurve" value="1"/>
    </inkml:brush>
  </inkml:definitions>
  <inkml:trace contextRef="#ctx0" brushRef="#br0">4 29 22,'0'-2'11,"-4"-10"5,4 4-10,0 5 0,0-2 1,0 5-5,0-3 0,0 3 3,8 5 1,5 1 0,11 8 1,14 8-2,15 9 0,9 14-5,0 3 1,4 11 0,0 5 0,-3 13-2,-1-4 1,-8-6-1,-5-8 1,-3-8-18,3-15 1,1-16-8,-9-6 0,-4-14 15,-8-9 0</inkml:trace>
  <inkml:trace contextRef="#ctx0" brushRef="#br0" timeOffset="288.0097">806 10 24,'0'-14'12,"33"3"0,-29 8-12,-4 3 5,-8 3 1,-4 5-1,-9 6 0,-16 14 1,-8 11 0,-17 12-6,0 13 1,0 12-1,-25 14 0,8-5-2,-4 2 0,13-14-12,8-9 0,16-13-10,22-17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D1C4F-AC2D-4280-AEE0-82A3A3E208E2}" type="datetimeFigureOut">
              <a:rPr lang="en-US" smtClean="0"/>
              <a:t>10/1/2015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0D1C5-7541-49CD-BB7D-7E1B15D460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32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10/1/2015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8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customXml" Target="../ink/ink2.xml"/><Relationship Id="rId4" Type="http://schemas.openxmlformats.org/officeDocument/2006/relationships/image" Target="../media/image10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7" Type="http://schemas.openxmlformats.org/officeDocument/2006/relationships/image" Target="../media/image8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customXml" Target="../ink/ink4.xml"/><Relationship Id="rId4" Type="http://schemas.openxmlformats.org/officeDocument/2006/relationships/image" Target="../media/image10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7" Type="http://schemas.openxmlformats.org/officeDocument/2006/relationships/image" Target="../media/image8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customXml" Target="../ink/ink6.xml"/><Relationship Id="rId4" Type="http://schemas.openxmlformats.org/officeDocument/2006/relationships/image" Target="../media/image10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7" Type="http://schemas.openxmlformats.org/officeDocument/2006/relationships/image" Target="../media/image8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customXml" Target="../ink/ink8.xml"/><Relationship Id="rId4" Type="http://schemas.openxmlformats.org/officeDocument/2006/relationships/image" Target="../media/image100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86730"/>
            <a:ext cx="12105861" cy="7204849"/>
          </a:xfrm>
        </p:spPr>
        <p:txBody>
          <a:bodyPr anchor="t">
            <a:noAutofit/>
          </a:bodyPr>
          <a:lstStyle/>
          <a:p>
            <a:pPr algn="ctr"/>
            <a:r>
              <a:rPr lang="en-US" sz="4600" b="1" dirty="0" smtClean="0"/>
              <a:t>Randomness expansion from untrusted quantum devices</a:t>
            </a:r>
          </a:p>
          <a:p>
            <a:pPr algn="ctr"/>
            <a:r>
              <a:rPr lang="en-US" sz="3600" dirty="0" smtClean="0"/>
              <a:t>Carl A. Miller</a:t>
            </a:r>
          </a:p>
          <a:p>
            <a:pPr algn="ctr"/>
            <a:r>
              <a:rPr lang="en-US" sz="3600" dirty="0" smtClean="0"/>
              <a:t>University of Michigan, Ann Arbor</a:t>
            </a:r>
          </a:p>
          <a:p>
            <a:pPr algn="ctr"/>
            <a:endParaRPr lang="en-US" sz="3600" i="1" dirty="0" smtClean="0"/>
          </a:p>
          <a:p>
            <a:pPr algn="ctr"/>
            <a:endParaRPr lang="en-US" sz="3600" i="1" dirty="0" smtClean="0"/>
          </a:p>
          <a:p>
            <a:r>
              <a:rPr lang="en-US" sz="3000" b="1" dirty="0" smtClean="0"/>
              <a:t>Based </a:t>
            </a:r>
            <a:r>
              <a:rPr lang="en-US" sz="3000" b="1" dirty="0"/>
              <a:t>on </a:t>
            </a:r>
            <a:r>
              <a:rPr lang="en-US" sz="3000" b="1" dirty="0" smtClean="0"/>
              <a:t>“Universal security for randomness expansion from the</a:t>
            </a:r>
          </a:p>
          <a:p>
            <a:r>
              <a:rPr lang="en-US" sz="3000" b="1" dirty="0" smtClean="0"/>
              <a:t>spot-checking protocol”</a:t>
            </a:r>
            <a:r>
              <a:rPr lang="en-US" sz="3000" b="1" dirty="0"/>
              <a:t> </a:t>
            </a:r>
            <a:r>
              <a:rPr lang="en-US" sz="3000" b="1" dirty="0" smtClean="0"/>
              <a:t>(arXiv:1411.6608), with </a:t>
            </a:r>
            <a:r>
              <a:rPr lang="en-US" sz="3000" b="1" dirty="0" err="1" smtClean="0"/>
              <a:t>Yaoyun</a:t>
            </a:r>
            <a:r>
              <a:rPr lang="en-US" sz="3000" b="1" dirty="0" smtClean="0"/>
              <a:t> Shi.</a:t>
            </a:r>
            <a:endParaRPr lang="en-US" sz="3000" b="1" dirty="0"/>
          </a:p>
          <a:p>
            <a:pPr algn="ctr"/>
            <a:endParaRPr lang="en-US" sz="3000" i="1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23521" t="6439" r="8437" b="25863"/>
          <a:stretch/>
        </p:blipFill>
        <p:spPr>
          <a:xfrm>
            <a:off x="7526762" y="5271000"/>
            <a:ext cx="989217" cy="10966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9499" t="5916" r="6554" b="21540"/>
          <a:stretch/>
        </p:blipFill>
        <p:spPr>
          <a:xfrm>
            <a:off x="9799294" y="5270999"/>
            <a:ext cx="961672" cy="109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16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56601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question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48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chemeClr val="bg2"/>
                </a:solidFill>
                <a:cs typeface="Aparajita" panose="020B0604020202020204" pitchFamily="34" charset="0"/>
              </a:rPr>
              <a:t>           </a:t>
            </a:r>
            <a:r>
              <a:rPr lang="en-US" sz="4800" dirty="0" smtClean="0">
                <a:solidFill>
                  <a:schemeClr val="bg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Can we generate </a:t>
            </a:r>
            <a:r>
              <a:rPr lang="en-US" sz="4800" u="sng" dirty="0" smtClean="0">
                <a:solidFill>
                  <a:schemeClr val="bg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provable</a:t>
            </a:r>
            <a:r>
              <a:rPr lang="en-US" sz="4800" dirty="0" smtClean="0">
                <a:solidFill>
                  <a:schemeClr val="bg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800" dirty="0">
                <a:solidFill>
                  <a:schemeClr val="bg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4800" dirty="0" smtClean="0">
                <a:solidFill>
                  <a:schemeClr val="bg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           random numbers?</a:t>
            </a:r>
            <a:endParaRPr lang="en-US" sz="4800" dirty="0">
              <a:solidFill>
                <a:srgbClr val="7030A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4800" dirty="0" smtClean="0">
              <a:solidFill>
                <a:srgbClr val="7030A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46809" y="3960250"/>
            <a:ext cx="8420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10110111101101000010010001111101001001001001111010100 ….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031822" y="4144916"/>
            <a:ext cx="314987" cy="0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120000" y="3747052"/>
            <a:ext cx="798252" cy="79513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312553" y="3803519"/>
            <a:ext cx="5466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 smtClean="0">
                <a:solidFill>
                  <a:schemeClr val="bg1"/>
                </a:solidFill>
              </a:rPr>
              <a:t>?</a:t>
            </a:r>
            <a:endParaRPr lang="en-US" sz="4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13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3852" y="1426303"/>
            <a:ext cx="10038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solidFill>
                  <a:schemeClr val="bg2"/>
                </a:solidFill>
              </a:rPr>
              <a:t>Security of protocols like RSA breaks down if randomness is bad.</a:t>
            </a:r>
            <a:endParaRPr lang="en-US" sz="2600" b="1" dirty="0" smtClean="0">
              <a:solidFill>
                <a:schemeClr val="bg2"/>
              </a:solidFill>
            </a:endParaRPr>
          </a:p>
        </p:txBody>
      </p:sp>
      <p:pic>
        <p:nvPicPr>
          <p:cNvPr id="6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307" y="3798449"/>
            <a:ext cx="1724109" cy="20183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35" y="3657844"/>
            <a:ext cx="2159000" cy="2159000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>
            <a:off x="3506193" y="5029201"/>
            <a:ext cx="5227983" cy="39756"/>
          </a:xfrm>
          <a:prstGeom prst="straightConnector1">
            <a:avLst/>
          </a:prstGeom>
          <a:ln w="50800">
            <a:solidFill>
              <a:srgbClr val="00206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302026" y="5872060"/>
            <a:ext cx="5724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P,Q (primes)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36413" y="2309332"/>
            <a:ext cx="5724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P,Q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495333" y="4641574"/>
            <a:ext cx="1153945" cy="944217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5585791" y="4641574"/>
            <a:ext cx="942897" cy="90132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37978" y="1857597"/>
            <a:ext cx="1003852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>
                <a:solidFill>
                  <a:schemeClr val="bg2"/>
                </a:solidFill>
              </a:rPr>
              <a:t>[</a:t>
            </a:r>
            <a:r>
              <a:rPr lang="en-US" sz="2600" dirty="0" err="1" smtClean="0">
                <a:solidFill>
                  <a:schemeClr val="bg2"/>
                </a:solidFill>
              </a:rPr>
              <a:t>Lenstra</a:t>
            </a:r>
            <a:r>
              <a:rPr lang="en-US" sz="2600" dirty="0" smtClean="0">
                <a:solidFill>
                  <a:schemeClr val="bg2"/>
                </a:solidFill>
              </a:rPr>
              <a:t>+ 12, </a:t>
            </a:r>
            <a:r>
              <a:rPr lang="en-US" sz="2600" dirty="0" err="1" smtClean="0">
                <a:solidFill>
                  <a:schemeClr val="bg2"/>
                </a:solidFill>
              </a:rPr>
              <a:t>Heninger</a:t>
            </a:r>
            <a:r>
              <a:rPr lang="en-US" sz="2600" dirty="0" smtClean="0">
                <a:solidFill>
                  <a:schemeClr val="bg2"/>
                </a:solidFill>
              </a:rPr>
              <a:t>+ 12]</a:t>
            </a:r>
            <a:endParaRPr lang="en-US" sz="2600" b="1" dirty="0">
              <a:solidFill>
                <a:schemeClr val="bg2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678" y="2819334"/>
            <a:ext cx="1372600" cy="165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5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Existing solutions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48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88008" y="1504668"/>
            <a:ext cx="4750714" cy="42357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bg2"/>
                </a:solidFill>
              </a:rPr>
              <a:t>“[We assume] that the developer understands the behavior of the entropy source and has made a </a:t>
            </a:r>
            <a:r>
              <a:rPr lang="en-US" b="1" dirty="0" smtClean="0">
                <a:solidFill>
                  <a:schemeClr val="bg2"/>
                </a:solidFill>
              </a:rPr>
              <a:t>good-faith effort</a:t>
            </a:r>
            <a:r>
              <a:rPr lang="en-US" dirty="0" smtClean="0">
                <a:solidFill>
                  <a:schemeClr val="bg2"/>
                </a:solidFill>
              </a:rPr>
              <a:t> to produce a consistent source of entropy.”</a:t>
            </a:r>
          </a:p>
          <a:p>
            <a:pPr marL="0" indent="0"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C00000"/>
                </a:solidFill>
              </a:rPr>
              <a:t>Can we generate randomness </a:t>
            </a:r>
            <a:r>
              <a:rPr lang="en-US" b="1" u="sng" dirty="0" smtClean="0">
                <a:solidFill>
                  <a:srgbClr val="C00000"/>
                </a:solidFill>
              </a:rPr>
              <a:t>without</a:t>
            </a:r>
            <a:r>
              <a:rPr lang="en-US" b="1" dirty="0" smtClean="0">
                <a:solidFill>
                  <a:srgbClr val="C00000"/>
                </a:solidFill>
              </a:rPr>
              <a:t> assuming good faith?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244" y="1812469"/>
            <a:ext cx="5543835" cy="417851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147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914400" y="1504668"/>
            <a:ext cx="7721600" cy="1025172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Quantum random number generation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48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3852" y="1731103"/>
            <a:ext cx="1003852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 smtClean="0">
                <a:solidFill>
                  <a:schemeClr val="bg2"/>
                </a:solidFill>
              </a:rPr>
              <a:t>Untrusted-device randomness expansion</a:t>
            </a:r>
          </a:p>
          <a:p>
            <a:endParaRPr lang="en-US" sz="3000" dirty="0" smtClean="0">
              <a:solidFill>
                <a:schemeClr val="bg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 smtClean="0">
                <a:solidFill>
                  <a:schemeClr val="bg2"/>
                </a:solidFill>
              </a:rPr>
              <a:t>Untrusted-device randomness amplification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 smtClean="0">
                <a:solidFill>
                  <a:schemeClr val="bg2"/>
                </a:solidFill>
              </a:rPr>
              <a:t>Semi-device-independent random number generation.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000" dirty="0" smtClean="0">
              <a:solidFill>
                <a:schemeClr val="bg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 err="1" smtClean="0">
                <a:solidFill>
                  <a:schemeClr val="bg2"/>
                </a:solidFill>
              </a:rPr>
              <a:t>Contextuality</a:t>
            </a:r>
            <a:r>
              <a:rPr lang="en-US" sz="3000" dirty="0" smtClean="0">
                <a:solidFill>
                  <a:schemeClr val="bg2"/>
                </a:solidFill>
              </a:rPr>
              <a:t>-based randomness expansion.</a:t>
            </a:r>
            <a:endParaRPr lang="en-US" sz="3000" dirty="0">
              <a:solidFill>
                <a:schemeClr val="bg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 smtClean="0">
                <a:solidFill>
                  <a:schemeClr val="bg2"/>
                </a:solidFill>
              </a:rPr>
              <a:t>Randomness </a:t>
            </a:r>
            <a:r>
              <a:rPr lang="en-US" sz="3000" dirty="0" smtClean="0">
                <a:solidFill>
                  <a:schemeClr val="bg2"/>
                </a:solidFill>
              </a:rPr>
              <a:t>extraction.</a:t>
            </a:r>
            <a:endParaRPr lang="en-US" sz="3000" dirty="0" smtClean="0">
              <a:solidFill>
                <a:schemeClr val="bg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000" dirty="0" smtClean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02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Quantum random number generation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48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914400" y="1474188"/>
            <a:ext cx="7721600" cy="1025172"/>
          </a:xfrm>
          <a:prstGeom prst="ellipse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003852" y="1731103"/>
            <a:ext cx="100385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 smtClean="0">
                <a:solidFill>
                  <a:schemeClr val="bg2"/>
                </a:solidFill>
              </a:rPr>
              <a:t>Untrusted-device randomness expansion</a:t>
            </a:r>
          </a:p>
          <a:p>
            <a:endParaRPr lang="en-US" sz="3000" dirty="0" smtClean="0">
              <a:solidFill>
                <a:schemeClr val="bg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 smtClean="0">
                <a:solidFill>
                  <a:schemeClr val="bg2"/>
                </a:solidFill>
              </a:rPr>
              <a:t>Untrusted-device randomness amplification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 smtClean="0">
                <a:solidFill>
                  <a:schemeClr val="bg2"/>
                </a:solidFill>
              </a:rPr>
              <a:t>Semi-device-independent random number generation.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000" dirty="0">
              <a:solidFill>
                <a:schemeClr val="bg2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000" dirty="0" smtClean="0">
                <a:solidFill>
                  <a:schemeClr val="bg2"/>
                </a:solidFill>
              </a:rPr>
              <a:t>Randomness extraction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000" dirty="0" smtClean="0">
              <a:solidFill>
                <a:schemeClr val="bg2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959" y="2644343"/>
            <a:ext cx="10861229" cy="3661169"/>
          </a:xfrm>
          <a:prstGeom prst="rect">
            <a:avLst/>
          </a:prstGeom>
          <a:solidFill>
            <a:schemeClr val="tx1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888175">
            <a:off x="5404200" y="4345249"/>
            <a:ext cx="205683" cy="257366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rot="888175">
            <a:off x="6307030" y="4342942"/>
            <a:ext cx="220118" cy="253162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549076" y="3790745"/>
            <a:ext cx="13063" cy="359855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453064" y="3753241"/>
            <a:ext cx="13063" cy="359855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528694" y="4570562"/>
            <a:ext cx="13063" cy="359855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473446" y="4570563"/>
            <a:ext cx="13063" cy="359855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436242" y="4276775"/>
            <a:ext cx="12654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0 0</a:t>
            </a:r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1 1 1 0 1 1 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5595487" y="4420375"/>
            <a:ext cx="655960" cy="14332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90984" y="3014503"/>
            <a:ext cx="10362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2"/>
                </a:solidFill>
              </a:rPr>
              <a:t>Small uniform seed     +     untrusted device   -&gt;   uniform randomness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8506" y="3834999"/>
            <a:ext cx="25173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10101111011000100110110011110110011011110111111111010000101000100111111010101010111010101010 ….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984" y="5089427"/>
            <a:ext cx="9688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2"/>
                </a:solidFill>
              </a:rPr>
              <a:t>Only assumption:</a:t>
            </a:r>
            <a:r>
              <a:rPr lang="en-US" sz="2800" dirty="0" smtClean="0">
                <a:solidFill>
                  <a:schemeClr val="bg2"/>
                </a:solidFill>
              </a:rPr>
              <a:t> Non-communication.</a:t>
            </a:r>
            <a:endParaRPr lang="en-US" sz="2800" b="1" dirty="0" smtClean="0">
              <a:solidFill>
                <a:schemeClr val="bg2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1455821" y="2286000"/>
            <a:ext cx="168442" cy="33459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91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6451" y="250088"/>
            <a:ext cx="9144000" cy="1641490"/>
          </a:xfrm>
        </p:spPr>
        <p:txBody>
          <a:bodyPr>
            <a:noAutofit/>
          </a:bodyPr>
          <a:lstStyle/>
          <a:p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smtClean="0"/>
              <a:t>Results</a:t>
            </a:r>
            <a:r>
              <a:rPr lang="en-US" sz="7200" dirty="0"/>
              <a:t/>
            </a:r>
            <a:br>
              <a:rPr lang="en-US" sz="7200" dirty="0"/>
            </a:br>
            <a:endParaRPr lang="en-US" sz="6400" dirty="0"/>
          </a:p>
        </p:txBody>
      </p:sp>
    </p:spTree>
    <p:extLst>
      <p:ext uri="{BB962C8B-B14F-4D97-AF65-F5344CB8AC3E}">
        <p14:creationId xmlns:p14="http://schemas.microsoft.com/office/powerpoint/2010/main" val="12697103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419726" y="3009021"/>
            <a:ext cx="10218996" cy="74883"/>
          </a:xfrm>
          <a:prstGeom prst="straightConnector1">
            <a:avLst/>
          </a:prstGeom>
          <a:ln w="508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99411" y="3201526"/>
            <a:ext cx="1023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                    2006          2007         2008           2009            2010           2011            2012           2013            2014         2015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359757" y="1720181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59311" y="1817937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Colbeck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7026" y="3813472"/>
            <a:ext cx="33466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rgbClr val="002060"/>
                </a:solidFill>
              </a:rPr>
              <a:t>Colbeck</a:t>
            </a:r>
            <a:r>
              <a:rPr lang="en-US" sz="2400" dirty="0" smtClean="0">
                <a:solidFill>
                  <a:srgbClr val="002060"/>
                </a:solidFill>
              </a:rPr>
              <a:t> proposed a protocol based on </a:t>
            </a:r>
            <a:r>
              <a:rPr lang="en-US" sz="2400" b="1" dirty="0" smtClean="0">
                <a:solidFill>
                  <a:srgbClr val="002060"/>
                </a:solidFill>
              </a:rPr>
              <a:t>repeating a nonlocal game.</a:t>
            </a:r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 rot="888175">
            <a:off x="6647915" y="4852381"/>
            <a:ext cx="291463" cy="317945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 rot="888175">
            <a:off x="7550771" y="4850859"/>
            <a:ext cx="311919" cy="31275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801953" y="4287924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705941" y="4250420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6781571" y="5067741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726323" y="5067742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93672" y="5587339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6254" y="5577230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7458369" y="4917554"/>
            <a:ext cx="45955" cy="8142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663257" y="3703149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555164" y="3730448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9331" y="2238319"/>
            <a:ext cx="1660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Us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045" y="4347182"/>
            <a:ext cx="1524617" cy="152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4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419726" y="3009021"/>
            <a:ext cx="10218996" cy="74883"/>
          </a:xfrm>
          <a:prstGeom prst="straightConnector1">
            <a:avLst/>
          </a:prstGeom>
          <a:ln w="508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99411" y="3201526"/>
            <a:ext cx="1023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                    2006          2007         2008           2009            2010           2011            2012           2013            2014         2015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9331" y="2238319"/>
            <a:ext cx="1660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Us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359757" y="1720181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59311" y="1817937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Colbeck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7026" y="3813472"/>
            <a:ext cx="32037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rgbClr val="002060"/>
                </a:solidFill>
              </a:rPr>
              <a:t>Pironio</a:t>
            </a:r>
            <a:r>
              <a:rPr lang="en-US" sz="2400" dirty="0" smtClean="0">
                <a:solidFill>
                  <a:srgbClr val="002060"/>
                </a:solidFill>
              </a:rPr>
              <a:t>+: analysis &amp; experiment.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 smtClean="0">
                <a:solidFill>
                  <a:srgbClr val="FF0000"/>
                </a:solidFill>
              </a:rPr>
              <a:t>I started working in quantum information.</a:t>
            </a:r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 rot="888175">
            <a:off x="6647915" y="4852381"/>
            <a:ext cx="291463" cy="317945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 rot="888175">
            <a:off x="7550771" y="4850859"/>
            <a:ext cx="311919" cy="31275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801953" y="4287924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705941" y="4250420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6781571" y="5067741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726323" y="5067742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93672" y="5587339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6254" y="5577230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7458369" y="4917554"/>
            <a:ext cx="45955" cy="8142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663257" y="3703149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555164" y="3730448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312118" y="1740302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11672" y="1838058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Pironio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315213" y="2452480"/>
            <a:ext cx="144379" cy="1564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23113" y="2599114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started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045" y="4347182"/>
            <a:ext cx="1524617" cy="152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419726" y="3009021"/>
            <a:ext cx="10218996" cy="74883"/>
          </a:xfrm>
          <a:prstGeom prst="straightConnector1">
            <a:avLst/>
          </a:prstGeom>
          <a:ln w="508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99411" y="3201526"/>
            <a:ext cx="1023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                    2006          2007         2008           2009            2010           2011            2012           2013            2014         2015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9331" y="2238319"/>
            <a:ext cx="1660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Us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359757" y="1720181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59311" y="1817937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Colbeck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7026" y="3813472"/>
            <a:ext cx="32037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rgbClr val="002060"/>
                </a:solidFill>
              </a:rPr>
              <a:t>Pironio</a:t>
            </a:r>
            <a:r>
              <a:rPr lang="en-US" sz="2400" dirty="0" smtClean="0">
                <a:solidFill>
                  <a:srgbClr val="002060"/>
                </a:solidFill>
              </a:rPr>
              <a:t>+: analysis &amp; experiment.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 smtClean="0">
                <a:solidFill>
                  <a:srgbClr val="FF0000"/>
                </a:solidFill>
              </a:rPr>
              <a:t>I started working in quantum information.</a:t>
            </a:r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 rot="888175">
            <a:off x="6647915" y="4852381"/>
            <a:ext cx="291463" cy="317945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 rot="888175">
            <a:off x="7550771" y="4850859"/>
            <a:ext cx="311919" cy="31275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801953" y="4287924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705941" y="4250420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6781571" y="5067741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726323" y="5067742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93672" y="5587339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6254" y="5577230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7458369" y="4917554"/>
            <a:ext cx="45955" cy="8142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663257" y="3703149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555164" y="3730448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312118" y="1740302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11672" y="1838058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Pironio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315213" y="2452480"/>
            <a:ext cx="144379" cy="1564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23113" y="2599114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started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045" y="4347182"/>
            <a:ext cx="1524617" cy="1524617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35078" y="516834"/>
            <a:ext cx="10294133" cy="5730571"/>
          </a:xfrm>
          <a:prstGeom prst="rect">
            <a:avLst/>
          </a:prstGeom>
          <a:solidFill>
            <a:schemeClr val="tx1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888175">
            <a:off x="4050171" y="4438221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888175">
            <a:off x="4953089" y="4436976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4210630" y="3870772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114618" y="3833268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4190248" y="4650589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135000" y="4650590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102349" y="5170187"/>
            <a:ext cx="4661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14931" y="5160078"/>
            <a:ext cx="4661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81289" y="2227602"/>
            <a:ext cx="4661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990746" y="2263609"/>
            <a:ext cx="4661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  <a:endParaRPr lang="en-US" sz="1600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89" y="3645570"/>
            <a:ext cx="2159000" cy="2159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03852" y="1426303"/>
            <a:ext cx="1003852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solidFill>
                  <a:schemeClr val="bg2"/>
                </a:solidFill>
              </a:rPr>
              <a:t>Quantum </a:t>
            </a:r>
            <a:r>
              <a:rPr lang="en-US" sz="2600" dirty="0">
                <a:solidFill>
                  <a:schemeClr val="bg2"/>
                </a:solidFill>
              </a:rPr>
              <a:t>information can be </a:t>
            </a:r>
            <a:r>
              <a:rPr lang="en-US" sz="2600" b="1" dirty="0">
                <a:solidFill>
                  <a:schemeClr val="bg2"/>
                </a:solidFill>
              </a:rPr>
              <a:t>locked</a:t>
            </a:r>
            <a:r>
              <a:rPr lang="en-US" sz="2600" dirty="0">
                <a:solidFill>
                  <a:schemeClr val="bg2"/>
                </a:solidFill>
              </a:rPr>
              <a:t> – </a:t>
            </a:r>
            <a:r>
              <a:rPr lang="en-US" sz="2600" dirty="0" smtClean="0">
                <a:solidFill>
                  <a:schemeClr val="bg2"/>
                </a:solidFill>
              </a:rPr>
              <a:t>accessible </a:t>
            </a:r>
            <a:r>
              <a:rPr lang="en-US" sz="2600" i="1" dirty="0">
                <a:solidFill>
                  <a:schemeClr val="bg2"/>
                </a:solidFill>
              </a:rPr>
              <a:t>only</a:t>
            </a:r>
            <a:r>
              <a:rPr lang="en-US" sz="2600" dirty="0">
                <a:solidFill>
                  <a:schemeClr val="bg2"/>
                </a:solidFill>
              </a:rPr>
              <a:t> to </a:t>
            </a:r>
            <a:r>
              <a:rPr lang="en-US" sz="2600" dirty="0" smtClean="0">
                <a:solidFill>
                  <a:schemeClr val="bg2"/>
                </a:solidFill>
              </a:rPr>
              <a:t>entangled </a:t>
            </a:r>
            <a:r>
              <a:rPr lang="en-US" sz="2600" dirty="0">
                <a:solidFill>
                  <a:schemeClr val="bg2"/>
                </a:solidFill>
              </a:rPr>
              <a:t>adversaries.  [E.g., </a:t>
            </a:r>
            <a:r>
              <a:rPr lang="en-US" sz="2600" dirty="0" err="1">
                <a:solidFill>
                  <a:schemeClr val="bg2"/>
                </a:solidFill>
              </a:rPr>
              <a:t>DiVincenzo</a:t>
            </a:r>
            <a:r>
              <a:rPr lang="en-US" sz="2600" dirty="0">
                <a:solidFill>
                  <a:schemeClr val="bg2"/>
                </a:solidFill>
              </a:rPr>
              <a:t>+ 04</a:t>
            </a:r>
            <a:r>
              <a:rPr lang="en-US" sz="2600" dirty="0" smtClean="0">
                <a:solidFill>
                  <a:schemeClr val="bg2"/>
                </a:solidFill>
              </a:rPr>
              <a:t>]</a:t>
            </a:r>
            <a:endParaRPr lang="en-US" sz="2800" dirty="0"/>
          </a:p>
        </p:txBody>
      </p:sp>
      <p:cxnSp>
        <p:nvCxnSpPr>
          <p:cNvPr id="52" name="Straight Connector 51"/>
          <p:cNvCxnSpPr>
            <a:stCxn id="53" idx="2"/>
          </p:cNvCxnSpPr>
          <p:nvPr/>
        </p:nvCxnSpPr>
        <p:spPr>
          <a:xfrm flipH="1" flipV="1">
            <a:off x="5313672" y="4509733"/>
            <a:ext cx="3381393" cy="73113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8695065" y="4380261"/>
            <a:ext cx="374223" cy="405170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2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challenge of the entangled adversary</a:t>
            </a: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121" y="4146841"/>
            <a:ext cx="1372600" cy="165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70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419726" y="3009021"/>
            <a:ext cx="10218996" cy="74883"/>
          </a:xfrm>
          <a:prstGeom prst="straightConnector1">
            <a:avLst/>
          </a:prstGeom>
          <a:ln w="508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99411" y="3201526"/>
            <a:ext cx="1023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                    2006          2007         2008           2009            2010           2011            2012           2013            2014         2015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9331" y="2238319"/>
            <a:ext cx="1660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Us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359757" y="1720181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59311" y="1817937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Colbeck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7026" y="3813472"/>
            <a:ext cx="32037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rgbClr val="002060"/>
                </a:solidFill>
              </a:rPr>
              <a:t>Pironio</a:t>
            </a:r>
            <a:r>
              <a:rPr lang="en-US" sz="2400" dirty="0" smtClean="0">
                <a:solidFill>
                  <a:srgbClr val="002060"/>
                </a:solidFill>
              </a:rPr>
              <a:t>+: analysis &amp; experiment.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 smtClean="0">
                <a:solidFill>
                  <a:srgbClr val="FF0000"/>
                </a:solidFill>
              </a:rPr>
              <a:t>I started working in quantum information.</a:t>
            </a:r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 rot="888175">
            <a:off x="6647915" y="4852381"/>
            <a:ext cx="291463" cy="317945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 rot="888175">
            <a:off x="7550771" y="4850859"/>
            <a:ext cx="311919" cy="31275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801953" y="4287924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705941" y="4250420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6781571" y="5067741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726323" y="5067742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93672" y="5587339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6254" y="5577230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7458369" y="4917554"/>
            <a:ext cx="45955" cy="8142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663257" y="3703149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555164" y="3730448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312118" y="1740302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11672" y="1838058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Pironio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315213" y="2452480"/>
            <a:ext cx="144379" cy="1564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23113" y="2599114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started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045" y="4347182"/>
            <a:ext cx="1524617" cy="152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9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419726" y="3009021"/>
            <a:ext cx="10218996" cy="74883"/>
          </a:xfrm>
          <a:prstGeom prst="straightConnector1">
            <a:avLst/>
          </a:prstGeom>
          <a:ln w="508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99411" y="3201526"/>
            <a:ext cx="1023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                    2006          2007         2008           2009            2010           2011            2012           2013            2014         2015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9331" y="2238319"/>
            <a:ext cx="1660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Us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359757" y="1720181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59311" y="1817937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Colbeck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7026" y="3813472"/>
            <a:ext cx="38078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002060"/>
                </a:solidFill>
              </a:rPr>
              <a:t>Pironio</a:t>
            </a:r>
            <a:r>
              <a:rPr lang="en-US" sz="2400" dirty="0">
                <a:solidFill>
                  <a:srgbClr val="002060"/>
                </a:solidFill>
              </a:rPr>
              <a:t>+, Fehr+, </a:t>
            </a:r>
            <a:r>
              <a:rPr lang="en-US" sz="2400" dirty="0" err="1">
                <a:solidFill>
                  <a:srgbClr val="002060"/>
                </a:solidFill>
              </a:rPr>
              <a:t>Coudron</a:t>
            </a:r>
            <a:r>
              <a:rPr lang="en-US" sz="2400" dirty="0">
                <a:solidFill>
                  <a:srgbClr val="002060"/>
                </a:solidFill>
              </a:rPr>
              <a:t>+ proved security against </a:t>
            </a:r>
            <a:r>
              <a:rPr lang="en-US" sz="2400" dirty="0" err="1" smtClean="0">
                <a:solidFill>
                  <a:srgbClr val="002060"/>
                </a:solidFill>
              </a:rPr>
              <a:t>unentangled</a:t>
            </a:r>
            <a:r>
              <a:rPr lang="en-US" sz="2400" dirty="0" smtClean="0">
                <a:solidFill>
                  <a:srgbClr val="002060"/>
                </a:solidFill>
              </a:rPr>
              <a:t> adversary.</a:t>
            </a:r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 smtClean="0">
              <a:solidFill>
                <a:srgbClr val="FF0000"/>
              </a:solidFill>
            </a:endParaRPr>
          </a:p>
          <a:p>
            <a:r>
              <a:rPr lang="en-US" sz="2400" i="1" dirty="0" smtClean="0">
                <a:solidFill>
                  <a:srgbClr val="002060"/>
                </a:solidFill>
              </a:rPr>
              <a:t>Methods: Classical statistical arguments </a:t>
            </a:r>
            <a:r>
              <a:rPr lang="en-US" sz="2400" i="1" dirty="0" smtClean="0">
                <a:solidFill>
                  <a:srgbClr val="002060"/>
                </a:solidFill>
              </a:rPr>
              <a:t>(e.g., Azuma’s </a:t>
            </a:r>
            <a:r>
              <a:rPr lang="en-US" sz="2400" i="1" dirty="0" smtClean="0">
                <a:solidFill>
                  <a:srgbClr val="002060"/>
                </a:solidFill>
              </a:rPr>
              <a:t>inequality).</a:t>
            </a:r>
          </a:p>
        </p:txBody>
      </p:sp>
      <p:sp>
        <p:nvSpPr>
          <p:cNvPr id="33" name="Rectangle 32"/>
          <p:cNvSpPr/>
          <p:nvPr/>
        </p:nvSpPr>
        <p:spPr>
          <a:xfrm rot="888175">
            <a:off x="6647915" y="4852381"/>
            <a:ext cx="291463" cy="317945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 rot="888175">
            <a:off x="7550771" y="4850859"/>
            <a:ext cx="311919" cy="31275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801953" y="4287924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705941" y="4250420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6781571" y="5067741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726323" y="5067742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93672" y="5587339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6254" y="5577230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7458369" y="4917554"/>
            <a:ext cx="45955" cy="8142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663257" y="3703149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555164" y="3730448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312118" y="1740302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11672" y="1838058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Pironio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315213" y="2452480"/>
            <a:ext cx="144379" cy="1564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8112156" y="1778835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11710" y="1876591"/>
            <a:ext cx="1275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Pironio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Fehr+</a:t>
            </a:r>
          </a:p>
        </p:txBody>
      </p:sp>
      <p:sp>
        <p:nvSpPr>
          <p:cNvPr id="31" name="Oval 30"/>
          <p:cNvSpPr/>
          <p:nvPr/>
        </p:nvSpPr>
        <p:spPr>
          <a:xfrm>
            <a:off x="9136547" y="1799150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26784" y="1884354"/>
            <a:ext cx="127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Coudron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23" y="4181812"/>
            <a:ext cx="1372600" cy="1657729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045" y="4347182"/>
            <a:ext cx="1524617" cy="152461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023113" y="2609274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started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26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31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419726" y="3009021"/>
            <a:ext cx="10218996" cy="74883"/>
          </a:xfrm>
          <a:prstGeom prst="straightConnector1">
            <a:avLst/>
          </a:prstGeom>
          <a:ln w="508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99411" y="3201526"/>
            <a:ext cx="1023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                    2006          2007         2008           2009            2010           2011            2012           2013            2014         2015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9331" y="2238319"/>
            <a:ext cx="1660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Us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359757" y="1720181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59311" y="1817937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Colbeck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1908" y="3730448"/>
            <a:ext cx="3892956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err="1" smtClean="0">
                <a:solidFill>
                  <a:srgbClr val="002060"/>
                </a:solidFill>
              </a:rPr>
              <a:t>Vazirani-Vidick</a:t>
            </a:r>
            <a:r>
              <a:rPr lang="en-US" sz="2300" dirty="0" smtClean="0">
                <a:solidFill>
                  <a:srgbClr val="002060"/>
                </a:solidFill>
              </a:rPr>
              <a:t> proved full security against an entangled adversary</a:t>
            </a:r>
            <a:r>
              <a:rPr lang="en-US" sz="2300" dirty="0">
                <a:solidFill>
                  <a:srgbClr val="002060"/>
                </a:solidFill>
              </a:rPr>
              <a:t> </a:t>
            </a:r>
            <a:r>
              <a:rPr lang="en-US" sz="2300" dirty="0" smtClean="0">
                <a:solidFill>
                  <a:srgbClr val="002060"/>
                </a:solidFill>
              </a:rPr>
              <a:t>(no error </a:t>
            </a:r>
          </a:p>
          <a:p>
            <a:r>
              <a:rPr lang="en-US" sz="2300" dirty="0">
                <a:solidFill>
                  <a:srgbClr val="002060"/>
                </a:solidFill>
              </a:rPr>
              <a:t>t</a:t>
            </a:r>
            <a:r>
              <a:rPr lang="en-US" sz="2300" dirty="0" smtClean="0">
                <a:solidFill>
                  <a:srgbClr val="002060"/>
                </a:solidFill>
              </a:rPr>
              <a:t>olerance).</a:t>
            </a:r>
          </a:p>
          <a:p>
            <a:endParaRPr lang="en-US" sz="2300" dirty="0" smtClean="0">
              <a:solidFill>
                <a:srgbClr val="002060"/>
              </a:solidFill>
            </a:endParaRPr>
          </a:p>
          <a:p>
            <a:r>
              <a:rPr lang="en-US" sz="2300" i="1" dirty="0" smtClean="0">
                <a:solidFill>
                  <a:srgbClr val="002060"/>
                </a:solidFill>
              </a:rPr>
              <a:t>Method: Insecurity implies communication paradox.</a:t>
            </a:r>
          </a:p>
        </p:txBody>
      </p:sp>
      <p:sp>
        <p:nvSpPr>
          <p:cNvPr id="33" name="Rectangle 32"/>
          <p:cNvSpPr/>
          <p:nvPr/>
        </p:nvSpPr>
        <p:spPr>
          <a:xfrm rot="888175">
            <a:off x="6647915" y="4852381"/>
            <a:ext cx="291463" cy="317945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 rot="888175">
            <a:off x="7550771" y="4850859"/>
            <a:ext cx="311919" cy="31275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801953" y="4287924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705941" y="4250420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6781571" y="5067741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726323" y="5067742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93672" y="5587339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6254" y="5577230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7458369" y="4917554"/>
            <a:ext cx="45955" cy="8142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045" y="4347182"/>
            <a:ext cx="1524617" cy="152461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663257" y="3703149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555164" y="3730448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312118" y="1740302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11672" y="1838058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Pironio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315213" y="2452480"/>
            <a:ext cx="144379" cy="1564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23113" y="2599114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started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8112156" y="1778835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11710" y="1876591"/>
            <a:ext cx="1275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Pironio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Fehr+</a:t>
            </a:r>
          </a:p>
          <a:p>
            <a:r>
              <a:rPr lang="en-US" b="1" dirty="0" err="1" smtClean="0">
                <a:solidFill>
                  <a:srgbClr val="002060"/>
                </a:solidFill>
              </a:rPr>
              <a:t>Vazirani</a:t>
            </a:r>
            <a:r>
              <a:rPr lang="en-US" b="1" dirty="0" smtClean="0">
                <a:solidFill>
                  <a:srgbClr val="002060"/>
                </a:solidFill>
              </a:rPr>
              <a:t>+</a:t>
            </a:r>
          </a:p>
        </p:txBody>
      </p:sp>
      <p:sp>
        <p:nvSpPr>
          <p:cNvPr id="31" name="Oval 30"/>
          <p:cNvSpPr/>
          <p:nvPr/>
        </p:nvSpPr>
        <p:spPr>
          <a:xfrm>
            <a:off x="9136547" y="1799150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26784" y="1884354"/>
            <a:ext cx="127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Coudron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23" y="4181812"/>
            <a:ext cx="1372600" cy="1657729"/>
          </a:xfrm>
          <a:prstGeom prst="rect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>
            <a:off x="7875229" y="4816202"/>
            <a:ext cx="1954364" cy="109494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959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419726" y="3009021"/>
            <a:ext cx="10218996" cy="74883"/>
          </a:xfrm>
          <a:prstGeom prst="straightConnector1">
            <a:avLst/>
          </a:prstGeom>
          <a:ln w="508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99411" y="3201526"/>
            <a:ext cx="1023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                    2006          2007         2008           2009            2010           2011            2012           2013            2014         2015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9331" y="2238319"/>
            <a:ext cx="1660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Us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359757" y="1720181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59311" y="1817937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Colbeck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1908" y="3730448"/>
            <a:ext cx="3554957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smtClean="0">
                <a:solidFill>
                  <a:srgbClr val="FF0000"/>
                </a:solidFill>
              </a:rPr>
              <a:t>We proved full security, with error-tolerance &gt;1.4%.</a:t>
            </a:r>
          </a:p>
          <a:p>
            <a:endParaRPr lang="en-US" sz="2300" dirty="0" smtClean="0">
              <a:solidFill>
                <a:srgbClr val="002060"/>
              </a:solidFill>
            </a:endParaRPr>
          </a:p>
          <a:p>
            <a:r>
              <a:rPr lang="en-US" sz="2300" i="1" dirty="0">
                <a:solidFill>
                  <a:srgbClr val="FF0000"/>
                </a:solidFill>
              </a:rPr>
              <a:t>M</a:t>
            </a:r>
            <a:r>
              <a:rPr lang="en-US" sz="2300" i="1" dirty="0" smtClean="0">
                <a:solidFill>
                  <a:srgbClr val="FF0000"/>
                </a:solidFill>
              </a:rPr>
              <a:t>ethod: Constraints on </a:t>
            </a:r>
          </a:p>
          <a:p>
            <a:r>
              <a:rPr lang="en-US" sz="2300" i="1" dirty="0">
                <a:solidFill>
                  <a:srgbClr val="FF0000"/>
                </a:solidFill>
              </a:rPr>
              <a:t>  </a:t>
            </a:r>
            <a:r>
              <a:rPr lang="en-US" sz="2300" i="1" dirty="0" smtClean="0">
                <a:solidFill>
                  <a:srgbClr val="FF0000"/>
                </a:solidFill>
              </a:rPr>
              <a:t>  X |-&gt;   </a:t>
            </a:r>
            <a:r>
              <a:rPr lang="en-US" sz="2300" i="1" dirty="0" err="1" smtClean="0">
                <a:solidFill>
                  <a:srgbClr val="FF0000"/>
                </a:solidFill>
              </a:rPr>
              <a:t>Tr</a:t>
            </a:r>
            <a:r>
              <a:rPr lang="en-US" sz="2300" i="1" dirty="0" smtClean="0">
                <a:solidFill>
                  <a:srgbClr val="FF0000"/>
                </a:solidFill>
              </a:rPr>
              <a:t> [ X</a:t>
            </a:r>
            <a:r>
              <a:rPr lang="en-US" sz="2300" i="1" baseline="30000" dirty="0" smtClean="0">
                <a:solidFill>
                  <a:srgbClr val="FF0000"/>
                </a:solidFill>
              </a:rPr>
              <a:t>1+</a:t>
            </a:r>
            <a:r>
              <a:rPr lang="en-US" sz="2300" i="1" baseline="30000" dirty="0" smtClean="0">
                <a:solidFill>
                  <a:srgbClr val="FF0000"/>
                </a:solidFill>
                <a:latin typeface="Symbol" panose="05050102010706020507" pitchFamily="18" charset="2"/>
              </a:rPr>
              <a:t>e</a:t>
            </a:r>
            <a:r>
              <a:rPr lang="en-US" sz="2300" i="1" dirty="0" smtClean="0">
                <a:solidFill>
                  <a:srgbClr val="FF0000"/>
                </a:solidFill>
                <a:latin typeface="Calibri" panose="020F0502020204030204" pitchFamily="34" charset="0"/>
              </a:rPr>
              <a:t>]</a:t>
            </a:r>
            <a:endParaRPr lang="en-US" sz="2400" i="1" dirty="0">
              <a:solidFill>
                <a:srgbClr val="FF0000"/>
              </a:solidFill>
            </a:endParaRPr>
          </a:p>
          <a:p>
            <a:r>
              <a:rPr lang="en-US" sz="2400" i="1" dirty="0" smtClean="0">
                <a:solidFill>
                  <a:srgbClr val="FF0000"/>
                </a:solidFill>
              </a:rPr>
              <a:t>for adversary-output states.</a:t>
            </a:r>
            <a:endParaRPr lang="en-US" sz="2300" i="1" dirty="0" smtClean="0">
              <a:solidFill>
                <a:srgbClr val="FF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 rot="888175">
            <a:off x="6647915" y="4852381"/>
            <a:ext cx="291463" cy="317945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 rot="888175">
            <a:off x="7550771" y="4850859"/>
            <a:ext cx="311919" cy="31275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801953" y="4287924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705941" y="4250420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6781571" y="5067741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726323" y="5067742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93672" y="5587339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6254" y="5577230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7458369" y="4917554"/>
            <a:ext cx="45955" cy="8142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663257" y="3703149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555164" y="3730448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312118" y="1740302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11672" y="1838058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Pironio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315213" y="2452480"/>
            <a:ext cx="144379" cy="1564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23113" y="2599114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started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8112156" y="1778835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11710" y="1876591"/>
            <a:ext cx="1275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Pironio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Fehr+</a:t>
            </a:r>
          </a:p>
          <a:p>
            <a:r>
              <a:rPr lang="en-US" b="1" dirty="0" err="1" smtClean="0">
                <a:solidFill>
                  <a:srgbClr val="002060"/>
                </a:solidFill>
              </a:rPr>
              <a:t>Vazirani</a:t>
            </a:r>
            <a:r>
              <a:rPr lang="en-US" b="1" dirty="0" smtClean="0">
                <a:solidFill>
                  <a:srgbClr val="002060"/>
                </a:solidFill>
              </a:rPr>
              <a:t>+</a:t>
            </a:r>
          </a:p>
        </p:txBody>
      </p:sp>
      <p:sp>
        <p:nvSpPr>
          <p:cNvPr id="31" name="Oval 30"/>
          <p:cNvSpPr/>
          <p:nvPr/>
        </p:nvSpPr>
        <p:spPr>
          <a:xfrm>
            <a:off x="9136547" y="1799150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26784" y="1884354"/>
            <a:ext cx="127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Coudron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23" y="4202132"/>
            <a:ext cx="1372600" cy="1657729"/>
          </a:xfrm>
          <a:prstGeom prst="rect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>
            <a:off x="7875229" y="4816202"/>
            <a:ext cx="1954364" cy="109494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157737" y="2534221"/>
            <a:ext cx="144379" cy="1564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898824" y="2738636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Miller+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045" y="4347182"/>
            <a:ext cx="1524617" cy="152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53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419726" y="3009021"/>
            <a:ext cx="10218996" cy="74883"/>
          </a:xfrm>
          <a:prstGeom prst="straightConnector1">
            <a:avLst/>
          </a:prstGeom>
          <a:ln w="508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99411" y="3201526"/>
            <a:ext cx="1023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                    2006          2007         2008           2009            2010           2011            2012           2013            2014         2015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9331" y="2238319"/>
            <a:ext cx="1660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Us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359757" y="1720181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59311" y="1817937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Colbeck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1908" y="3730448"/>
            <a:ext cx="355495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err="1" smtClean="0">
                <a:solidFill>
                  <a:srgbClr val="002060"/>
                </a:solidFill>
              </a:rPr>
              <a:t>Coudron</a:t>
            </a:r>
            <a:r>
              <a:rPr lang="en-US" sz="2300" dirty="0" smtClean="0">
                <a:solidFill>
                  <a:srgbClr val="002060"/>
                </a:solidFill>
              </a:rPr>
              <a:t>+ and Chung+ proved </a:t>
            </a:r>
            <a:r>
              <a:rPr lang="en-US" sz="2300" b="1" dirty="0" smtClean="0">
                <a:solidFill>
                  <a:srgbClr val="002060"/>
                </a:solidFill>
              </a:rPr>
              <a:t>unbounded</a:t>
            </a:r>
            <a:r>
              <a:rPr lang="en-US" sz="2300" dirty="0" smtClean="0">
                <a:solidFill>
                  <a:srgbClr val="002060"/>
                </a:solidFill>
              </a:rPr>
              <a:t> rate of expansion.</a:t>
            </a:r>
          </a:p>
          <a:p>
            <a:endParaRPr lang="en-US" sz="2300" dirty="0">
              <a:solidFill>
                <a:srgbClr val="00206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6312118" y="1740302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11672" y="1838058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Pironio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315213" y="2452480"/>
            <a:ext cx="144379" cy="1564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23113" y="2599114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started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8112156" y="1778835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11710" y="1876591"/>
            <a:ext cx="1275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Pironio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Fehr+</a:t>
            </a:r>
          </a:p>
          <a:p>
            <a:r>
              <a:rPr lang="en-US" b="1" dirty="0" err="1" smtClean="0">
                <a:solidFill>
                  <a:srgbClr val="002060"/>
                </a:solidFill>
              </a:rPr>
              <a:t>Vazirani</a:t>
            </a:r>
            <a:r>
              <a:rPr lang="en-US" b="1" dirty="0" smtClean="0">
                <a:solidFill>
                  <a:srgbClr val="002060"/>
                </a:solidFill>
              </a:rPr>
              <a:t>+</a:t>
            </a:r>
          </a:p>
        </p:txBody>
      </p:sp>
      <p:sp>
        <p:nvSpPr>
          <p:cNvPr id="31" name="Oval 30"/>
          <p:cNvSpPr/>
          <p:nvPr/>
        </p:nvSpPr>
        <p:spPr>
          <a:xfrm>
            <a:off x="9136547" y="1799150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26784" y="1884354"/>
            <a:ext cx="127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Coudron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</a:p>
        </p:txBody>
      </p:sp>
      <p:sp>
        <p:nvSpPr>
          <p:cNvPr id="45" name="Oval 44"/>
          <p:cNvSpPr/>
          <p:nvPr/>
        </p:nvSpPr>
        <p:spPr>
          <a:xfrm>
            <a:off x="10196317" y="1829777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022419" y="1919143"/>
            <a:ext cx="1275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Coudron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Chung+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0937" y="6838612"/>
            <a:ext cx="6846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10157737" y="2534221"/>
            <a:ext cx="144379" cy="1564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898824" y="2738636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Miller+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045" y="4347182"/>
            <a:ext cx="1524617" cy="1524617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 rot="888175">
            <a:off x="6647915" y="4852381"/>
            <a:ext cx="291463" cy="317945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 rot="888175">
            <a:off x="7550771" y="4850859"/>
            <a:ext cx="311919" cy="31275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6801953" y="4287924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7705941" y="4250420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781571" y="5067741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726323" y="5067742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693672" y="5587339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06254" y="5577230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69" name="Straight Connector 68"/>
          <p:cNvCxnSpPr/>
          <p:nvPr/>
        </p:nvCxnSpPr>
        <p:spPr>
          <a:xfrm flipH="1">
            <a:off x="7458369" y="4917554"/>
            <a:ext cx="45955" cy="8142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663257" y="3703149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555164" y="3730448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23" y="4181812"/>
            <a:ext cx="1372600" cy="1657729"/>
          </a:xfrm>
          <a:prstGeom prst="rect">
            <a:avLst/>
          </a:prstGeom>
        </p:spPr>
      </p:pic>
      <p:cxnSp>
        <p:nvCxnSpPr>
          <p:cNvPr id="73" name="Straight Connector 72"/>
          <p:cNvCxnSpPr/>
          <p:nvPr/>
        </p:nvCxnSpPr>
        <p:spPr>
          <a:xfrm>
            <a:off x="7875229" y="4816202"/>
            <a:ext cx="1954364" cy="109494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267481" y="2027185"/>
            <a:ext cx="5393083" cy="2705174"/>
          </a:xfrm>
          <a:prstGeom prst="rect">
            <a:avLst/>
          </a:prstGeom>
          <a:solidFill>
            <a:schemeClr val="tx1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 flipV="1">
            <a:off x="8843516" y="3039348"/>
            <a:ext cx="1632565" cy="527356"/>
          </a:xfrm>
          <a:prstGeom prst="rect">
            <a:avLst/>
          </a:prstGeom>
          <a:solidFill>
            <a:schemeClr val="tx1"/>
          </a:solidFill>
          <a:ln w="57150">
            <a:solidFill>
              <a:schemeClr val="accent1"/>
            </a:solidFill>
          </a:ln>
          <a:scene3d>
            <a:camera prst="orthographicFront">
              <a:rot lat="0" lon="0" rev="0"/>
            </a:camera>
            <a:lightRig rig="threePt" dir="t"/>
          </a:scene3d>
          <a:sp3d extrusionH="381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 flipV="1">
            <a:off x="5541244" y="3062103"/>
            <a:ext cx="1632565" cy="527356"/>
          </a:xfrm>
          <a:prstGeom prst="rect">
            <a:avLst/>
          </a:prstGeom>
          <a:solidFill>
            <a:schemeClr val="tx1"/>
          </a:solidFill>
          <a:ln w="57150">
            <a:solidFill>
              <a:schemeClr val="accent1"/>
            </a:solidFill>
          </a:ln>
          <a:scene3d>
            <a:camera prst="orthographicFront">
              <a:rot lat="0" lon="0" rev="0"/>
            </a:camera>
            <a:lightRig rig="threePt" dir="t"/>
          </a:scene3d>
          <a:sp3d extrusionH="381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 rot="888175">
            <a:off x="5776909" y="3285295"/>
            <a:ext cx="321994" cy="384220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 rot="888175">
            <a:off x="6369833" y="3268007"/>
            <a:ext cx="321994" cy="384220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/>
          <p:cNvSpPr/>
          <p:nvPr/>
        </p:nvSpPr>
        <p:spPr>
          <a:xfrm>
            <a:off x="6230614" y="2268520"/>
            <a:ext cx="3490533" cy="2303505"/>
          </a:xfrm>
          <a:custGeom>
            <a:avLst/>
            <a:gdLst>
              <a:gd name="connsiteX0" fmla="*/ 0 w 3306536"/>
              <a:gd name="connsiteY0" fmla="*/ 3149739 h 3682988"/>
              <a:gd name="connsiteX1" fmla="*/ 1436915 w 3306536"/>
              <a:gd name="connsiteY1" fmla="*/ 3451817 h 3682988"/>
              <a:gd name="connsiteX2" fmla="*/ 2710543 w 3306536"/>
              <a:gd name="connsiteY2" fmla="*/ 169774 h 3682988"/>
              <a:gd name="connsiteX3" fmla="*/ 3306536 w 3306536"/>
              <a:gd name="connsiteY3" fmla="*/ 439196 h 3682988"/>
              <a:gd name="connsiteX4" fmla="*/ 3306536 w 3306536"/>
              <a:gd name="connsiteY4" fmla="*/ 439196 h 3682988"/>
              <a:gd name="connsiteX0" fmla="*/ 0 w 3306536"/>
              <a:gd name="connsiteY0" fmla="*/ 3146889 h 3650273"/>
              <a:gd name="connsiteX1" fmla="*/ 1077686 w 3306536"/>
              <a:gd name="connsiteY1" fmla="*/ 3408146 h 3650273"/>
              <a:gd name="connsiteX2" fmla="*/ 2710543 w 3306536"/>
              <a:gd name="connsiteY2" fmla="*/ 166924 h 3650273"/>
              <a:gd name="connsiteX3" fmla="*/ 3306536 w 3306536"/>
              <a:gd name="connsiteY3" fmla="*/ 436346 h 3650273"/>
              <a:gd name="connsiteX4" fmla="*/ 3306536 w 3306536"/>
              <a:gd name="connsiteY4" fmla="*/ 436346 h 3650273"/>
              <a:gd name="connsiteX0" fmla="*/ 0 w 3306536"/>
              <a:gd name="connsiteY0" fmla="*/ 3137225 h 3546290"/>
              <a:gd name="connsiteX1" fmla="*/ 1134836 w 3306536"/>
              <a:gd name="connsiteY1" fmla="*/ 3259689 h 3546290"/>
              <a:gd name="connsiteX2" fmla="*/ 2710543 w 3306536"/>
              <a:gd name="connsiteY2" fmla="*/ 157260 h 3546290"/>
              <a:gd name="connsiteX3" fmla="*/ 3306536 w 3306536"/>
              <a:gd name="connsiteY3" fmla="*/ 426682 h 3546290"/>
              <a:gd name="connsiteX4" fmla="*/ 3306536 w 3306536"/>
              <a:gd name="connsiteY4" fmla="*/ 426682 h 3546290"/>
              <a:gd name="connsiteX0" fmla="*/ 0 w 3273879"/>
              <a:gd name="connsiteY0" fmla="*/ 2075868 h 3317016"/>
              <a:gd name="connsiteX1" fmla="*/ 1102179 w 3273879"/>
              <a:gd name="connsiteY1" fmla="*/ 3259689 h 3317016"/>
              <a:gd name="connsiteX2" fmla="*/ 2677886 w 3273879"/>
              <a:gd name="connsiteY2" fmla="*/ 157260 h 3317016"/>
              <a:gd name="connsiteX3" fmla="*/ 3273879 w 3273879"/>
              <a:gd name="connsiteY3" fmla="*/ 426682 h 3317016"/>
              <a:gd name="connsiteX4" fmla="*/ 3273879 w 3273879"/>
              <a:gd name="connsiteY4" fmla="*/ 426682 h 3317016"/>
              <a:gd name="connsiteX0" fmla="*/ 0 w 3412672"/>
              <a:gd name="connsiteY0" fmla="*/ 2098061 h 3339209"/>
              <a:gd name="connsiteX1" fmla="*/ 1102179 w 3412672"/>
              <a:gd name="connsiteY1" fmla="*/ 3281882 h 3339209"/>
              <a:gd name="connsiteX2" fmla="*/ 2677886 w 3412672"/>
              <a:gd name="connsiteY2" fmla="*/ 179453 h 3339209"/>
              <a:gd name="connsiteX3" fmla="*/ 3273879 w 3412672"/>
              <a:gd name="connsiteY3" fmla="*/ 448875 h 3339209"/>
              <a:gd name="connsiteX4" fmla="*/ 3412672 w 3412672"/>
              <a:gd name="connsiteY4" fmla="*/ 1077525 h 3339209"/>
              <a:gd name="connsiteX0" fmla="*/ 0 w 3412672"/>
              <a:gd name="connsiteY0" fmla="*/ 2113518 h 3354666"/>
              <a:gd name="connsiteX1" fmla="*/ 1102179 w 3412672"/>
              <a:gd name="connsiteY1" fmla="*/ 3297339 h 3354666"/>
              <a:gd name="connsiteX2" fmla="*/ 2677886 w 3412672"/>
              <a:gd name="connsiteY2" fmla="*/ 194910 h 3354666"/>
              <a:gd name="connsiteX3" fmla="*/ 3314701 w 3412672"/>
              <a:gd name="connsiteY3" fmla="*/ 407182 h 3354666"/>
              <a:gd name="connsiteX4" fmla="*/ 3412672 w 3412672"/>
              <a:gd name="connsiteY4" fmla="*/ 1092982 h 3354666"/>
              <a:gd name="connsiteX0" fmla="*/ 0 w 3412672"/>
              <a:gd name="connsiteY0" fmla="*/ 2121105 h 3362253"/>
              <a:gd name="connsiteX1" fmla="*/ 1102179 w 3412672"/>
              <a:gd name="connsiteY1" fmla="*/ 3304926 h 3362253"/>
              <a:gd name="connsiteX2" fmla="*/ 2677886 w 3412672"/>
              <a:gd name="connsiteY2" fmla="*/ 202497 h 3362253"/>
              <a:gd name="connsiteX3" fmla="*/ 3314701 w 3412672"/>
              <a:gd name="connsiteY3" fmla="*/ 414769 h 3362253"/>
              <a:gd name="connsiteX4" fmla="*/ 3412672 w 3412672"/>
              <a:gd name="connsiteY4" fmla="*/ 1100569 h 3362253"/>
              <a:gd name="connsiteX0" fmla="*/ 0 w 3412672"/>
              <a:gd name="connsiteY0" fmla="*/ 2121105 h 3315102"/>
              <a:gd name="connsiteX1" fmla="*/ 1102179 w 3412672"/>
              <a:gd name="connsiteY1" fmla="*/ 3304926 h 3315102"/>
              <a:gd name="connsiteX2" fmla="*/ 2677886 w 3412672"/>
              <a:gd name="connsiteY2" fmla="*/ 202497 h 3315102"/>
              <a:gd name="connsiteX3" fmla="*/ 3314701 w 3412672"/>
              <a:gd name="connsiteY3" fmla="*/ 414769 h 3315102"/>
              <a:gd name="connsiteX4" fmla="*/ 3412672 w 3412672"/>
              <a:gd name="connsiteY4" fmla="*/ 1100569 h 3315102"/>
              <a:gd name="connsiteX0" fmla="*/ 50570 w 3463242"/>
              <a:gd name="connsiteY0" fmla="*/ 2121105 h 3381226"/>
              <a:gd name="connsiteX1" fmla="*/ 83227 w 3463242"/>
              <a:gd name="connsiteY1" fmla="*/ 2406857 h 3381226"/>
              <a:gd name="connsiteX2" fmla="*/ 1152749 w 3463242"/>
              <a:gd name="connsiteY2" fmla="*/ 3304926 h 3381226"/>
              <a:gd name="connsiteX3" fmla="*/ 2728456 w 3463242"/>
              <a:gd name="connsiteY3" fmla="*/ 202497 h 3381226"/>
              <a:gd name="connsiteX4" fmla="*/ 3365271 w 3463242"/>
              <a:gd name="connsiteY4" fmla="*/ 414769 h 3381226"/>
              <a:gd name="connsiteX5" fmla="*/ 3463242 w 3463242"/>
              <a:gd name="connsiteY5" fmla="*/ 1100569 h 3381226"/>
              <a:gd name="connsiteX0" fmla="*/ 50570 w 3463242"/>
              <a:gd name="connsiteY0" fmla="*/ 2121105 h 3385863"/>
              <a:gd name="connsiteX1" fmla="*/ 83227 w 3463242"/>
              <a:gd name="connsiteY1" fmla="*/ 2406857 h 3385863"/>
              <a:gd name="connsiteX2" fmla="*/ 1152749 w 3463242"/>
              <a:gd name="connsiteY2" fmla="*/ 3304926 h 3385863"/>
              <a:gd name="connsiteX3" fmla="*/ 2728456 w 3463242"/>
              <a:gd name="connsiteY3" fmla="*/ 202497 h 3385863"/>
              <a:gd name="connsiteX4" fmla="*/ 3365271 w 3463242"/>
              <a:gd name="connsiteY4" fmla="*/ 414769 h 3385863"/>
              <a:gd name="connsiteX5" fmla="*/ 3463242 w 3463242"/>
              <a:gd name="connsiteY5" fmla="*/ 1100569 h 3385863"/>
              <a:gd name="connsiteX0" fmla="*/ 0 w 3412672"/>
              <a:gd name="connsiteY0" fmla="*/ 2121105 h 3385863"/>
              <a:gd name="connsiteX1" fmla="*/ 32657 w 3412672"/>
              <a:gd name="connsiteY1" fmla="*/ 2406857 h 3385863"/>
              <a:gd name="connsiteX2" fmla="*/ 1102179 w 3412672"/>
              <a:gd name="connsiteY2" fmla="*/ 3304926 h 3385863"/>
              <a:gd name="connsiteX3" fmla="*/ 2677886 w 3412672"/>
              <a:gd name="connsiteY3" fmla="*/ 202497 h 3385863"/>
              <a:gd name="connsiteX4" fmla="*/ 3314701 w 3412672"/>
              <a:gd name="connsiteY4" fmla="*/ 414769 h 3385863"/>
              <a:gd name="connsiteX5" fmla="*/ 3412672 w 3412672"/>
              <a:gd name="connsiteY5" fmla="*/ 1100569 h 3385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12672" h="3385863">
                <a:moveTo>
                  <a:pt x="0" y="2121105"/>
                </a:moveTo>
                <a:cubicBezTo>
                  <a:pt x="31296" y="2155123"/>
                  <a:pt x="-12246" y="2209554"/>
                  <a:pt x="32657" y="2406857"/>
                </a:cubicBezTo>
                <a:cubicBezTo>
                  <a:pt x="69397" y="2685804"/>
                  <a:pt x="661308" y="3672319"/>
                  <a:pt x="1102179" y="3304926"/>
                </a:cubicBezTo>
                <a:cubicBezTo>
                  <a:pt x="1543051" y="2937533"/>
                  <a:pt x="2309132" y="684190"/>
                  <a:pt x="2677886" y="202497"/>
                </a:cubicBezTo>
                <a:cubicBezTo>
                  <a:pt x="3046640" y="-279196"/>
                  <a:pt x="3277175" y="225051"/>
                  <a:pt x="3314701" y="414769"/>
                </a:cubicBezTo>
                <a:cubicBezTo>
                  <a:pt x="3363686" y="662420"/>
                  <a:pt x="3366408" y="891019"/>
                  <a:pt x="3412672" y="1100569"/>
                </a:cubicBezTo>
              </a:path>
            </a:pathLst>
          </a:custGeom>
          <a:noFill/>
          <a:ln w="381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 rot="888175">
            <a:off x="9252493" y="3222794"/>
            <a:ext cx="321994" cy="384220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rot="888175">
            <a:off x="9886157" y="3233870"/>
            <a:ext cx="321994" cy="384220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 45"/>
          <p:cNvSpPr/>
          <p:nvPr/>
        </p:nvSpPr>
        <p:spPr>
          <a:xfrm flipH="1">
            <a:off x="6230614" y="2295906"/>
            <a:ext cx="3490532" cy="2167733"/>
          </a:xfrm>
          <a:custGeom>
            <a:avLst/>
            <a:gdLst>
              <a:gd name="connsiteX0" fmla="*/ 0 w 3306536"/>
              <a:gd name="connsiteY0" fmla="*/ 3149739 h 3682988"/>
              <a:gd name="connsiteX1" fmla="*/ 1436915 w 3306536"/>
              <a:gd name="connsiteY1" fmla="*/ 3451817 h 3682988"/>
              <a:gd name="connsiteX2" fmla="*/ 2710543 w 3306536"/>
              <a:gd name="connsiteY2" fmla="*/ 169774 h 3682988"/>
              <a:gd name="connsiteX3" fmla="*/ 3306536 w 3306536"/>
              <a:gd name="connsiteY3" fmla="*/ 439196 h 3682988"/>
              <a:gd name="connsiteX4" fmla="*/ 3306536 w 3306536"/>
              <a:gd name="connsiteY4" fmla="*/ 439196 h 3682988"/>
              <a:gd name="connsiteX0" fmla="*/ 0 w 3306536"/>
              <a:gd name="connsiteY0" fmla="*/ 3125352 h 3436869"/>
              <a:gd name="connsiteX1" fmla="*/ 1386199 w 3306536"/>
              <a:gd name="connsiteY1" fmla="*/ 3076365 h 3436869"/>
              <a:gd name="connsiteX2" fmla="*/ 2710543 w 3306536"/>
              <a:gd name="connsiteY2" fmla="*/ 145387 h 3436869"/>
              <a:gd name="connsiteX3" fmla="*/ 3306536 w 3306536"/>
              <a:gd name="connsiteY3" fmla="*/ 414809 h 3436869"/>
              <a:gd name="connsiteX4" fmla="*/ 3306536 w 3306536"/>
              <a:gd name="connsiteY4" fmla="*/ 414809 h 3436869"/>
              <a:gd name="connsiteX0" fmla="*/ 0 w 3089183"/>
              <a:gd name="connsiteY0" fmla="*/ 3125352 h 3436869"/>
              <a:gd name="connsiteX1" fmla="*/ 1168846 w 3089183"/>
              <a:gd name="connsiteY1" fmla="*/ 3076365 h 3436869"/>
              <a:gd name="connsiteX2" fmla="*/ 2493190 w 3089183"/>
              <a:gd name="connsiteY2" fmla="*/ 145387 h 3436869"/>
              <a:gd name="connsiteX3" fmla="*/ 3089183 w 3089183"/>
              <a:gd name="connsiteY3" fmla="*/ 414809 h 3436869"/>
              <a:gd name="connsiteX4" fmla="*/ 3089183 w 3089183"/>
              <a:gd name="connsiteY4" fmla="*/ 414809 h 3436869"/>
              <a:gd name="connsiteX0" fmla="*/ 0 w 2886320"/>
              <a:gd name="connsiteY0" fmla="*/ 3166174 h 3460425"/>
              <a:gd name="connsiteX1" fmla="*/ 965983 w 2886320"/>
              <a:gd name="connsiteY1" fmla="*/ 3076365 h 3460425"/>
              <a:gd name="connsiteX2" fmla="*/ 2290327 w 2886320"/>
              <a:gd name="connsiteY2" fmla="*/ 145387 h 3460425"/>
              <a:gd name="connsiteX3" fmla="*/ 2886320 w 2886320"/>
              <a:gd name="connsiteY3" fmla="*/ 414809 h 3460425"/>
              <a:gd name="connsiteX4" fmla="*/ 2886320 w 2886320"/>
              <a:gd name="connsiteY4" fmla="*/ 414809 h 3460425"/>
              <a:gd name="connsiteX0" fmla="*/ 0 w 2886320"/>
              <a:gd name="connsiteY0" fmla="*/ 3084531 h 3414485"/>
              <a:gd name="connsiteX1" fmla="*/ 965983 w 2886320"/>
              <a:gd name="connsiteY1" fmla="*/ 3076365 h 3414485"/>
              <a:gd name="connsiteX2" fmla="*/ 2290327 w 2886320"/>
              <a:gd name="connsiteY2" fmla="*/ 145387 h 3414485"/>
              <a:gd name="connsiteX3" fmla="*/ 2886320 w 2886320"/>
              <a:gd name="connsiteY3" fmla="*/ 414809 h 3414485"/>
              <a:gd name="connsiteX4" fmla="*/ 2886320 w 2886320"/>
              <a:gd name="connsiteY4" fmla="*/ 414809 h 3414485"/>
              <a:gd name="connsiteX0" fmla="*/ 0 w 2886320"/>
              <a:gd name="connsiteY0" fmla="*/ 3099808 h 3565549"/>
              <a:gd name="connsiteX1" fmla="*/ 770365 w 2886320"/>
              <a:gd name="connsiteY1" fmla="*/ 3312078 h 3565549"/>
              <a:gd name="connsiteX2" fmla="*/ 2290327 w 2886320"/>
              <a:gd name="connsiteY2" fmla="*/ 160664 h 3565549"/>
              <a:gd name="connsiteX3" fmla="*/ 2886320 w 2886320"/>
              <a:gd name="connsiteY3" fmla="*/ 430086 h 3565549"/>
              <a:gd name="connsiteX4" fmla="*/ 2886320 w 2886320"/>
              <a:gd name="connsiteY4" fmla="*/ 430086 h 3565549"/>
              <a:gd name="connsiteX0" fmla="*/ 0 w 2886320"/>
              <a:gd name="connsiteY0" fmla="*/ 3094136 h 3505478"/>
              <a:gd name="connsiteX1" fmla="*/ 886286 w 2886320"/>
              <a:gd name="connsiteY1" fmla="*/ 3224763 h 3505478"/>
              <a:gd name="connsiteX2" fmla="*/ 2290327 w 2886320"/>
              <a:gd name="connsiteY2" fmla="*/ 154992 h 3505478"/>
              <a:gd name="connsiteX3" fmla="*/ 2886320 w 2886320"/>
              <a:gd name="connsiteY3" fmla="*/ 424414 h 3505478"/>
              <a:gd name="connsiteX4" fmla="*/ 2886320 w 2886320"/>
              <a:gd name="connsiteY4" fmla="*/ 424414 h 3505478"/>
              <a:gd name="connsiteX0" fmla="*/ 0 w 2886320"/>
              <a:gd name="connsiteY0" fmla="*/ 3094136 h 3463681"/>
              <a:gd name="connsiteX1" fmla="*/ 886286 w 2886320"/>
              <a:gd name="connsiteY1" fmla="*/ 3224763 h 3463681"/>
              <a:gd name="connsiteX2" fmla="*/ 2290327 w 2886320"/>
              <a:gd name="connsiteY2" fmla="*/ 154992 h 3463681"/>
              <a:gd name="connsiteX3" fmla="*/ 2886320 w 2886320"/>
              <a:gd name="connsiteY3" fmla="*/ 424414 h 3463681"/>
              <a:gd name="connsiteX4" fmla="*/ 2886320 w 2886320"/>
              <a:gd name="connsiteY4" fmla="*/ 424414 h 3463681"/>
              <a:gd name="connsiteX0" fmla="*/ 0 w 2886320"/>
              <a:gd name="connsiteY0" fmla="*/ 3098673 h 3510260"/>
              <a:gd name="connsiteX1" fmla="*/ 886286 w 2886320"/>
              <a:gd name="connsiteY1" fmla="*/ 3294614 h 3510260"/>
              <a:gd name="connsiteX2" fmla="*/ 2290327 w 2886320"/>
              <a:gd name="connsiteY2" fmla="*/ 159529 h 3510260"/>
              <a:gd name="connsiteX3" fmla="*/ 2886320 w 2886320"/>
              <a:gd name="connsiteY3" fmla="*/ 428951 h 3510260"/>
              <a:gd name="connsiteX4" fmla="*/ 2886320 w 2886320"/>
              <a:gd name="connsiteY4" fmla="*/ 428951 h 3510260"/>
              <a:gd name="connsiteX0" fmla="*/ 0 w 2966016"/>
              <a:gd name="connsiteY0" fmla="*/ 2094466 h 3352031"/>
              <a:gd name="connsiteX1" fmla="*/ 965982 w 2966016"/>
              <a:gd name="connsiteY1" fmla="*/ 3294614 h 3352031"/>
              <a:gd name="connsiteX2" fmla="*/ 2370023 w 2966016"/>
              <a:gd name="connsiteY2" fmla="*/ 159529 h 3352031"/>
              <a:gd name="connsiteX3" fmla="*/ 2966016 w 2966016"/>
              <a:gd name="connsiteY3" fmla="*/ 428951 h 3352031"/>
              <a:gd name="connsiteX4" fmla="*/ 2966016 w 2966016"/>
              <a:gd name="connsiteY4" fmla="*/ 428951 h 3352031"/>
              <a:gd name="connsiteX0" fmla="*/ 0 w 2966016"/>
              <a:gd name="connsiteY0" fmla="*/ 2094466 h 3363093"/>
              <a:gd name="connsiteX1" fmla="*/ 965982 w 2966016"/>
              <a:gd name="connsiteY1" fmla="*/ 3294614 h 3363093"/>
              <a:gd name="connsiteX2" fmla="*/ 2370023 w 2966016"/>
              <a:gd name="connsiteY2" fmla="*/ 159529 h 3363093"/>
              <a:gd name="connsiteX3" fmla="*/ 2966016 w 2966016"/>
              <a:gd name="connsiteY3" fmla="*/ 428951 h 3363093"/>
              <a:gd name="connsiteX4" fmla="*/ 2966016 w 2966016"/>
              <a:gd name="connsiteY4" fmla="*/ 428951 h 3363093"/>
              <a:gd name="connsiteX0" fmla="*/ 0 w 3212350"/>
              <a:gd name="connsiteY0" fmla="*/ 2118798 h 3387425"/>
              <a:gd name="connsiteX1" fmla="*/ 965982 w 3212350"/>
              <a:gd name="connsiteY1" fmla="*/ 3318946 h 3387425"/>
              <a:gd name="connsiteX2" fmla="*/ 2370023 w 3212350"/>
              <a:gd name="connsiteY2" fmla="*/ 183861 h 3387425"/>
              <a:gd name="connsiteX3" fmla="*/ 2966016 w 3212350"/>
              <a:gd name="connsiteY3" fmla="*/ 453283 h 3387425"/>
              <a:gd name="connsiteX4" fmla="*/ 3212350 w 3212350"/>
              <a:gd name="connsiteY4" fmla="*/ 1155412 h 3387425"/>
              <a:gd name="connsiteX0" fmla="*/ 0 w 3212350"/>
              <a:gd name="connsiteY0" fmla="*/ 2124685 h 3393312"/>
              <a:gd name="connsiteX1" fmla="*/ 965982 w 3212350"/>
              <a:gd name="connsiteY1" fmla="*/ 3324833 h 3393312"/>
              <a:gd name="connsiteX2" fmla="*/ 2370023 w 3212350"/>
              <a:gd name="connsiteY2" fmla="*/ 189748 h 3393312"/>
              <a:gd name="connsiteX3" fmla="*/ 2966016 w 3212350"/>
              <a:gd name="connsiteY3" fmla="*/ 459170 h 3393312"/>
              <a:gd name="connsiteX4" fmla="*/ 3212350 w 3212350"/>
              <a:gd name="connsiteY4" fmla="*/ 1161299 h 3393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2350" h="3393312">
                <a:moveTo>
                  <a:pt x="0" y="2124685"/>
                </a:moveTo>
                <a:cubicBezTo>
                  <a:pt x="210019" y="2760818"/>
                  <a:pt x="570978" y="3647323"/>
                  <a:pt x="965982" y="3324833"/>
                </a:cubicBezTo>
                <a:cubicBezTo>
                  <a:pt x="1360986" y="3002343"/>
                  <a:pt x="2036684" y="667359"/>
                  <a:pt x="2370023" y="189748"/>
                </a:cubicBezTo>
                <a:cubicBezTo>
                  <a:pt x="2703362" y="-287863"/>
                  <a:pt x="2879329" y="263175"/>
                  <a:pt x="2966016" y="459170"/>
                </a:cubicBezTo>
                <a:cubicBezTo>
                  <a:pt x="3055689" y="661917"/>
                  <a:pt x="3130239" y="927256"/>
                  <a:pt x="3212350" y="1161299"/>
                </a:cubicBezTo>
              </a:path>
            </a:pathLst>
          </a:custGeom>
          <a:noFill/>
          <a:ln w="381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9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65125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120000" y="516835"/>
            <a:ext cx="10233800" cy="8361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1419726" y="3009021"/>
            <a:ext cx="10218996" cy="74883"/>
          </a:xfrm>
          <a:prstGeom prst="straightConnector1">
            <a:avLst/>
          </a:prstGeom>
          <a:ln w="508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99411" y="3201526"/>
            <a:ext cx="1023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                    2006          2007         2008           2009            2010           2011            2012           2013            2014         2015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9331" y="2238319"/>
            <a:ext cx="1660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Us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359757" y="1720181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59311" y="1817937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Colbeck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1908" y="3730448"/>
            <a:ext cx="3554957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 err="1">
                <a:solidFill>
                  <a:srgbClr val="002060"/>
                </a:solidFill>
              </a:rPr>
              <a:t>Coudron</a:t>
            </a:r>
            <a:r>
              <a:rPr lang="en-US" sz="2300" dirty="0">
                <a:solidFill>
                  <a:srgbClr val="002060"/>
                </a:solidFill>
              </a:rPr>
              <a:t>+ and Chung+ proved </a:t>
            </a:r>
            <a:r>
              <a:rPr lang="en-US" sz="2300" b="1" dirty="0">
                <a:solidFill>
                  <a:srgbClr val="002060"/>
                </a:solidFill>
              </a:rPr>
              <a:t>unbounded</a:t>
            </a:r>
            <a:r>
              <a:rPr lang="en-US" sz="2300" dirty="0">
                <a:solidFill>
                  <a:srgbClr val="002060"/>
                </a:solidFill>
              </a:rPr>
              <a:t> rate of expansion.</a:t>
            </a:r>
          </a:p>
          <a:p>
            <a:endParaRPr lang="en-US" sz="2300" dirty="0" smtClean="0">
              <a:solidFill>
                <a:srgbClr val="002060"/>
              </a:solidFill>
            </a:endParaRPr>
          </a:p>
          <a:p>
            <a:r>
              <a:rPr lang="en-US" sz="2300" i="1" dirty="0" smtClean="0">
                <a:solidFill>
                  <a:srgbClr val="FF0000"/>
                </a:solidFill>
              </a:rPr>
              <a:t>Our current paper: Covers all nonlocal games, maximal noise tolerance.</a:t>
            </a:r>
          </a:p>
        </p:txBody>
      </p:sp>
      <p:sp>
        <p:nvSpPr>
          <p:cNvPr id="33" name="Rectangle 32"/>
          <p:cNvSpPr/>
          <p:nvPr/>
        </p:nvSpPr>
        <p:spPr>
          <a:xfrm rot="888175">
            <a:off x="6647915" y="4852381"/>
            <a:ext cx="291463" cy="317945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 rot="888175">
            <a:off x="7550771" y="4850859"/>
            <a:ext cx="311919" cy="31275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6801953" y="4287924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705941" y="4250420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6781571" y="5067741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7726323" y="5067742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93672" y="5587339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6254" y="5577230"/>
            <a:ext cx="423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</a:p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7458369" y="4917554"/>
            <a:ext cx="45955" cy="8142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663257" y="3703149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0</a:t>
            </a: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555164" y="3730448"/>
            <a:ext cx="423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endParaRPr lang="en-US" sz="1600" dirty="0" smtClean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312118" y="1740302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11672" y="1838058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Pironio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6315213" y="2452480"/>
            <a:ext cx="144379" cy="1564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23113" y="2599114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started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8112156" y="1778835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11710" y="1876591"/>
            <a:ext cx="1275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Pironio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Fehr+</a:t>
            </a:r>
          </a:p>
          <a:p>
            <a:r>
              <a:rPr lang="en-US" b="1" dirty="0" err="1" smtClean="0">
                <a:solidFill>
                  <a:srgbClr val="002060"/>
                </a:solidFill>
              </a:rPr>
              <a:t>Vazirani</a:t>
            </a:r>
            <a:r>
              <a:rPr lang="en-US" b="1" dirty="0" smtClean="0">
                <a:solidFill>
                  <a:srgbClr val="002060"/>
                </a:solidFill>
              </a:rPr>
              <a:t>+</a:t>
            </a:r>
          </a:p>
        </p:txBody>
      </p:sp>
      <p:sp>
        <p:nvSpPr>
          <p:cNvPr id="31" name="Oval 30"/>
          <p:cNvSpPr/>
          <p:nvPr/>
        </p:nvSpPr>
        <p:spPr>
          <a:xfrm>
            <a:off x="9136547" y="1799150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26784" y="1884354"/>
            <a:ext cx="1275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Coudron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23" y="4181812"/>
            <a:ext cx="1372600" cy="1657729"/>
          </a:xfrm>
          <a:prstGeom prst="rect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>
            <a:off x="7875229" y="4816202"/>
            <a:ext cx="1954364" cy="109494"/>
          </a:xfrm>
          <a:prstGeom prst="line">
            <a:avLst/>
          </a:prstGeom>
          <a:ln w="76200">
            <a:solidFill>
              <a:srgbClr val="FFC8C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10157737" y="2534221"/>
            <a:ext cx="144379" cy="1564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898824" y="2738636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Miller+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045" y="4347182"/>
            <a:ext cx="1524617" cy="1524617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11042062" y="2530685"/>
            <a:ext cx="144379" cy="15641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772421" y="2735954"/>
            <a:ext cx="106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Miller+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10196317" y="1829777"/>
            <a:ext cx="144379" cy="15641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022419" y="1919143"/>
            <a:ext cx="1275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002060"/>
                </a:solidFill>
              </a:rPr>
              <a:t>Coudron</a:t>
            </a:r>
            <a:r>
              <a:rPr lang="en-US" dirty="0" smtClean="0">
                <a:solidFill>
                  <a:srgbClr val="002060"/>
                </a:solidFill>
              </a:rPr>
              <a:t>+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Chung+</a:t>
            </a:r>
          </a:p>
        </p:txBody>
      </p:sp>
    </p:spTree>
    <p:extLst>
      <p:ext uri="{BB962C8B-B14F-4D97-AF65-F5344CB8AC3E}">
        <p14:creationId xmlns:p14="http://schemas.microsoft.com/office/powerpoint/2010/main" val="250752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6451" y="250088"/>
            <a:ext cx="9144000" cy="1641490"/>
          </a:xfrm>
        </p:spPr>
        <p:txBody>
          <a:bodyPr>
            <a:noAutofit/>
          </a:bodyPr>
          <a:lstStyle/>
          <a:p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smtClean="0"/>
              <a:t>Current Result</a:t>
            </a:r>
            <a:r>
              <a:rPr lang="en-US" sz="7200" dirty="0"/>
              <a:t/>
            </a:r>
            <a:br>
              <a:rPr lang="en-US" sz="7200" dirty="0"/>
            </a:br>
            <a:endParaRPr lang="en-US" sz="6400" dirty="0"/>
          </a:p>
        </p:txBody>
      </p:sp>
    </p:spTree>
    <p:extLst>
      <p:ext uri="{BB962C8B-B14F-4D97-AF65-F5344CB8AC3E}">
        <p14:creationId xmlns:p14="http://schemas.microsoft.com/office/powerpoint/2010/main" val="10730284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41714" y="5497398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0840360" y="2736877"/>
            <a:ext cx="0" cy="0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66" y="3521985"/>
            <a:ext cx="1553566" cy="181874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888175">
            <a:off x="3915145" y="4036244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888175">
            <a:off x="5529290" y="4051163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/>
              <p14:cNvContentPartPr/>
              <p14:nvPr/>
            </p14:nvContentPartPr>
            <p14:xfrm>
              <a:off x="7791033" y="2712634"/>
              <a:ext cx="360720" cy="312042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3033" y="2705076"/>
                <a:ext cx="386280" cy="348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/>
              <p14:cNvContentPartPr/>
              <p14:nvPr/>
            </p14:nvContentPartPr>
            <p14:xfrm>
              <a:off x="7731811" y="3343005"/>
              <a:ext cx="314076" cy="276656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1664" y="3327176"/>
                <a:ext cx="341778" cy="30004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/>
          <p:cNvSpPr txBox="1"/>
          <p:nvPr/>
        </p:nvSpPr>
        <p:spPr>
          <a:xfrm>
            <a:off x="8265622" y="2653212"/>
            <a:ext cx="35383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prstClr val="black"/>
                </a:solidFill>
              </a:rPr>
              <a:t>Small resources, high rate</a:t>
            </a:r>
            <a:endParaRPr lang="en-US" sz="2200" dirty="0">
              <a:solidFill>
                <a:prstClr val="black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59339" y="3274794"/>
            <a:ext cx="20971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prstClr val="black"/>
                </a:solidFill>
              </a:rPr>
              <a:t>Not fully secure</a:t>
            </a:r>
            <a:endParaRPr lang="en-US" sz="2200" dirty="0">
              <a:solidFill>
                <a:prstClr val="black"/>
              </a:solidFill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075605" y="346879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690820" y="344745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055223" y="4248612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11202" y="4264777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4458589" y="4472483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4302481" y="4134955"/>
            <a:ext cx="190570" cy="312875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618892" y="4129917"/>
            <a:ext cx="133941" cy="301439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0142" y="1570616"/>
            <a:ext cx="553855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Let G</a:t>
            </a:r>
            <a:r>
              <a:rPr lang="en-US" sz="2600" dirty="0">
                <a:solidFill>
                  <a:srgbClr val="455F51"/>
                </a:solidFill>
                <a:cs typeface="Aparajita" panose="020B0604020202020204" pitchFamily="34" charset="0"/>
              </a:rPr>
              <a:t> </a:t>
            </a:r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= nonlocal game, a = fixed input.</a:t>
            </a:r>
          </a:p>
          <a:p>
            <a:pPr marL="457200" indent="-457200">
              <a:buAutoNum type="arabicPeriod"/>
            </a:pPr>
            <a:endParaRPr lang="en-US" sz="2600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Run </a:t>
            </a:r>
            <a:r>
              <a:rPr lang="en-US" sz="2600" dirty="0">
                <a:solidFill>
                  <a:srgbClr val="455F51"/>
                </a:solidFill>
                <a:cs typeface="Aparajita" panose="020B0604020202020204" pitchFamily="34" charset="0"/>
              </a:rPr>
              <a:t>the device N times. During “game rounds,” play </a:t>
            </a:r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G.  </a:t>
            </a:r>
            <a:r>
              <a:rPr lang="en-US" sz="2600" dirty="0">
                <a:solidFill>
                  <a:srgbClr val="455F51"/>
                </a:solidFill>
                <a:cs typeface="Aparajita" panose="020B0604020202020204" pitchFamily="34" charset="0"/>
              </a:rPr>
              <a:t>Otherwise, just input </a:t>
            </a:r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a.</a:t>
            </a:r>
          </a:p>
          <a:p>
            <a:pPr marL="457200" indent="-457200">
              <a:buAutoNum type="arabicPeriod"/>
            </a:pPr>
            <a:endParaRPr lang="en-US" sz="2600" dirty="0">
              <a:solidFill>
                <a:srgbClr val="455F51"/>
              </a:solidFill>
              <a:cs typeface="Aparajita" panose="020B0604020202020204" pitchFamily="34" charset="0"/>
            </a:endParaRPr>
          </a:p>
          <a:p>
            <a:pPr marL="457200" indent="-457200">
              <a:buFontTx/>
              <a:buAutoNum type="arabicPeriod"/>
            </a:pPr>
            <a:r>
              <a:rPr lang="en-US" sz="2600" dirty="0">
                <a:solidFill>
                  <a:srgbClr val="455F51"/>
                </a:solidFill>
                <a:cs typeface="Aparajita" panose="020B0604020202020204" pitchFamily="34" charset="0"/>
              </a:rPr>
              <a:t>If the ave</a:t>
            </a:r>
            <a:r>
              <a:rPr lang="en-US" sz="2600" dirty="0">
                <a:solidFill>
                  <a:schemeClr val="bg2"/>
                </a:solidFill>
                <a:cs typeface="Aparajita" panose="020B0604020202020204" pitchFamily="34" charset="0"/>
              </a:rPr>
              <a:t>rage score during game rounds was &lt; </a:t>
            </a:r>
            <a:r>
              <a:rPr lang="en-US" sz="2600" dirty="0" smtClean="0">
                <a:solidFill>
                  <a:schemeClr val="bg2"/>
                </a:solidFill>
                <a:cs typeface="Aparajita" panose="020B0604020202020204" pitchFamily="34" charset="0"/>
              </a:rPr>
              <a:t>C</a:t>
            </a:r>
            <a:r>
              <a:rPr lang="en-US" sz="2600" dirty="0" smtClean="0">
                <a:solidFill>
                  <a:schemeClr val="bg2"/>
                </a:solidFill>
              </a:rPr>
              <a:t>, abort.</a:t>
            </a:r>
          </a:p>
          <a:p>
            <a:pPr marL="457200" indent="-457200">
              <a:buFontTx/>
              <a:buAutoNum type="arabicPeriod"/>
            </a:pPr>
            <a:endParaRPr lang="en-US" sz="2600" dirty="0" smtClean="0">
              <a:solidFill>
                <a:schemeClr val="bg2"/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2600" dirty="0" smtClean="0">
                <a:solidFill>
                  <a:schemeClr val="bg2"/>
                </a:solidFill>
              </a:rPr>
              <a:t>Otherwise, apply randomness extractor.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10840360" y="2736877"/>
            <a:ext cx="0" cy="0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 rot="888175">
            <a:off x="8543121" y="4585845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7821045" y="4157348"/>
            <a:ext cx="1" cy="371782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8708526" y="4159916"/>
            <a:ext cx="16507" cy="331710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7800662" y="4809142"/>
            <a:ext cx="20383" cy="298991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8725033" y="4799459"/>
            <a:ext cx="25186" cy="308674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664164" y="1720278"/>
            <a:ext cx="62961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0657" y="1704457"/>
            <a:ext cx="62961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74635" y="5098324"/>
            <a:ext cx="6296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572569" y="5108639"/>
            <a:ext cx="6296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83115" y="2176402"/>
            <a:ext cx="1990202" cy="187166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350948" y="3471180"/>
            <a:ext cx="1990202" cy="209512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67" name="Straight Arrow Connector 66"/>
          <p:cNvCxnSpPr>
            <a:endCxn id="65" idx="3"/>
          </p:cNvCxnSpPr>
          <p:nvPr/>
        </p:nvCxnSpPr>
        <p:spPr>
          <a:xfrm flipH="1" flipV="1">
            <a:off x="9373317" y="2269985"/>
            <a:ext cx="778536" cy="78414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126212" y="2977499"/>
            <a:ext cx="1487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Game rounds occur with probability </a:t>
            </a:r>
            <a:r>
              <a:rPr lang="en-US" dirty="0">
                <a:solidFill>
                  <a:srgbClr val="455F51"/>
                </a:solidFill>
                <a:latin typeface="Symbol" panose="05050102010706020507" pitchFamily="18" charset="2"/>
                <a:cs typeface="Aparajita" panose="020B0604020202020204" pitchFamily="34" charset="0"/>
              </a:rPr>
              <a:t>d</a:t>
            </a:r>
            <a:r>
              <a:rPr lang="en-US" dirty="0" smtClean="0">
                <a:solidFill>
                  <a:srgbClr val="455F51"/>
                </a:solidFill>
                <a:latin typeface="Symbol" panose="05050102010706020507" pitchFamily="18" charset="2"/>
                <a:cs typeface="Aparajita" panose="020B0604020202020204" pitchFamily="34" charset="0"/>
              </a:rPr>
              <a:t>.</a:t>
            </a:r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 rot="888175">
            <a:off x="7640203" y="4577151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9403041" y="3107494"/>
            <a:ext cx="679098" cy="458503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7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417" y="4349369"/>
            <a:ext cx="372268" cy="590697"/>
          </a:xfrm>
          <a:prstGeom prst="rect">
            <a:avLst/>
          </a:prstGeom>
        </p:spPr>
      </p:pic>
      <p:sp>
        <p:nvSpPr>
          <p:cNvPr id="46" name="Content Placeholder 2"/>
          <p:cNvSpPr txBox="1">
            <a:spLocks/>
          </p:cNvSpPr>
          <p:nvPr/>
        </p:nvSpPr>
        <p:spPr>
          <a:xfrm>
            <a:off x="792480" y="721562"/>
            <a:ext cx="5892800" cy="835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spot-checking protocol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Content Placeholder 2"/>
          <p:cNvSpPr txBox="1">
            <a:spLocks/>
          </p:cNvSpPr>
          <p:nvPr/>
        </p:nvSpPr>
        <p:spPr>
          <a:xfrm>
            <a:off x="6685280" y="590345"/>
            <a:ext cx="5892800" cy="835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600" dirty="0" err="1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Coudron</a:t>
            </a:r>
            <a:r>
              <a:rPr lang="en-US" sz="2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600" dirty="0" err="1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Vidick</a:t>
            </a:r>
            <a:r>
              <a:rPr lang="en-US" sz="2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-Yuen 2013,</a:t>
            </a:r>
          </a:p>
          <a:p>
            <a:pPr marL="0" indent="0">
              <a:buNone/>
            </a:pPr>
            <a:r>
              <a:rPr lang="en-US" sz="2600" dirty="0" err="1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Vazirani-Vidick</a:t>
            </a:r>
            <a:r>
              <a:rPr lang="en-US" sz="2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2012)</a:t>
            </a:r>
          </a:p>
        </p:txBody>
      </p:sp>
    </p:spTree>
    <p:extLst>
      <p:ext uri="{BB962C8B-B14F-4D97-AF65-F5344CB8AC3E}">
        <p14:creationId xmlns:p14="http://schemas.microsoft.com/office/powerpoint/2010/main" val="1001783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1" grpId="0"/>
      <p:bldP spid="62" grpId="0"/>
      <p:bldP spid="63" grpId="0"/>
      <p:bldP spid="64" grpId="0"/>
      <p:bldP spid="65" grpId="0" animBg="1"/>
      <p:bldP spid="66" grpId="0" animBg="1"/>
      <p:bldP spid="68" grpId="0"/>
      <p:bldP spid="6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41714" y="5497398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0840360" y="2736877"/>
            <a:ext cx="0" cy="0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66" y="3521985"/>
            <a:ext cx="1553566" cy="181874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888175">
            <a:off x="3915145" y="4036244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888175">
            <a:off x="5529290" y="4051163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/>
              <p14:cNvContentPartPr/>
              <p14:nvPr/>
            </p14:nvContentPartPr>
            <p14:xfrm>
              <a:off x="7791033" y="2712634"/>
              <a:ext cx="360720" cy="312042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3033" y="2705076"/>
                <a:ext cx="386280" cy="348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/>
              <p14:cNvContentPartPr/>
              <p14:nvPr/>
            </p14:nvContentPartPr>
            <p14:xfrm>
              <a:off x="7731811" y="3343005"/>
              <a:ext cx="314076" cy="276656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1664" y="3327176"/>
                <a:ext cx="341778" cy="30004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/>
          <p:cNvSpPr txBox="1"/>
          <p:nvPr/>
        </p:nvSpPr>
        <p:spPr>
          <a:xfrm>
            <a:off x="8265622" y="2653212"/>
            <a:ext cx="35383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prstClr val="black"/>
                </a:solidFill>
              </a:rPr>
              <a:t>Small resources, high rate</a:t>
            </a:r>
            <a:endParaRPr lang="en-US" sz="2200" dirty="0">
              <a:solidFill>
                <a:prstClr val="black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59339" y="3274794"/>
            <a:ext cx="20971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prstClr val="black"/>
                </a:solidFill>
              </a:rPr>
              <a:t>Not fully secure</a:t>
            </a:r>
            <a:endParaRPr lang="en-US" sz="2200" dirty="0">
              <a:solidFill>
                <a:prstClr val="black"/>
              </a:solidFill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075605" y="346879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690820" y="344745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055223" y="4248612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11202" y="4264777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4458589" y="4472483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4302481" y="4134955"/>
            <a:ext cx="190570" cy="312875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618892" y="4129917"/>
            <a:ext cx="133941" cy="301439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0142" y="1570616"/>
            <a:ext cx="553855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Let G</a:t>
            </a:r>
            <a:r>
              <a:rPr lang="en-US" sz="2600" dirty="0">
                <a:solidFill>
                  <a:srgbClr val="455F51"/>
                </a:solidFill>
                <a:cs typeface="Aparajita" panose="020B0604020202020204" pitchFamily="34" charset="0"/>
              </a:rPr>
              <a:t> </a:t>
            </a:r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= nonlocal game, a = fixed input.</a:t>
            </a:r>
          </a:p>
          <a:p>
            <a:pPr marL="457200" indent="-457200">
              <a:buAutoNum type="arabicPeriod"/>
            </a:pPr>
            <a:endParaRPr lang="en-US" sz="2600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Run </a:t>
            </a:r>
            <a:r>
              <a:rPr lang="en-US" sz="2600" dirty="0">
                <a:solidFill>
                  <a:srgbClr val="455F51"/>
                </a:solidFill>
                <a:cs typeface="Aparajita" panose="020B0604020202020204" pitchFamily="34" charset="0"/>
              </a:rPr>
              <a:t>the device N times. During “game rounds,” play </a:t>
            </a:r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G.  </a:t>
            </a:r>
            <a:r>
              <a:rPr lang="en-US" sz="2600" dirty="0">
                <a:solidFill>
                  <a:srgbClr val="455F51"/>
                </a:solidFill>
                <a:cs typeface="Aparajita" panose="020B0604020202020204" pitchFamily="34" charset="0"/>
              </a:rPr>
              <a:t>Otherwise, just input </a:t>
            </a:r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a.</a:t>
            </a:r>
          </a:p>
          <a:p>
            <a:pPr marL="457200" indent="-457200">
              <a:buAutoNum type="arabicPeriod"/>
            </a:pPr>
            <a:endParaRPr lang="en-US" sz="2600" dirty="0">
              <a:solidFill>
                <a:srgbClr val="455F51"/>
              </a:solidFill>
              <a:cs typeface="Aparajita" panose="020B0604020202020204" pitchFamily="34" charset="0"/>
            </a:endParaRPr>
          </a:p>
          <a:p>
            <a:pPr marL="457200" indent="-457200">
              <a:buFontTx/>
              <a:buAutoNum type="arabicPeriod"/>
            </a:pPr>
            <a:r>
              <a:rPr lang="en-US" sz="2600" dirty="0">
                <a:solidFill>
                  <a:srgbClr val="455F51"/>
                </a:solidFill>
                <a:cs typeface="Aparajita" panose="020B0604020202020204" pitchFamily="34" charset="0"/>
              </a:rPr>
              <a:t>If the ave</a:t>
            </a:r>
            <a:r>
              <a:rPr lang="en-US" sz="2600" dirty="0">
                <a:solidFill>
                  <a:schemeClr val="bg2"/>
                </a:solidFill>
                <a:cs typeface="Aparajita" panose="020B0604020202020204" pitchFamily="34" charset="0"/>
              </a:rPr>
              <a:t>rage score during game rounds was &lt; </a:t>
            </a:r>
            <a:r>
              <a:rPr lang="en-US" sz="2600" dirty="0" smtClean="0">
                <a:solidFill>
                  <a:schemeClr val="bg2"/>
                </a:solidFill>
                <a:cs typeface="Aparajita" panose="020B0604020202020204" pitchFamily="34" charset="0"/>
              </a:rPr>
              <a:t>C</a:t>
            </a:r>
            <a:r>
              <a:rPr lang="en-US" sz="2600" dirty="0" smtClean="0">
                <a:solidFill>
                  <a:schemeClr val="bg2"/>
                </a:solidFill>
              </a:rPr>
              <a:t>, abort.</a:t>
            </a:r>
          </a:p>
          <a:p>
            <a:pPr marL="457200" indent="-457200">
              <a:buFontTx/>
              <a:buAutoNum type="arabicPeriod"/>
            </a:pPr>
            <a:endParaRPr lang="en-US" sz="2600" dirty="0" smtClean="0">
              <a:solidFill>
                <a:schemeClr val="bg2"/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2600" dirty="0" smtClean="0">
                <a:solidFill>
                  <a:schemeClr val="bg2"/>
                </a:solidFill>
              </a:rPr>
              <a:t>Otherwise, apply randomness extractor.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10840360" y="2736877"/>
            <a:ext cx="0" cy="0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 rot="888175">
            <a:off x="8543121" y="4585845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7821045" y="4157348"/>
            <a:ext cx="1" cy="371782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8708526" y="4159916"/>
            <a:ext cx="16507" cy="331710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7800662" y="4809142"/>
            <a:ext cx="20383" cy="298991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8725033" y="4799459"/>
            <a:ext cx="25186" cy="308674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664164" y="1720278"/>
            <a:ext cx="62961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0657" y="1704457"/>
            <a:ext cx="62961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74635" y="5098324"/>
            <a:ext cx="6296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572569" y="5108639"/>
            <a:ext cx="6296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83115" y="2176402"/>
            <a:ext cx="1990202" cy="187166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350948" y="3471180"/>
            <a:ext cx="1990202" cy="209512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67" name="Straight Arrow Connector 66"/>
          <p:cNvCxnSpPr>
            <a:endCxn id="65" idx="3"/>
          </p:cNvCxnSpPr>
          <p:nvPr/>
        </p:nvCxnSpPr>
        <p:spPr>
          <a:xfrm flipH="1" flipV="1">
            <a:off x="9373317" y="2269985"/>
            <a:ext cx="778536" cy="784148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126212" y="2977499"/>
            <a:ext cx="1487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Game rounds occur with probability </a:t>
            </a:r>
            <a:r>
              <a:rPr lang="en-US" dirty="0" smtClean="0">
                <a:solidFill>
                  <a:srgbClr val="455F51"/>
                </a:solidFill>
                <a:latin typeface="Symbol" panose="05050102010706020507" pitchFamily="18" charset="2"/>
                <a:cs typeface="Aparajita" panose="020B0604020202020204" pitchFamily="34" charset="0"/>
              </a:rPr>
              <a:t>e.</a:t>
            </a:r>
            <a:endParaRPr lang="en-US" dirty="0" smtClean="0">
              <a:solidFill>
                <a:prstClr val="black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 rot="888175">
            <a:off x="7640203" y="4577151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9403041" y="3107494"/>
            <a:ext cx="679098" cy="458503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7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417" y="4349369"/>
            <a:ext cx="372268" cy="590697"/>
          </a:xfrm>
          <a:prstGeom prst="rect">
            <a:avLst/>
          </a:prstGeom>
        </p:spPr>
      </p:pic>
      <p:sp>
        <p:nvSpPr>
          <p:cNvPr id="46" name="Content Placeholder 2"/>
          <p:cNvSpPr txBox="1">
            <a:spLocks/>
          </p:cNvSpPr>
          <p:nvPr/>
        </p:nvSpPr>
        <p:spPr>
          <a:xfrm>
            <a:off x="792480" y="721562"/>
            <a:ext cx="5892800" cy="835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spot-checking protocol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8" name="Content Placeholder 2"/>
          <p:cNvSpPr txBox="1">
            <a:spLocks/>
          </p:cNvSpPr>
          <p:nvPr/>
        </p:nvSpPr>
        <p:spPr>
          <a:xfrm>
            <a:off x="6685280" y="590345"/>
            <a:ext cx="5892800" cy="835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600" dirty="0" err="1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Coudron</a:t>
            </a:r>
            <a:r>
              <a:rPr lang="en-US" sz="2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2600" dirty="0" err="1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Vidick</a:t>
            </a:r>
            <a:r>
              <a:rPr lang="en-US" sz="2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-Yuen 2013,</a:t>
            </a:r>
          </a:p>
          <a:p>
            <a:pPr marL="0" indent="0">
              <a:buNone/>
            </a:pPr>
            <a:r>
              <a:rPr lang="en-US" sz="2600" dirty="0" err="1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Vazirani-Vidick</a:t>
            </a:r>
            <a:r>
              <a:rPr lang="en-US" sz="2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2012)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9772" y="590345"/>
            <a:ext cx="5292406" cy="5715167"/>
          </a:xfrm>
          <a:prstGeom prst="rect">
            <a:avLst/>
          </a:prstGeom>
          <a:solidFill>
            <a:schemeClr val="tx1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6336002" y="858747"/>
            <a:ext cx="525988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Let </a:t>
            </a:r>
            <a:r>
              <a:rPr lang="en-US" sz="2800" dirty="0" err="1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W</a:t>
            </a:r>
            <a:r>
              <a:rPr lang="en-US" sz="2800" baseline="-25000" dirty="0" err="1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G,a</a:t>
            </a: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8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= optimal score among devices that are </a:t>
            </a:r>
            <a:r>
              <a:rPr lang="en-US" sz="2800" u="sng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deterministic on a.</a:t>
            </a:r>
            <a:endParaRPr lang="en-US" sz="2800" dirty="0" smtClean="0">
              <a:solidFill>
                <a:schemeClr val="bg2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endParaRPr lang="en-US" sz="2800" u="sng" dirty="0" smtClean="0">
              <a:solidFill>
                <a:schemeClr val="bg2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2800" b="1" dirty="0" err="1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Thm</a:t>
            </a:r>
            <a:r>
              <a:rPr lang="en-US" sz="2800" b="1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(CVY 13):</a:t>
            </a:r>
            <a:r>
              <a:rPr lang="en-US" sz="28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The protocol is secure against an </a:t>
            </a:r>
            <a:r>
              <a:rPr lang="en-US" sz="2800" dirty="0" err="1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unentangled</a:t>
            </a:r>
            <a:r>
              <a:rPr lang="en-US" sz="28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adversary if C &gt; </a:t>
            </a:r>
            <a:r>
              <a:rPr lang="en-US" sz="2800" dirty="0" err="1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W</a:t>
            </a:r>
            <a:r>
              <a:rPr lang="en-US" sz="2800" baseline="-25000" dirty="0" err="1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G,a</a:t>
            </a:r>
            <a:r>
              <a:rPr lang="en-US" sz="28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.</a:t>
            </a:r>
          </a:p>
          <a:p>
            <a:endParaRPr lang="en-US" sz="2800" b="1" dirty="0">
              <a:solidFill>
                <a:schemeClr val="bg2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Thm</a:t>
            </a:r>
            <a:r>
              <a:rPr lang="en-US" sz="2800" b="1" dirty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800" b="1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(MS 15):</a:t>
            </a:r>
            <a:r>
              <a:rPr lang="en-US" sz="28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The protocol is secure </a:t>
            </a: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against </a:t>
            </a:r>
            <a:r>
              <a:rPr lang="en-US" sz="2800" u="sng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any</a:t>
            </a:r>
            <a:r>
              <a:rPr lang="en-US" sz="28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adversary </a:t>
            </a:r>
            <a:r>
              <a:rPr lang="en-US" sz="28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if</a:t>
            </a:r>
          </a:p>
          <a:p>
            <a:r>
              <a:rPr lang="en-US" sz="28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C &gt; </a:t>
            </a:r>
            <a:r>
              <a:rPr lang="en-US" sz="2800" dirty="0" err="1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W</a:t>
            </a:r>
            <a:r>
              <a:rPr lang="en-US" sz="2800" baseline="-25000" dirty="0" err="1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G,a</a:t>
            </a:r>
            <a:r>
              <a:rPr lang="en-US" sz="28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.</a:t>
            </a:r>
            <a:endParaRPr lang="en-US" sz="2800" b="1" dirty="0" smtClean="0">
              <a:solidFill>
                <a:schemeClr val="bg2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endParaRPr lang="en-US" sz="2800" b="1" dirty="0" smtClean="0">
              <a:solidFill>
                <a:schemeClr val="bg2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2800" b="1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Best possible!</a:t>
            </a:r>
            <a:endParaRPr lang="en-US" sz="2800" b="1" dirty="0">
              <a:solidFill>
                <a:schemeClr val="bg2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6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41714" y="5497398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028" y="3086435"/>
            <a:ext cx="1553566" cy="181874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888175">
            <a:off x="4097826" y="3405442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888175">
            <a:off x="5711971" y="3420361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066967" y="303324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682182" y="301190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237904" y="3617810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893883" y="363397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4458589" y="4472483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4485162" y="3504153"/>
            <a:ext cx="190570" cy="312875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801573" y="3499115"/>
            <a:ext cx="133941" cy="301439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14995" y="2256502"/>
            <a:ext cx="662665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i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noise threshold vs.</a:t>
            </a:r>
          </a:p>
          <a:p>
            <a:r>
              <a:rPr lang="en-US" sz="2600" i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# of random bits per round</a:t>
            </a:r>
            <a:endParaRPr lang="en-US" sz="2600" i="1" dirty="0" smtClean="0">
              <a:solidFill>
                <a:schemeClr val="bg2"/>
              </a:solidFill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721562"/>
            <a:ext cx="6822516" cy="835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much randomness (MS 15)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77539" y="2010921"/>
            <a:ext cx="4295044" cy="1128944"/>
          </a:xfrm>
          <a:prstGeom prst="rect">
            <a:avLst/>
          </a:prstGeom>
        </p:spPr>
      </p:pic>
      <p:cxnSp>
        <p:nvCxnSpPr>
          <p:cNvPr id="50" name="Straight Arrow Connector 49"/>
          <p:cNvCxnSpPr/>
          <p:nvPr/>
        </p:nvCxnSpPr>
        <p:spPr>
          <a:xfrm>
            <a:off x="2160826" y="3570578"/>
            <a:ext cx="4923183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3100428" y="3479245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6540674" y="3479245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2880741" y="3897323"/>
            <a:ext cx="1246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W</a:t>
            </a:r>
            <a:r>
              <a:rPr lang="en-US" sz="3200" baseline="-25000" dirty="0" err="1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G,a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282002" y="3911990"/>
            <a:ext cx="1246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W</a:t>
            </a:r>
            <a:r>
              <a:rPr lang="en-US" sz="3200" baseline="-250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G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904" y="4756820"/>
            <a:ext cx="3909968" cy="113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05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45" grpId="0"/>
      <p:bldP spid="51" grpId="0" animBg="1"/>
      <p:bldP spid="52" grpId="0" animBg="1"/>
      <p:bldP spid="53" grpId="0"/>
      <p:bldP spid="5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6451" y="250088"/>
            <a:ext cx="9144000" cy="1641490"/>
          </a:xfrm>
        </p:spPr>
        <p:txBody>
          <a:bodyPr>
            <a:noAutofit/>
          </a:bodyPr>
          <a:lstStyle/>
          <a:p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smtClean="0"/>
              <a:t>Proof Techniques</a:t>
            </a:r>
            <a:r>
              <a:rPr lang="en-US" sz="7200" dirty="0"/>
              <a:t/>
            </a:r>
            <a:br>
              <a:rPr lang="en-US" sz="7200" dirty="0"/>
            </a:br>
            <a:endParaRPr lang="en-US" sz="6400" dirty="0"/>
          </a:p>
        </p:txBody>
      </p:sp>
    </p:spTree>
    <p:extLst>
      <p:ext uri="{BB962C8B-B14F-4D97-AF65-F5344CB8AC3E}">
        <p14:creationId xmlns:p14="http://schemas.microsoft.com/office/powerpoint/2010/main" val="331729333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755" y="4141909"/>
            <a:ext cx="1553566" cy="1818742"/>
          </a:xfrm>
          <a:prstGeom prst="rect">
            <a:avLst/>
          </a:prstGeom>
        </p:spPr>
      </p:pic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3911312" y="4868536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567291" y="4884701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4314678" y="5092407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6490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721562"/>
            <a:ext cx="9358933" cy="649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Mathematical Preliminary</a:t>
            </a:r>
            <a:endParaRPr lang="en-US" sz="3600" dirty="0" smtClean="0">
              <a:solidFill>
                <a:srgbClr val="455F51"/>
              </a:solidFill>
              <a:latin typeface="Calibri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Content Placeholder 2"/>
          <p:cNvSpPr txBox="1">
            <a:spLocks/>
          </p:cNvSpPr>
          <p:nvPr/>
        </p:nvSpPr>
        <p:spPr>
          <a:xfrm>
            <a:off x="800002" y="1697162"/>
            <a:ext cx="6882155" cy="4612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 smtClean="0">
              <a:solidFill>
                <a:srgbClr val="455F51"/>
              </a:solidFill>
              <a:latin typeface="Calibri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3278" y="1821404"/>
            <a:ext cx="93933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Consider the function f(X) = </a:t>
            </a:r>
            <a:r>
              <a:rPr lang="en-US" sz="3000" dirty="0" err="1" smtClean="0">
                <a:solidFill>
                  <a:schemeClr val="bg2"/>
                </a:solidFill>
                <a:latin typeface="Calibri" panose="020F0502020204030204" pitchFamily="34" charset="0"/>
              </a:rPr>
              <a:t>Tr</a:t>
            </a:r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</a:rPr>
              <a:t>[ </a:t>
            </a:r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|X|</a:t>
            </a:r>
            <a:r>
              <a:rPr lang="en-US" sz="3000" baseline="30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1+</a:t>
            </a:r>
            <a:r>
              <a:rPr lang="en-US" sz="3000" baseline="30000" dirty="0" smtClean="0">
                <a:solidFill>
                  <a:schemeClr val="bg2"/>
                </a:solidFill>
                <a:latin typeface="Symbol" panose="05050102010706020507" pitchFamily="18" charset="2"/>
              </a:rPr>
              <a:t>e</a:t>
            </a:r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].</a:t>
            </a:r>
          </a:p>
          <a:p>
            <a:endParaRPr lang="en-US" sz="30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</a:rPr>
              <a:t> - If X is a density operator, f</a:t>
            </a:r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</a:rPr>
              <a:t>measures how </a:t>
            </a:r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deterministic 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</a:rPr>
              <a:t>X is.  (Smaller = more random</a:t>
            </a:r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.)</a:t>
            </a:r>
          </a:p>
          <a:p>
            <a:endParaRPr lang="en-US" sz="30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 - 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</a:rPr>
              <a:t>f</a:t>
            </a:r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is “almost” a norm on Hermitian operators.</a:t>
            </a:r>
          </a:p>
        </p:txBody>
      </p:sp>
    </p:spTree>
    <p:extLst>
      <p:ext uri="{BB962C8B-B14F-4D97-AF65-F5344CB8AC3E}">
        <p14:creationId xmlns:p14="http://schemas.microsoft.com/office/powerpoint/2010/main" val="360980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755" y="4141909"/>
            <a:ext cx="1553566" cy="181874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888175">
            <a:off x="3771234" y="4183638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888175">
            <a:off x="5385379" y="4198557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3931694" y="3616189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546909" y="3594849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911312" y="4868536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567291" y="4884701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4314678" y="5092407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4158570" y="4282349"/>
            <a:ext cx="190570" cy="312875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474981" y="4277311"/>
            <a:ext cx="133941" cy="301439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6490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4" name="Content Placeholder 2"/>
          <p:cNvSpPr txBox="1">
            <a:spLocks/>
          </p:cNvSpPr>
          <p:nvPr/>
        </p:nvSpPr>
        <p:spPr>
          <a:xfrm>
            <a:off x="800002" y="1697162"/>
            <a:ext cx="6882155" cy="4612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 smtClean="0">
              <a:solidFill>
                <a:srgbClr val="455F51"/>
              </a:solidFill>
              <a:latin typeface="Calibri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3278" y="1821404"/>
            <a:ext cx="9393362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The function </a:t>
            </a:r>
            <a:r>
              <a:rPr lang="en-US" sz="3000" dirty="0" err="1">
                <a:solidFill>
                  <a:schemeClr val="bg2"/>
                </a:solidFill>
                <a:latin typeface="Calibri" panose="020F0502020204030204" pitchFamily="34" charset="0"/>
              </a:rPr>
              <a:t>Tr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</a:rPr>
              <a:t> [ </a:t>
            </a:r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|X|</a:t>
            </a:r>
            <a:r>
              <a:rPr lang="en-US" sz="3000" baseline="30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1+</a:t>
            </a:r>
            <a:r>
              <a:rPr lang="en-US" sz="3000" baseline="30000" dirty="0" smtClean="0">
                <a:solidFill>
                  <a:schemeClr val="bg2"/>
                </a:solidFill>
                <a:latin typeface="Symbol" panose="05050102010706020507" pitchFamily="18" charset="2"/>
              </a:rPr>
              <a:t>e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</a:rPr>
              <a:t>]</a:t>
            </a:r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is uniformly convex. [Ball+ 94]</a:t>
            </a: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56421" y="3682086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dirty="0" smtClean="0"/>
              <a:t>1011                      1010010001011101010001011101101010001111111010100010 ….</a:t>
            </a:r>
            <a:endParaRPr lang="en-US" dirty="0"/>
          </a:p>
        </p:txBody>
      </p:sp>
      <p:sp>
        <p:nvSpPr>
          <p:cNvPr id="39" name="Freeform 38"/>
          <p:cNvSpPr/>
          <p:nvPr/>
        </p:nvSpPr>
        <p:spPr>
          <a:xfrm>
            <a:off x="838200" y="3284722"/>
            <a:ext cx="9749307" cy="334851"/>
          </a:xfrm>
          <a:custGeom>
            <a:avLst/>
            <a:gdLst>
              <a:gd name="connsiteX0" fmla="*/ 0 w 9749307"/>
              <a:gd name="connsiteY0" fmla="*/ 334851 h 334851"/>
              <a:gd name="connsiteX1" fmla="*/ 4739425 w 9749307"/>
              <a:gd name="connsiteY1" fmla="*/ 0 h 334851"/>
              <a:gd name="connsiteX2" fmla="*/ 9749307 w 9749307"/>
              <a:gd name="connsiteY2" fmla="*/ 334851 h 334851"/>
              <a:gd name="connsiteX3" fmla="*/ 9749307 w 9749307"/>
              <a:gd name="connsiteY3" fmla="*/ 334851 h 33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9307" h="334851">
                <a:moveTo>
                  <a:pt x="0" y="334851"/>
                </a:moveTo>
                <a:cubicBezTo>
                  <a:pt x="1557270" y="167425"/>
                  <a:pt x="3114541" y="0"/>
                  <a:pt x="4739425" y="0"/>
                </a:cubicBezTo>
                <a:cubicBezTo>
                  <a:pt x="6364309" y="0"/>
                  <a:pt x="9749307" y="334851"/>
                  <a:pt x="9749307" y="334851"/>
                </a:cubicBezTo>
                <a:lnTo>
                  <a:pt x="9749307" y="33485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587674" y="3667798"/>
            <a:ext cx="108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+mj-lt"/>
              </a:rPr>
              <a:t>S</a:t>
            </a:r>
          </a:p>
        </p:txBody>
      </p:sp>
      <p:sp>
        <p:nvSpPr>
          <p:cNvPr id="41" name="Oval 40"/>
          <p:cNvSpPr/>
          <p:nvPr/>
        </p:nvSpPr>
        <p:spPr>
          <a:xfrm>
            <a:off x="715344" y="3522035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0459091" y="3545522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582626" y="3545522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10322559" y="3737633"/>
            <a:ext cx="108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+mj-lt"/>
              </a:rPr>
              <a:t>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6355" y="3757114"/>
            <a:ext cx="1863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+mj-lt"/>
              </a:rPr>
              <a:t>(S+T)/2</a:t>
            </a:r>
            <a:endParaRPr lang="en-US" sz="3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8771" y="4033504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Gap is </a:t>
            </a:r>
            <a:r>
              <a:rPr lang="en-US" sz="2400" dirty="0" smtClean="0">
                <a:solidFill>
                  <a:srgbClr val="FF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(e ).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5771739" y="3400253"/>
            <a:ext cx="1910418" cy="646054"/>
          </a:xfrm>
          <a:prstGeom prst="straightConnector1">
            <a:avLst/>
          </a:prstGeom>
          <a:ln w="762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/>
          <p:cNvSpPr txBox="1">
            <a:spLocks/>
          </p:cNvSpPr>
          <p:nvPr/>
        </p:nvSpPr>
        <p:spPr>
          <a:xfrm>
            <a:off x="792479" y="721562"/>
            <a:ext cx="9358933" cy="649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Mathematical Preliminary</a:t>
            </a:r>
            <a:endParaRPr lang="en-US" sz="3600" dirty="0" smtClean="0">
              <a:solidFill>
                <a:srgbClr val="455F51"/>
              </a:solidFill>
              <a:latin typeface="Calibri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42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/>
      <p:bldP spid="41" grpId="0" animBg="1"/>
      <p:bldP spid="42" grpId="0" animBg="1"/>
      <p:bldP spid="43" grpId="0" animBg="1"/>
      <p:bldP spid="44" grpId="0"/>
      <p:bldP spid="45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755" y="4141909"/>
            <a:ext cx="1553566" cy="181874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888175">
            <a:off x="3768112" y="4418986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07504" y="36490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4" name="Content Placeholder 2"/>
          <p:cNvSpPr txBox="1">
            <a:spLocks/>
          </p:cNvSpPr>
          <p:nvPr/>
        </p:nvSpPr>
        <p:spPr>
          <a:xfrm>
            <a:off x="800002" y="1697162"/>
            <a:ext cx="6882155" cy="4612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 smtClean="0">
              <a:solidFill>
                <a:srgbClr val="455F51"/>
              </a:solidFill>
              <a:latin typeface="Calibri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3278" y="1821404"/>
            <a:ext cx="1080052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Consequence [MS 15]: Suppose </a:t>
            </a:r>
            <a:r>
              <a:rPr lang="en-US" sz="3000" dirty="0" smtClean="0">
                <a:solidFill>
                  <a:schemeClr val="bg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 |-&gt; </a:t>
            </a:r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’ is the result of a binary measurement.</a:t>
            </a:r>
            <a:endParaRPr lang="en-US" sz="3000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The more </a:t>
            </a:r>
            <a:r>
              <a:rPr lang="en-US" sz="30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disturbance</a:t>
            </a:r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caused by a measurement, the more </a:t>
            </a:r>
            <a:r>
              <a:rPr lang="en-US" sz="30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randomness</a:t>
            </a:r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it adds.</a:t>
            </a:r>
          </a:p>
          <a:p>
            <a:r>
              <a:rPr lang="en-US" sz="3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Call this the (</a:t>
            </a:r>
            <a:r>
              <a:rPr lang="en-US" sz="32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1+</a:t>
            </a:r>
            <a:r>
              <a:rPr lang="en-US" sz="3200" dirty="0" smtClean="0">
                <a:solidFill>
                  <a:prstClr val="black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e)-</a:t>
            </a:r>
            <a:r>
              <a:rPr lang="en-US" sz="30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uncertainty principle.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453299" y="3917434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dirty="0" smtClean="0"/>
              <a:t>1011                      1010010001011101010001011101101010001111111010100010 ….</a:t>
            </a:r>
            <a:endParaRPr lang="en-US" dirty="0"/>
          </a:p>
        </p:txBody>
      </p:sp>
      <p:sp>
        <p:nvSpPr>
          <p:cNvPr id="39" name="Freeform 38"/>
          <p:cNvSpPr/>
          <p:nvPr/>
        </p:nvSpPr>
        <p:spPr>
          <a:xfrm>
            <a:off x="835078" y="3520070"/>
            <a:ext cx="9749307" cy="334851"/>
          </a:xfrm>
          <a:custGeom>
            <a:avLst/>
            <a:gdLst>
              <a:gd name="connsiteX0" fmla="*/ 0 w 9749307"/>
              <a:gd name="connsiteY0" fmla="*/ 334851 h 334851"/>
              <a:gd name="connsiteX1" fmla="*/ 4739425 w 9749307"/>
              <a:gd name="connsiteY1" fmla="*/ 0 h 334851"/>
              <a:gd name="connsiteX2" fmla="*/ 9749307 w 9749307"/>
              <a:gd name="connsiteY2" fmla="*/ 334851 h 334851"/>
              <a:gd name="connsiteX3" fmla="*/ 9749307 w 9749307"/>
              <a:gd name="connsiteY3" fmla="*/ 334851 h 33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9307" h="334851">
                <a:moveTo>
                  <a:pt x="0" y="334851"/>
                </a:moveTo>
                <a:cubicBezTo>
                  <a:pt x="1557270" y="167425"/>
                  <a:pt x="3114541" y="0"/>
                  <a:pt x="4739425" y="0"/>
                </a:cubicBezTo>
                <a:cubicBezTo>
                  <a:pt x="6364309" y="0"/>
                  <a:pt x="9749307" y="334851"/>
                  <a:pt x="9749307" y="334851"/>
                </a:cubicBezTo>
                <a:lnTo>
                  <a:pt x="9749307" y="33485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712222" y="3757383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0455969" y="3780870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147" y="2489478"/>
            <a:ext cx="2274370" cy="8862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30953" y="3978262"/>
            <a:ext cx="5375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</a:t>
            </a:r>
            <a:r>
              <a:rPr lang="en-US" sz="3200" dirty="0">
                <a:solidFill>
                  <a:schemeClr val="bg2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’</a:t>
            </a:r>
            <a:endParaRPr lang="en-US" sz="3200" dirty="0"/>
          </a:p>
        </p:txBody>
      </p:sp>
      <p:sp>
        <p:nvSpPr>
          <p:cNvPr id="35" name="Rectangle 34"/>
          <p:cNvSpPr/>
          <p:nvPr/>
        </p:nvSpPr>
        <p:spPr>
          <a:xfrm>
            <a:off x="587092" y="4031425"/>
            <a:ext cx="15089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chemeClr val="bg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</a:t>
            </a:r>
            <a:endParaRPr lang="en-US" sz="3200" dirty="0"/>
          </a:p>
        </p:txBody>
      </p:sp>
      <p:sp>
        <p:nvSpPr>
          <p:cNvPr id="36" name="Rectangle 35"/>
          <p:cNvSpPr/>
          <p:nvPr/>
        </p:nvSpPr>
        <p:spPr>
          <a:xfrm>
            <a:off x="10072040" y="4274371"/>
            <a:ext cx="15089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solidFill>
                  <a:schemeClr val="bg2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U</a:t>
            </a:r>
            <a:r>
              <a:rPr lang="en-US" sz="3200" dirty="0" smtClean="0">
                <a:solidFill>
                  <a:schemeClr val="bg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</a:t>
            </a:r>
            <a:r>
              <a:rPr lang="en-US" sz="3200" dirty="0" smtClean="0">
                <a:solidFill>
                  <a:schemeClr val="bg2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 U</a:t>
            </a:r>
            <a:r>
              <a:rPr lang="en-US" sz="3200" baseline="30000" dirty="0" smtClean="0">
                <a:solidFill>
                  <a:schemeClr val="bg2"/>
                </a:solidFill>
                <a:latin typeface="Calibri" panose="020F0502020204030204" pitchFamily="34" charset="0"/>
                <a:sym typeface="Symbol" panose="05050102010706020507" pitchFamily="18" charset="2"/>
              </a:rPr>
              <a:t>*</a:t>
            </a:r>
            <a:endParaRPr lang="en-US" sz="3200" dirty="0"/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5768617" y="3635601"/>
            <a:ext cx="1910418" cy="646054"/>
          </a:xfrm>
          <a:prstGeom prst="straightConnector1">
            <a:avLst/>
          </a:prstGeom>
          <a:ln w="762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759522" y="4074280"/>
            <a:ext cx="2168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Gap </a:t>
            </a:r>
            <a:r>
              <a:rPr lang="en-US" sz="2400" dirty="0">
                <a:solidFill>
                  <a:srgbClr val="FF0000"/>
                </a:solidFill>
              </a:rPr>
              <a:t>=</a:t>
            </a:r>
            <a:r>
              <a:rPr lang="en-US" sz="2400" dirty="0" smtClean="0">
                <a:solidFill>
                  <a:srgbClr val="FF0000"/>
                </a:solidFill>
              </a:rPr>
              <a:t> increase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i</a:t>
            </a:r>
            <a:r>
              <a:rPr lang="en-US" sz="2400" dirty="0" smtClean="0">
                <a:solidFill>
                  <a:srgbClr val="FF0000"/>
                </a:solidFill>
              </a:rPr>
              <a:t>n randomness.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5579504" y="3780870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792479" y="721562"/>
            <a:ext cx="9358933" cy="649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Mathematical Preliminary</a:t>
            </a:r>
            <a:endParaRPr lang="en-US" sz="3600" dirty="0" smtClean="0">
              <a:solidFill>
                <a:srgbClr val="455F51"/>
              </a:solidFill>
              <a:latin typeface="Calibri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69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1" grpId="0" animBg="1"/>
      <p:bldP spid="42" grpId="0" animBg="1"/>
      <p:bldP spid="8" grpId="0"/>
      <p:bldP spid="35" grpId="0"/>
      <p:bldP spid="36" grpId="0"/>
      <p:bldP spid="50" grpId="0"/>
      <p:bldP spid="5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41714" y="5497398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0840360" y="2736877"/>
            <a:ext cx="0" cy="0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66" y="3521985"/>
            <a:ext cx="1553566" cy="181874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888175">
            <a:off x="3915145" y="4036244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888175">
            <a:off x="5529290" y="4051163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/>
              <p14:cNvContentPartPr/>
              <p14:nvPr/>
            </p14:nvContentPartPr>
            <p14:xfrm>
              <a:off x="7791033" y="2712634"/>
              <a:ext cx="360720" cy="312042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3033" y="2705076"/>
                <a:ext cx="386280" cy="348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/>
              <p14:cNvContentPartPr/>
              <p14:nvPr/>
            </p14:nvContentPartPr>
            <p14:xfrm>
              <a:off x="7731811" y="3343005"/>
              <a:ext cx="314076" cy="276656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1664" y="3327176"/>
                <a:ext cx="341778" cy="30004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/>
          <p:cNvSpPr txBox="1"/>
          <p:nvPr/>
        </p:nvSpPr>
        <p:spPr>
          <a:xfrm>
            <a:off x="8265622" y="2653212"/>
            <a:ext cx="35383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prstClr val="black"/>
                </a:solidFill>
              </a:rPr>
              <a:t>Small resources, high rate</a:t>
            </a:r>
            <a:endParaRPr lang="en-US" sz="2200" dirty="0">
              <a:solidFill>
                <a:prstClr val="black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59339" y="3274794"/>
            <a:ext cx="20971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prstClr val="black"/>
                </a:solidFill>
              </a:rPr>
              <a:t>Not fully secure</a:t>
            </a:r>
            <a:endParaRPr lang="en-US" sz="2200" dirty="0">
              <a:solidFill>
                <a:prstClr val="black"/>
              </a:solidFill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075605" y="346879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690820" y="344745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055223" y="4248612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11202" y="4264777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4458589" y="4472483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4302481" y="4134955"/>
            <a:ext cx="190570" cy="312875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618892" y="4129917"/>
            <a:ext cx="133941" cy="301439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0142" y="1570616"/>
            <a:ext cx="553855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Let G</a:t>
            </a:r>
            <a:r>
              <a:rPr lang="en-US" sz="2600" dirty="0">
                <a:solidFill>
                  <a:srgbClr val="455F51"/>
                </a:solidFill>
                <a:cs typeface="Aparajita" panose="020B0604020202020204" pitchFamily="34" charset="0"/>
              </a:rPr>
              <a:t> </a:t>
            </a:r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= nonlocal game, a = fixed input.</a:t>
            </a:r>
          </a:p>
          <a:p>
            <a:pPr marL="457200" indent="-457200">
              <a:buAutoNum type="arabicPeriod"/>
            </a:pPr>
            <a:endParaRPr lang="en-US" sz="2600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Run </a:t>
            </a:r>
            <a:r>
              <a:rPr lang="en-US" sz="2600" dirty="0">
                <a:solidFill>
                  <a:srgbClr val="455F51"/>
                </a:solidFill>
                <a:cs typeface="Aparajita" panose="020B0604020202020204" pitchFamily="34" charset="0"/>
              </a:rPr>
              <a:t>the device N times. During “game rounds,” play </a:t>
            </a:r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G.  </a:t>
            </a:r>
            <a:r>
              <a:rPr lang="en-US" sz="2600" dirty="0">
                <a:solidFill>
                  <a:srgbClr val="455F51"/>
                </a:solidFill>
                <a:cs typeface="Aparajita" panose="020B0604020202020204" pitchFamily="34" charset="0"/>
              </a:rPr>
              <a:t>Otherwise, just input </a:t>
            </a:r>
            <a:r>
              <a:rPr lang="en-US" sz="2600" dirty="0" smtClean="0">
                <a:solidFill>
                  <a:srgbClr val="455F51"/>
                </a:solidFill>
                <a:cs typeface="Aparajita" panose="020B0604020202020204" pitchFamily="34" charset="0"/>
              </a:rPr>
              <a:t>a.</a:t>
            </a:r>
          </a:p>
          <a:p>
            <a:pPr marL="457200" indent="-457200">
              <a:buAutoNum type="arabicPeriod"/>
            </a:pPr>
            <a:endParaRPr lang="en-US" sz="2600" dirty="0">
              <a:solidFill>
                <a:srgbClr val="455F51"/>
              </a:solidFill>
              <a:cs typeface="Aparajita" panose="020B0604020202020204" pitchFamily="34" charset="0"/>
            </a:endParaRPr>
          </a:p>
          <a:p>
            <a:pPr marL="457200" indent="-457200">
              <a:buFontTx/>
              <a:buAutoNum type="arabicPeriod"/>
            </a:pPr>
            <a:r>
              <a:rPr lang="en-US" sz="2600" dirty="0">
                <a:solidFill>
                  <a:srgbClr val="455F51"/>
                </a:solidFill>
                <a:cs typeface="Aparajita" panose="020B0604020202020204" pitchFamily="34" charset="0"/>
              </a:rPr>
              <a:t>If the ave</a:t>
            </a:r>
            <a:r>
              <a:rPr lang="en-US" sz="2600" dirty="0">
                <a:solidFill>
                  <a:schemeClr val="bg2"/>
                </a:solidFill>
                <a:cs typeface="Aparajita" panose="020B0604020202020204" pitchFamily="34" charset="0"/>
              </a:rPr>
              <a:t>rage score during game rounds was &lt; </a:t>
            </a:r>
            <a:r>
              <a:rPr lang="en-US" sz="2600" dirty="0" smtClean="0">
                <a:solidFill>
                  <a:schemeClr val="bg2"/>
                </a:solidFill>
                <a:cs typeface="Aparajita" panose="020B0604020202020204" pitchFamily="34" charset="0"/>
              </a:rPr>
              <a:t>C</a:t>
            </a:r>
            <a:r>
              <a:rPr lang="en-US" sz="2600" dirty="0" smtClean="0">
                <a:solidFill>
                  <a:schemeClr val="bg2"/>
                </a:solidFill>
              </a:rPr>
              <a:t>, abort.</a:t>
            </a:r>
          </a:p>
          <a:p>
            <a:pPr marL="457200" indent="-457200">
              <a:buFontTx/>
              <a:buAutoNum type="arabicPeriod"/>
            </a:pPr>
            <a:endParaRPr lang="en-US" sz="2600" dirty="0" smtClean="0">
              <a:solidFill>
                <a:schemeClr val="bg2"/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2600" dirty="0" smtClean="0">
                <a:solidFill>
                  <a:schemeClr val="bg2"/>
                </a:solidFill>
              </a:rPr>
              <a:t>Otherwise, apply randomness extractor.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10840360" y="2736877"/>
            <a:ext cx="0" cy="0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 rot="888175">
            <a:off x="8543121" y="4585845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7821045" y="4157348"/>
            <a:ext cx="1" cy="371782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8708526" y="4159916"/>
            <a:ext cx="16507" cy="331710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7800662" y="4809142"/>
            <a:ext cx="20383" cy="298991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8725033" y="4799459"/>
            <a:ext cx="25186" cy="308674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664164" y="1720278"/>
            <a:ext cx="62961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0657" y="1704457"/>
            <a:ext cx="62961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74635" y="5098324"/>
            <a:ext cx="6296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572569" y="5108639"/>
            <a:ext cx="6296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83115" y="2176402"/>
            <a:ext cx="1990202" cy="187166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350948" y="3471180"/>
            <a:ext cx="1990202" cy="209512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 rot="888175">
            <a:off x="7640203" y="4577151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417" y="4349369"/>
            <a:ext cx="372268" cy="590697"/>
          </a:xfrm>
          <a:prstGeom prst="rect">
            <a:avLst/>
          </a:prstGeom>
        </p:spPr>
      </p:pic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721562"/>
            <a:ext cx="9564016" cy="623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 we prove security for this protocol?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07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41714" y="5497398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0840360" y="2736877"/>
            <a:ext cx="0" cy="0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66" y="3521985"/>
            <a:ext cx="1553566" cy="181874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888175">
            <a:off x="3915145" y="4036244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888175">
            <a:off x="5529290" y="4051163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/>
              <p14:cNvContentPartPr/>
              <p14:nvPr/>
            </p14:nvContentPartPr>
            <p14:xfrm>
              <a:off x="7791033" y="2712634"/>
              <a:ext cx="360720" cy="312042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73033" y="2705076"/>
                <a:ext cx="386280" cy="348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/>
              <p14:cNvContentPartPr/>
              <p14:nvPr/>
            </p14:nvContentPartPr>
            <p14:xfrm>
              <a:off x="7731811" y="3343005"/>
              <a:ext cx="314076" cy="276656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1664" y="3327176"/>
                <a:ext cx="341778" cy="30004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/>
          <p:cNvSpPr txBox="1"/>
          <p:nvPr/>
        </p:nvSpPr>
        <p:spPr>
          <a:xfrm>
            <a:off x="8265622" y="2653212"/>
            <a:ext cx="35383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prstClr val="black"/>
                </a:solidFill>
              </a:rPr>
              <a:t>Small resources, high rate</a:t>
            </a:r>
            <a:endParaRPr lang="en-US" sz="2200" dirty="0">
              <a:solidFill>
                <a:prstClr val="black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59339" y="3274794"/>
            <a:ext cx="20971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prstClr val="black"/>
                </a:solidFill>
              </a:rPr>
              <a:t>Not fully secure</a:t>
            </a:r>
            <a:endParaRPr lang="en-US" sz="2200" dirty="0">
              <a:solidFill>
                <a:prstClr val="black"/>
              </a:solidFill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075605" y="346879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690820" y="344745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055223" y="4248612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11202" y="4264777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4458589" y="4472483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4302481" y="4134955"/>
            <a:ext cx="190570" cy="312875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618892" y="4129917"/>
            <a:ext cx="133941" cy="301439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90142" y="1570616"/>
            <a:ext cx="553855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solidFill>
                  <a:schemeClr val="accent4">
                    <a:lumMod val="60000"/>
                    <a:lumOff val="40000"/>
                  </a:schemeClr>
                </a:solidFill>
                <a:cs typeface="Aparajita" panose="020B0604020202020204" pitchFamily="34" charset="0"/>
              </a:rPr>
              <a:t>Let G</a:t>
            </a:r>
            <a:r>
              <a:rPr lang="en-US" sz="2600" dirty="0">
                <a:solidFill>
                  <a:schemeClr val="accent4">
                    <a:lumMod val="60000"/>
                    <a:lumOff val="40000"/>
                  </a:schemeClr>
                </a:solidFill>
                <a:cs typeface="Aparajita" panose="020B0604020202020204" pitchFamily="34" charset="0"/>
              </a:rPr>
              <a:t> </a:t>
            </a:r>
            <a:r>
              <a:rPr lang="en-US" sz="2600" dirty="0" smtClean="0">
                <a:solidFill>
                  <a:schemeClr val="accent4">
                    <a:lumMod val="60000"/>
                    <a:lumOff val="40000"/>
                  </a:schemeClr>
                </a:solidFill>
                <a:cs typeface="Aparajita" panose="020B0604020202020204" pitchFamily="34" charset="0"/>
              </a:rPr>
              <a:t>= nonlocal game, a = fixed input.</a:t>
            </a:r>
          </a:p>
          <a:p>
            <a:pPr marL="457200" indent="-457200">
              <a:buAutoNum type="arabicPeriod"/>
            </a:pPr>
            <a:endParaRPr lang="en-US" sz="2600" dirty="0" smtClean="0">
              <a:solidFill>
                <a:schemeClr val="accent4">
                  <a:lumMod val="60000"/>
                  <a:lumOff val="40000"/>
                </a:schemeClr>
              </a:solidFill>
              <a:cs typeface="Aparajita" panose="020B0604020202020204" pitchFamily="34" charset="0"/>
            </a:endParaRPr>
          </a:p>
          <a:p>
            <a:pPr marL="457200" indent="-457200">
              <a:buAutoNum type="arabicPeriod"/>
            </a:pPr>
            <a:r>
              <a:rPr lang="en-US" sz="2600" dirty="0" smtClean="0">
                <a:solidFill>
                  <a:schemeClr val="accent4">
                    <a:lumMod val="60000"/>
                    <a:lumOff val="40000"/>
                  </a:schemeClr>
                </a:solidFill>
                <a:cs typeface="Aparajita" panose="020B0604020202020204" pitchFamily="34" charset="0"/>
              </a:rPr>
              <a:t>Run </a:t>
            </a:r>
            <a:r>
              <a:rPr lang="en-US" sz="2600" dirty="0">
                <a:solidFill>
                  <a:schemeClr val="accent4">
                    <a:lumMod val="60000"/>
                    <a:lumOff val="40000"/>
                  </a:schemeClr>
                </a:solidFill>
                <a:cs typeface="Aparajita" panose="020B0604020202020204" pitchFamily="34" charset="0"/>
              </a:rPr>
              <a:t>the device N times. During “game rounds,” play </a:t>
            </a:r>
            <a:r>
              <a:rPr lang="en-US" sz="2600" dirty="0" smtClean="0">
                <a:solidFill>
                  <a:schemeClr val="accent4">
                    <a:lumMod val="60000"/>
                    <a:lumOff val="40000"/>
                  </a:schemeClr>
                </a:solidFill>
                <a:cs typeface="Aparajita" panose="020B0604020202020204" pitchFamily="34" charset="0"/>
              </a:rPr>
              <a:t>G.  </a:t>
            </a:r>
            <a:r>
              <a:rPr lang="en-US" sz="2600" dirty="0">
                <a:solidFill>
                  <a:schemeClr val="accent4">
                    <a:lumMod val="60000"/>
                    <a:lumOff val="40000"/>
                  </a:schemeClr>
                </a:solidFill>
                <a:cs typeface="Aparajita" panose="020B0604020202020204" pitchFamily="34" charset="0"/>
              </a:rPr>
              <a:t>Otherwise, just input </a:t>
            </a:r>
            <a:r>
              <a:rPr lang="en-US" sz="2600" dirty="0" smtClean="0">
                <a:solidFill>
                  <a:schemeClr val="accent4">
                    <a:lumMod val="60000"/>
                    <a:lumOff val="40000"/>
                  </a:schemeClr>
                </a:solidFill>
                <a:cs typeface="Aparajita" panose="020B0604020202020204" pitchFamily="34" charset="0"/>
              </a:rPr>
              <a:t>a.</a:t>
            </a:r>
          </a:p>
          <a:p>
            <a:pPr marL="457200" indent="-457200">
              <a:buAutoNum type="arabicPeriod"/>
            </a:pPr>
            <a:endParaRPr lang="en-US" sz="2600" dirty="0">
              <a:solidFill>
                <a:schemeClr val="accent4">
                  <a:lumMod val="60000"/>
                  <a:lumOff val="40000"/>
                </a:schemeClr>
              </a:solidFill>
              <a:cs typeface="Aparajita" panose="020B0604020202020204" pitchFamily="34" charset="0"/>
            </a:endParaRPr>
          </a:p>
          <a:p>
            <a:pPr marL="457200" indent="-457200">
              <a:buFontTx/>
              <a:buAutoNum type="arabicPeriod"/>
            </a:pPr>
            <a:r>
              <a:rPr lang="en-US" sz="2600" dirty="0">
                <a:solidFill>
                  <a:schemeClr val="accent4">
                    <a:lumMod val="60000"/>
                    <a:lumOff val="40000"/>
                  </a:schemeClr>
                </a:solidFill>
                <a:cs typeface="Aparajita" panose="020B0604020202020204" pitchFamily="34" charset="0"/>
              </a:rPr>
              <a:t>If the average score during game rounds was &lt; </a:t>
            </a:r>
            <a:r>
              <a:rPr lang="en-US" sz="2600" dirty="0" smtClean="0">
                <a:solidFill>
                  <a:schemeClr val="accent4">
                    <a:lumMod val="60000"/>
                    <a:lumOff val="40000"/>
                  </a:schemeClr>
                </a:solidFill>
                <a:cs typeface="Aparajita" panose="020B0604020202020204" pitchFamily="34" charset="0"/>
              </a:rPr>
              <a:t>C</a:t>
            </a:r>
            <a:r>
              <a:rPr lang="en-US" sz="26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, abort.</a:t>
            </a:r>
          </a:p>
          <a:p>
            <a:pPr marL="457200" indent="-457200">
              <a:buFontTx/>
              <a:buAutoNum type="arabicPeriod"/>
            </a:pPr>
            <a:endParaRPr lang="en-US" sz="2600" dirty="0" smtClean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Tx/>
              <a:buAutoNum type="arabicPeriod"/>
            </a:pPr>
            <a:r>
              <a:rPr lang="en-US" sz="26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Otherwise, apply randomness extractor.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10840360" y="2736877"/>
            <a:ext cx="0" cy="0"/>
          </a:xfrm>
          <a:prstGeom prst="line">
            <a:avLst/>
          </a:prstGeom>
          <a:ln w="12700">
            <a:solidFill>
              <a:schemeClr val="tx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 rot="888175">
            <a:off x="8543121" y="4585845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7821045" y="4157348"/>
            <a:ext cx="1" cy="371782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8708526" y="4159916"/>
            <a:ext cx="16507" cy="331710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7800662" y="4809142"/>
            <a:ext cx="20383" cy="298991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8725033" y="4799459"/>
            <a:ext cx="25186" cy="308674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664164" y="1720278"/>
            <a:ext cx="62961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0657" y="1704457"/>
            <a:ext cx="62961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74635" y="5098324"/>
            <a:ext cx="6296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572569" y="5108639"/>
            <a:ext cx="6296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400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83115" y="2176402"/>
            <a:ext cx="1990202" cy="187166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350948" y="3471180"/>
            <a:ext cx="1990202" cy="209512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 rot="888175">
            <a:off x="7640203" y="4577151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417" y="4349369"/>
            <a:ext cx="372268" cy="590697"/>
          </a:xfrm>
          <a:prstGeom prst="rect">
            <a:avLst/>
          </a:prstGeom>
        </p:spPr>
      </p:pic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721562"/>
            <a:ext cx="9564016" cy="6230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 we prove security for this protocol?</a:t>
            </a:r>
            <a:endParaRPr lang="en-US" sz="2400" dirty="0" smtClean="0">
              <a:solidFill>
                <a:schemeClr val="accent4">
                  <a:lumMod val="60000"/>
                  <a:lumOff val="4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269772" y="590345"/>
            <a:ext cx="5292406" cy="5715167"/>
          </a:xfrm>
          <a:prstGeom prst="rect">
            <a:avLst/>
          </a:prstGeom>
          <a:solidFill>
            <a:schemeClr val="tx1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6336002" y="858747"/>
            <a:ext cx="5259882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A starting point:</a:t>
            </a:r>
          </a:p>
          <a:p>
            <a:endParaRPr lang="en-US" sz="2600" b="1" dirty="0">
              <a:solidFill>
                <a:schemeClr val="bg2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26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Suppose </a:t>
            </a:r>
            <a:r>
              <a:rPr lang="en-US" sz="2600" dirty="0" smtClean="0">
                <a:solidFill>
                  <a:schemeClr val="bg2"/>
                </a:solidFill>
                <a:latin typeface="Symbol" panose="05050102010706020507" pitchFamily="18" charset="2"/>
                <a:cs typeface="Courier New" panose="02070309020205020404" pitchFamily="49" charset="0"/>
              </a:rPr>
              <a:t>p</a:t>
            </a:r>
            <a:r>
              <a:rPr lang="en-US" sz="26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is a function such that any device satisfies</a:t>
            </a:r>
          </a:p>
          <a:p>
            <a:endParaRPr lang="en-US" sz="2600" dirty="0" smtClean="0">
              <a:solidFill>
                <a:schemeClr val="bg2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2600" dirty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6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  H ( output | input = a) &gt;=</a:t>
            </a:r>
          </a:p>
          <a:p>
            <a:r>
              <a:rPr lang="en-US" sz="26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              </a:t>
            </a:r>
            <a:r>
              <a:rPr lang="en-US" sz="2600" dirty="0">
                <a:solidFill>
                  <a:schemeClr val="bg2"/>
                </a:solidFill>
                <a:latin typeface="Symbol" panose="05050102010706020507" pitchFamily="18" charset="2"/>
                <a:cs typeface="Courier New" panose="02070309020205020404" pitchFamily="49" charset="0"/>
              </a:rPr>
              <a:t>p</a:t>
            </a:r>
            <a:r>
              <a:rPr lang="en-US" sz="26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(P ( win ))</a:t>
            </a:r>
          </a:p>
          <a:p>
            <a:endParaRPr lang="en-US" sz="2600" dirty="0">
              <a:solidFill>
                <a:schemeClr val="bg2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2600" b="1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Prop </a:t>
            </a:r>
            <a:r>
              <a:rPr lang="en-US" sz="26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(easy)</a:t>
            </a:r>
            <a:r>
              <a:rPr lang="en-US" sz="2600" b="1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:</a:t>
            </a:r>
            <a:r>
              <a:rPr lang="en-US" sz="26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In the </a:t>
            </a:r>
            <a:r>
              <a:rPr lang="en-US" sz="2600" b="1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non-adversarial IID case, </a:t>
            </a:r>
            <a:r>
              <a:rPr lang="en-US" sz="26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the protocol produces at least </a:t>
            </a:r>
            <a:r>
              <a:rPr lang="en-US" sz="2600" dirty="0" smtClean="0">
                <a:solidFill>
                  <a:schemeClr val="bg2"/>
                </a:solidFill>
                <a:latin typeface="Symbol" panose="05050102010706020507" pitchFamily="18" charset="2"/>
                <a:cs typeface="Courier New" panose="02070309020205020404" pitchFamily="49" charset="0"/>
              </a:rPr>
              <a:t>p</a:t>
            </a:r>
            <a:r>
              <a:rPr lang="en-US" sz="26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(</a:t>
            </a:r>
            <a:r>
              <a:rPr lang="en-US" sz="2600" dirty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6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C) N extractable bits.</a:t>
            </a:r>
            <a:r>
              <a:rPr lang="en-US" sz="28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</a:p>
          <a:p>
            <a:endParaRPr lang="en-US" sz="2800" b="1" dirty="0">
              <a:solidFill>
                <a:schemeClr val="bg2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sz="2800" dirty="0" smtClean="0">
                <a:solidFill>
                  <a:schemeClr val="bg2"/>
                </a:solidFill>
                <a:latin typeface="Symbol" panose="05050102010706020507" pitchFamily="18" charset="2"/>
                <a:cs typeface="Courier New" panose="02070309020205020404" pitchFamily="49" charset="0"/>
              </a:rPr>
              <a:t>p = </a:t>
            </a:r>
            <a:r>
              <a:rPr lang="en-US" sz="28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“simple rate curve”</a:t>
            </a:r>
            <a:endParaRPr lang="en-US" sz="2800" b="1" dirty="0">
              <a:solidFill>
                <a:schemeClr val="bg2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92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41714" y="5497398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66" y="3521985"/>
            <a:ext cx="1553566" cy="181874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888175">
            <a:off x="3915145" y="4036244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888175">
            <a:off x="5529290" y="4051163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075605" y="346879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690820" y="344745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055223" y="4248612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11202" y="4264777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4458589" y="4472483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4302481" y="4134955"/>
            <a:ext cx="190570" cy="312875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618892" y="4129917"/>
            <a:ext cx="133941" cy="301439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721562"/>
            <a:ext cx="6882155" cy="649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about non-IID?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Content Placeholder 2"/>
          <p:cNvSpPr txBox="1">
            <a:spLocks/>
          </p:cNvSpPr>
          <p:nvPr/>
        </p:nvSpPr>
        <p:spPr>
          <a:xfrm>
            <a:off x="800002" y="1697162"/>
            <a:ext cx="6882155" cy="4612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 smtClean="0">
              <a:solidFill>
                <a:srgbClr val="455F51"/>
              </a:solidFill>
              <a:latin typeface="Calibri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3278" y="1821404"/>
            <a:ext cx="67697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Compare:</a:t>
            </a:r>
          </a:p>
          <a:p>
            <a:r>
              <a:rPr lang="en-US" sz="2400" b="1" dirty="0">
                <a:solidFill>
                  <a:schemeClr val="bg2"/>
                </a:solidFill>
                <a:latin typeface="Calibri" panose="020F0502020204030204" pitchFamily="34" charset="0"/>
              </a:rPr>
              <a:t> </a:t>
            </a:r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   * von Neumann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entropy (H)</a:t>
            </a:r>
          </a:p>
          <a:p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   * </a:t>
            </a:r>
            <a:r>
              <a:rPr lang="en-US" sz="2400" b="1" dirty="0" err="1" smtClean="0">
                <a:solidFill>
                  <a:schemeClr val="bg2"/>
                </a:solidFill>
                <a:latin typeface="Calibri" panose="020F0502020204030204" pitchFamily="34" charset="0"/>
              </a:rPr>
              <a:t>Renyi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entropy 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</a:rPr>
              <a:t>(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H</a:t>
            </a:r>
            <a:r>
              <a:rPr lang="en-US" sz="2400" baseline="-25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1</a:t>
            </a:r>
            <a:r>
              <a:rPr lang="en-US" sz="2400" baseline="-25000" dirty="0" smtClean="0">
                <a:solidFill>
                  <a:schemeClr val="bg2"/>
                </a:solidFill>
                <a:latin typeface="Symbol" panose="05050102010706020507" pitchFamily="18" charset="2"/>
              </a:rPr>
              <a:t>+e</a:t>
            </a:r>
            <a:r>
              <a:rPr lang="en-US" sz="2400" dirty="0" smtClean="0">
                <a:solidFill>
                  <a:schemeClr val="bg2"/>
                </a:solidFill>
                <a:latin typeface="Symbol" panose="05050102010706020507" pitchFamily="18" charset="2"/>
              </a:rPr>
              <a:t>).</a:t>
            </a:r>
          </a:p>
          <a:p>
            <a:endParaRPr lang="en-US" sz="2400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H</a:t>
            </a:r>
            <a:r>
              <a:rPr lang="en-US" sz="2400" baseline="-25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1</a:t>
            </a:r>
            <a:r>
              <a:rPr lang="en-US" sz="2400" baseline="-25000" dirty="0" smtClean="0">
                <a:solidFill>
                  <a:schemeClr val="bg2"/>
                </a:solidFill>
                <a:latin typeface="Symbol" panose="05050102010706020507" pitchFamily="18" charset="2"/>
              </a:rPr>
              <a:t>+e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proves extractable bits in the non-IID case!</a:t>
            </a:r>
          </a:p>
          <a:p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But it’s hard to relate to the winning probability.</a:t>
            </a: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7423793" y="2384540"/>
            <a:ext cx="4023019" cy="12987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180167" y="2270413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10523706" y="2283400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8112853" y="1606427"/>
            <a:ext cx="900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51412" y="1611087"/>
            <a:ext cx="900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1+</a:t>
            </a:r>
            <a:r>
              <a:rPr lang="en-US" sz="3200" dirty="0" smtClean="0">
                <a:solidFill>
                  <a:schemeClr val="bg1"/>
                </a:solidFill>
                <a:latin typeface="Symbol" panose="05050102010706020507" pitchFamily="18" charset="2"/>
              </a:rPr>
              <a:t>e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618" y="2864522"/>
            <a:ext cx="1604462" cy="5381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510" y="2780203"/>
            <a:ext cx="1849723" cy="635587"/>
          </a:xfrm>
          <a:prstGeom prst="rect">
            <a:avLst/>
          </a:prstGeom>
        </p:spPr>
      </p:pic>
      <p:cxnSp>
        <p:nvCxnSpPr>
          <p:cNvPr id="82" name="Straight Arrow Connector 81"/>
          <p:cNvCxnSpPr/>
          <p:nvPr/>
        </p:nvCxnSpPr>
        <p:spPr>
          <a:xfrm flipV="1">
            <a:off x="9069279" y="3446169"/>
            <a:ext cx="954614" cy="802443"/>
          </a:xfrm>
          <a:prstGeom prst="straightConnector1">
            <a:avLst/>
          </a:prstGeom>
          <a:ln w="762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781952" y="3827721"/>
            <a:ext cx="7417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 smtClean="0">
                <a:solidFill>
                  <a:srgbClr val="FF0000"/>
                </a:solidFill>
              </a:rPr>
              <a:t>?!</a:t>
            </a:r>
            <a:r>
              <a:rPr lang="en-US" sz="4200" dirty="0" smtClean="0"/>
              <a:t>!</a:t>
            </a:r>
            <a:endParaRPr lang="en-US" sz="4200" dirty="0"/>
          </a:p>
        </p:txBody>
      </p:sp>
      <p:sp>
        <p:nvSpPr>
          <p:cNvPr id="17" name="Rectangle 16"/>
          <p:cNvSpPr/>
          <p:nvPr/>
        </p:nvSpPr>
        <p:spPr>
          <a:xfrm>
            <a:off x="7796948" y="4100789"/>
            <a:ext cx="12723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P ( win 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136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68" grpId="0"/>
      <p:bldP spid="81" grpId="0"/>
      <p:bldP spid="16" grpId="0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41714" y="5497398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66" y="3521985"/>
            <a:ext cx="1553566" cy="181874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888175">
            <a:off x="3915145" y="4036244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888175">
            <a:off x="5529290" y="4051163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075605" y="346879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690820" y="344745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055223" y="4248612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11202" y="4264777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4458589" y="4472483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4302481" y="4134955"/>
            <a:ext cx="190570" cy="312875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618892" y="4129917"/>
            <a:ext cx="133941" cy="301439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6490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721562"/>
            <a:ext cx="6882155" cy="649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about non-IID?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Content Placeholder 2"/>
          <p:cNvSpPr txBox="1">
            <a:spLocks/>
          </p:cNvSpPr>
          <p:nvPr/>
        </p:nvSpPr>
        <p:spPr>
          <a:xfrm>
            <a:off x="800002" y="1697162"/>
            <a:ext cx="6882155" cy="4612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 smtClean="0">
              <a:solidFill>
                <a:srgbClr val="455F51"/>
              </a:solidFill>
              <a:latin typeface="Calibri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3278" y="1821404"/>
            <a:ext cx="67697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</a:rPr>
              <a:t>Compare:</a:t>
            </a:r>
          </a:p>
          <a:p>
            <a:r>
              <a:rPr lang="en-US" sz="2400" b="1" dirty="0">
                <a:solidFill>
                  <a:schemeClr val="bg2"/>
                </a:solidFill>
                <a:latin typeface="Calibri" panose="020F0502020204030204" pitchFamily="34" charset="0"/>
              </a:rPr>
              <a:t>    * von Neumann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</a:rPr>
              <a:t> entropy (H)</a:t>
            </a:r>
          </a:p>
          <a:p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</a:rPr>
              <a:t>    * </a:t>
            </a:r>
            <a:r>
              <a:rPr lang="en-US" sz="2400" b="1" dirty="0" err="1" smtClean="0">
                <a:solidFill>
                  <a:schemeClr val="bg2"/>
                </a:solidFill>
                <a:latin typeface="Calibri" panose="020F0502020204030204" pitchFamily="34" charset="0"/>
              </a:rPr>
              <a:t>Renyi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</a:rPr>
              <a:t>entropy (H</a:t>
            </a:r>
            <a:r>
              <a:rPr lang="en-US" sz="2400" baseline="-25000" dirty="0">
                <a:solidFill>
                  <a:schemeClr val="bg2"/>
                </a:solidFill>
                <a:latin typeface="Calibri" panose="020F0502020204030204" pitchFamily="34" charset="0"/>
              </a:rPr>
              <a:t>1</a:t>
            </a:r>
            <a:r>
              <a:rPr lang="en-US" sz="2400" baseline="-25000" dirty="0">
                <a:solidFill>
                  <a:schemeClr val="bg2"/>
                </a:solidFill>
                <a:latin typeface="Symbol" panose="05050102010706020507" pitchFamily="18" charset="2"/>
              </a:rPr>
              <a:t>+e</a:t>
            </a:r>
            <a:r>
              <a:rPr lang="en-US" sz="2400" dirty="0">
                <a:solidFill>
                  <a:schemeClr val="bg2"/>
                </a:solidFill>
                <a:latin typeface="Symbol" panose="05050102010706020507" pitchFamily="18" charset="2"/>
              </a:rPr>
              <a:t>).</a:t>
            </a: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</a:rPr>
              <a:t>H</a:t>
            </a:r>
            <a:r>
              <a:rPr lang="en-US" sz="2400" baseline="-25000" dirty="0">
                <a:solidFill>
                  <a:schemeClr val="bg2"/>
                </a:solidFill>
                <a:latin typeface="Calibri" panose="020F0502020204030204" pitchFamily="34" charset="0"/>
              </a:rPr>
              <a:t>1</a:t>
            </a:r>
            <a:r>
              <a:rPr lang="en-US" sz="2400" baseline="-25000" dirty="0">
                <a:solidFill>
                  <a:schemeClr val="bg2"/>
                </a:solidFill>
                <a:latin typeface="Symbol" panose="05050102010706020507" pitchFamily="18" charset="2"/>
              </a:rPr>
              <a:t>+e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</a:rPr>
              <a:t> proves extractable bits in the non-IID case!</a:t>
            </a:r>
          </a:p>
          <a:p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</a:rPr>
              <a:t>But it’s hard to relate to the winning probability.</a:t>
            </a:r>
          </a:p>
          <a:p>
            <a:endParaRPr lang="en-US" sz="2400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Def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: the (1+</a:t>
            </a:r>
            <a:r>
              <a:rPr lang="en-US" sz="2400" dirty="0" smtClean="0">
                <a:solidFill>
                  <a:schemeClr val="bg2"/>
                </a:solidFill>
                <a:latin typeface="Symbol" panose="05050102010706020507" pitchFamily="18" charset="2"/>
              </a:rPr>
              <a:t>e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)</a:t>
            </a:r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-winning probability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of a device is </a:t>
            </a: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where </a:t>
            </a:r>
            <a:r>
              <a:rPr lang="en-US" sz="2400" dirty="0" smtClean="0">
                <a:solidFill>
                  <a:schemeClr val="bg2"/>
                </a:solidFill>
                <a:latin typeface="Symbol" panose="05050102010706020507" pitchFamily="18" charset="2"/>
              </a:rPr>
              <a:t>r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= adversary’s state.</a:t>
            </a:r>
            <a:endParaRPr lang="en-US" sz="2400" b="1" dirty="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7423793" y="2384540"/>
            <a:ext cx="4023019" cy="12987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180167" y="2270413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10523706" y="2283400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8112853" y="1606427"/>
            <a:ext cx="900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51412" y="1611087"/>
            <a:ext cx="900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1+</a:t>
            </a:r>
            <a:r>
              <a:rPr lang="en-US" sz="3200" dirty="0" smtClean="0">
                <a:solidFill>
                  <a:schemeClr val="bg1"/>
                </a:solidFill>
                <a:latin typeface="Symbol" panose="05050102010706020507" pitchFamily="18" charset="2"/>
              </a:rPr>
              <a:t>e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618" y="2864522"/>
            <a:ext cx="1604462" cy="5381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510" y="2780203"/>
            <a:ext cx="1849723" cy="63558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796948" y="4100789"/>
            <a:ext cx="12723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P ( win )</a:t>
            </a:r>
            <a:endParaRPr lang="en-US" sz="2400" dirty="0"/>
          </a:p>
        </p:txBody>
      </p:sp>
      <p:sp>
        <p:nvSpPr>
          <p:cNvPr id="35" name="Rectangle 34"/>
          <p:cNvSpPr/>
          <p:nvPr/>
        </p:nvSpPr>
        <p:spPr>
          <a:xfrm>
            <a:off x="9921718" y="4095077"/>
            <a:ext cx="155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P</a:t>
            </a:r>
            <a:r>
              <a:rPr lang="en-US" sz="2400" baseline="-25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1</a:t>
            </a:r>
            <a:r>
              <a:rPr lang="en-US" sz="2400" baseline="-25000" dirty="0" smtClean="0">
                <a:solidFill>
                  <a:schemeClr val="bg2"/>
                </a:solidFill>
                <a:latin typeface="Symbol" panose="05050102010706020507" pitchFamily="18" charset="2"/>
              </a:rPr>
              <a:t>+e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(win 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)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7" y="4918727"/>
            <a:ext cx="1085906" cy="85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3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41714" y="5497398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66" y="3521985"/>
            <a:ext cx="1553566" cy="181874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888175">
            <a:off x="3915145" y="4036244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888175">
            <a:off x="5529290" y="4051163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075605" y="346879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690820" y="344745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055223" y="4248612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11202" y="4264777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4458589" y="4472483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4302481" y="4134955"/>
            <a:ext cx="190570" cy="312875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618892" y="4129917"/>
            <a:ext cx="133941" cy="301439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6490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721562"/>
            <a:ext cx="6882155" cy="649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about non-IID?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64805" y="5058646"/>
            <a:ext cx="6858988" cy="1298578"/>
          </a:xfrm>
          <a:prstGeom prst="rect">
            <a:avLst/>
          </a:prstGeom>
          <a:solidFill>
            <a:schemeClr val="tx1"/>
          </a:solidFill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ontent Placeholder 2"/>
          <p:cNvSpPr txBox="1">
            <a:spLocks/>
          </p:cNvSpPr>
          <p:nvPr/>
        </p:nvSpPr>
        <p:spPr>
          <a:xfrm>
            <a:off x="800002" y="1697162"/>
            <a:ext cx="6882155" cy="4612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 smtClean="0">
              <a:solidFill>
                <a:srgbClr val="455F51"/>
              </a:solidFill>
              <a:latin typeface="Calibri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3278" y="1821404"/>
            <a:ext cx="67697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Def: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smtClean="0">
                <a:solidFill>
                  <a:schemeClr val="bg2"/>
                </a:solidFill>
                <a:latin typeface="Symbol" panose="05050102010706020507" pitchFamily="18" charset="2"/>
              </a:rPr>
              <a:t>p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is a </a:t>
            </a:r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strong rate curve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for the game G on input a if for all devices D,</a:t>
            </a:r>
            <a:endParaRPr lang="en-US" sz="2400" b="1" dirty="0">
              <a:solidFill>
                <a:srgbClr val="7030A0"/>
              </a:solidFill>
              <a:latin typeface="Calibri" panose="020F0502020204030204" pitchFamily="34" charset="0"/>
            </a:endParaRPr>
          </a:p>
          <a:p>
            <a:endParaRPr lang="en-US" sz="2400" b="1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                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H</a:t>
            </a:r>
            <a:r>
              <a:rPr lang="en-US" sz="2400" baseline="-25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1</a:t>
            </a:r>
            <a:r>
              <a:rPr lang="en-US" sz="2400" baseline="-25000" dirty="0" smtClean="0">
                <a:solidFill>
                  <a:schemeClr val="bg2"/>
                </a:solidFill>
                <a:latin typeface="Symbol" panose="05050102010706020507" pitchFamily="18" charset="2"/>
              </a:rPr>
              <a:t>+e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(output on input a | adversary )</a:t>
            </a:r>
            <a:endParaRPr lang="en-US" sz="2400" b="1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endParaRPr lang="en-US" sz="2400" b="1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is greater than or equal to </a:t>
            </a:r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r>
              <a:rPr lang="en-US" sz="2400" dirty="0" smtClean="0">
                <a:solidFill>
                  <a:schemeClr val="bg2"/>
                </a:solidFill>
                <a:latin typeface="Symbol" panose="05050102010706020507" pitchFamily="18" charset="2"/>
              </a:rPr>
              <a:t>              </a:t>
            </a:r>
          </a:p>
          <a:p>
            <a:r>
              <a:rPr lang="en-US" sz="2400" dirty="0" smtClean="0">
                <a:solidFill>
                  <a:schemeClr val="bg2"/>
                </a:solidFill>
                <a:latin typeface="Symbol" panose="05050102010706020507" pitchFamily="18" charset="2"/>
              </a:rPr>
              <a:t>            p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(P</a:t>
            </a:r>
            <a:r>
              <a:rPr lang="en-US" sz="2400" baseline="-25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1</a:t>
            </a:r>
            <a:r>
              <a:rPr lang="en-US" sz="2400" baseline="-25000" dirty="0" smtClean="0">
                <a:solidFill>
                  <a:schemeClr val="bg2"/>
                </a:solidFill>
                <a:latin typeface="Symbol" panose="05050102010706020507" pitchFamily="18" charset="2"/>
              </a:rPr>
              <a:t>+e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(win 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))</a:t>
            </a:r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 + </a:t>
            </a:r>
            <a:r>
              <a:rPr lang="en-US" sz="2400" i="1" dirty="0" err="1" smtClean="0">
                <a:solidFill>
                  <a:schemeClr val="bg2"/>
                </a:solidFill>
                <a:latin typeface="Calibri" panose="020F0502020204030204" pitchFamily="34" charset="0"/>
              </a:rPr>
              <a:t>O</a:t>
            </a:r>
            <a:r>
              <a:rPr lang="en-US" sz="2400" baseline="-25000" dirty="0" err="1" smtClean="0">
                <a:solidFill>
                  <a:schemeClr val="bg2"/>
                </a:solidFill>
                <a:latin typeface="Calibri" panose="020F0502020204030204" pitchFamily="34" charset="0"/>
              </a:rPr>
              <a:t>dev</a:t>
            </a:r>
            <a:r>
              <a:rPr lang="en-US" sz="2400" baseline="-25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.-</a:t>
            </a:r>
            <a:r>
              <a:rPr lang="en-US" sz="2400" baseline="-25000" dirty="0" err="1" smtClean="0">
                <a:solidFill>
                  <a:schemeClr val="bg2"/>
                </a:solidFill>
                <a:latin typeface="Calibri" panose="020F0502020204030204" pitchFamily="34" charset="0"/>
              </a:rPr>
              <a:t>ind.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(</a:t>
            </a:r>
            <a:r>
              <a:rPr lang="en-US" sz="2400" dirty="0" smtClean="0">
                <a:solidFill>
                  <a:schemeClr val="bg2"/>
                </a:solidFill>
                <a:latin typeface="Symbol" panose="05050102010706020507" pitchFamily="18" charset="2"/>
              </a:rPr>
              <a:t>e).</a:t>
            </a:r>
          </a:p>
          <a:p>
            <a:endParaRPr lang="en-US" sz="2400" dirty="0">
              <a:solidFill>
                <a:schemeClr val="bg2"/>
              </a:solidFill>
              <a:latin typeface="Symbol" panose="05050102010706020507" pitchFamily="18" charset="2"/>
            </a:endParaRPr>
          </a:p>
          <a:p>
            <a:r>
              <a:rPr lang="en-US" sz="2400" b="1" dirty="0" err="1" smtClean="0">
                <a:solidFill>
                  <a:schemeClr val="bg2"/>
                </a:solidFill>
                <a:latin typeface="Calibri" panose="020F0502020204030204" pitchFamily="34" charset="0"/>
              </a:rPr>
              <a:t>Thm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[MS 15]: If </a:t>
            </a:r>
            <a:r>
              <a:rPr lang="en-US" sz="2400" dirty="0" smtClean="0">
                <a:solidFill>
                  <a:schemeClr val="bg2"/>
                </a:solidFill>
                <a:latin typeface="Symbol" panose="05050102010706020507" pitchFamily="18" charset="2"/>
              </a:rPr>
              <a:t>p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is a strong rate curve, then the spot-checking protocol produces N </a:t>
            </a:r>
            <a:r>
              <a:rPr lang="en-US" sz="2400" dirty="0" smtClean="0">
                <a:solidFill>
                  <a:schemeClr val="bg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 </a:t>
            </a:r>
            <a:r>
              <a:rPr lang="en-US" sz="2400" dirty="0" smtClean="0">
                <a:solidFill>
                  <a:schemeClr val="bg2"/>
                </a:solidFill>
                <a:latin typeface="Symbol" panose="05050102010706020507" pitchFamily="18" charset="2"/>
              </a:rPr>
              <a:t>p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(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</a:rPr>
              <a:t>C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) extractable bits. </a:t>
            </a:r>
            <a:r>
              <a:rPr lang="en-US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(N = # of rounds, C = noise threshold.)</a:t>
            </a:r>
            <a:endParaRPr lang="en-US" b="1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7423793" y="2384540"/>
            <a:ext cx="4023019" cy="12987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180167" y="2270413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10523706" y="2283400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8112853" y="1606427"/>
            <a:ext cx="900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51412" y="1611087"/>
            <a:ext cx="9001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1+</a:t>
            </a:r>
            <a:r>
              <a:rPr lang="en-US" sz="3200" dirty="0" smtClean="0">
                <a:solidFill>
                  <a:schemeClr val="bg1"/>
                </a:solidFill>
                <a:latin typeface="Symbol" panose="05050102010706020507" pitchFamily="18" charset="2"/>
              </a:rPr>
              <a:t>e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618" y="2864522"/>
            <a:ext cx="1604462" cy="5381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510" y="2780203"/>
            <a:ext cx="1849723" cy="63558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796948" y="4100789"/>
            <a:ext cx="12723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P ( win )</a:t>
            </a:r>
            <a:endParaRPr lang="en-US" sz="2400" dirty="0"/>
          </a:p>
        </p:txBody>
      </p:sp>
      <p:sp>
        <p:nvSpPr>
          <p:cNvPr id="35" name="Rectangle 34"/>
          <p:cNvSpPr/>
          <p:nvPr/>
        </p:nvSpPr>
        <p:spPr>
          <a:xfrm>
            <a:off x="9921718" y="4095077"/>
            <a:ext cx="155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P</a:t>
            </a:r>
            <a:r>
              <a:rPr lang="en-US" sz="2400" baseline="-25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1</a:t>
            </a:r>
            <a:r>
              <a:rPr lang="en-US" sz="2400" baseline="-25000" dirty="0" smtClean="0">
                <a:solidFill>
                  <a:schemeClr val="bg2"/>
                </a:solidFill>
                <a:latin typeface="Symbol" panose="05050102010706020507" pitchFamily="18" charset="2"/>
              </a:rPr>
              <a:t>+e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(win 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2585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41714" y="5497398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66" y="3521985"/>
            <a:ext cx="1553566" cy="181874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888175">
            <a:off x="3915145" y="4036244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888175">
            <a:off x="5529290" y="4051163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075605" y="346879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690820" y="3447455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055223" y="4248612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711202" y="4264777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4458589" y="4472483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4302481" y="4134955"/>
            <a:ext cx="190570" cy="312875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4618892" y="4129917"/>
            <a:ext cx="133941" cy="301439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6490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721562"/>
            <a:ext cx="7813041" cy="6496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 we prove strong rate curves?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Content Placeholder 2"/>
          <p:cNvSpPr txBox="1">
            <a:spLocks/>
          </p:cNvSpPr>
          <p:nvPr/>
        </p:nvSpPr>
        <p:spPr>
          <a:xfrm>
            <a:off x="800002" y="1697162"/>
            <a:ext cx="6882155" cy="46121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 smtClean="0">
              <a:solidFill>
                <a:srgbClr val="455F51"/>
              </a:solidFill>
              <a:latin typeface="Calibri" panose="020F0502020204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3278" y="1821404"/>
            <a:ext cx="676970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Want: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</a:rPr>
              <a:t>High P</a:t>
            </a:r>
            <a:r>
              <a:rPr lang="en-US" sz="2400" baseline="-25000" dirty="0">
                <a:solidFill>
                  <a:schemeClr val="bg2"/>
                </a:solidFill>
                <a:latin typeface="Calibri" panose="020F0502020204030204" pitchFamily="34" charset="0"/>
              </a:rPr>
              <a:t>1</a:t>
            </a:r>
            <a:r>
              <a:rPr lang="en-US" sz="2400" baseline="-25000" dirty="0">
                <a:solidFill>
                  <a:schemeClr val="bg2"/>
                </a:solidFill>
                <a:latin typeface="Symbol" panose="05050102010706020507" pitchFamily="18" charset="2"/>
              </a:rPr>
              <a:t>+e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 (win 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) implies high</a:t>
            </a:r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 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H</a:t>
            </a:r>
            <a:r>
              <a:rPr lang="en-US" sz="2400" baseline="-25000" dirty="0" smtClean="0">
                <a:solidFill>
                  <a:schemeClr val="bg2"/>
                </a:solidFill>
                <a:latin typeface="Calibri" panose="020F0502020204030204" pitchFamily="34" charset="0"/>
              </a:rPr>
              <a:t>1</a:t>
            </a:r>
            <a:r>
              <a:rPr lang="en-US" sz="2400" baseline="-25000" dirty="0" smtClean="0">
                <a:solidFill>
                  <a:schemeClr val="bg2"/>
                </a:solidFill>
                <a:latin typeface="Symbol" panose="05050102010706020507" pitchFamily="18" charset="2"/>
              </a:rPr>
              <a:t>+e</a:t>
            </a:r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.</a:t>
            </a:r>
          </a:p>
          <a:p>
            <a:endParaRPr lang="en-US" sz="2400" b="1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Create a new device by pre-measuring w/ input a. </a:t>
            </a: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If this brings the score down significantly, then a significant amount of state disturbance has occurred.  </a:t>
            </a:r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(</a:t>
            </a:r>
            <a:r>
              <a:rPr lang="en-US" sz="2400" b="1" dirty="0" smtClean="0">
                <a:solidFill>
                  <a:schemeClr val="bg2"/>
                </a:solidFill>
                <a:cs typeface="Times New Roman" panose="02020603050405020304" pitchFamily="18" charset="0"/>
              </a:rPr>
              <a:t>1+</a:t>
            </a:r>
            <a:r>
              <a:rPr lang="en-US" sz="2400" b="1" dirty="0" smtClean="0">
                <a:solidFill>
                  <a:schemeClr val="bg2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e)-</a:t>
            </a:r>
            <a:r>
              <a:rPr lang="en-US" sz="2400" b="1" dirty="0" smtClean="0">
                <a:solidFill>
                  <a:schemeClr val="bg2"/>
                </a:solidFill>
                <a:latin typeface="Calibri" panose="020F0502020204030204" pitchFamily="34" charset="0"/>
              </a:rPr>
              <a:t>uncertainty principle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 says that randomness was generated!</a:t>
            </a:r>
          </a:p>
          <a:p>
            <a:endParaRPr lang="en-US" sz="2400" dirty="0">
              <a:solidFill>
                <a:schemeClr val="bg2"/>
              </a:solidFill>
              <a:latin typeface="Calibri" panose="020F0502020204030204" pitchFamily="34" charset="0"/>
            </a:endParaRPr>
          </a:p>
          <a:p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</a:rPr>
              <a:t>So if </a:t>
            </a:r>
            <a:r>
              <a:rPr lang="en-US" sz="2400" dirty="0">
                <a:solidFill>
                  <a:schemeClr val="bg2"/>
                </a:solidFill>
                <a:cs typeface="Times New Roman" panose="02020603050405020304" pitchFamily="18" charset="0"/>
              </a:rPr>
              <a:t>P</a:t>
            </a:r>
            <a:r>
              <a:rPr lang="en-US" sz="2400" baseline="-25000" dirty="0">
                <a:solidFill>
                  <a:schemeClr val="bg2"/>
                </a:solidFill>
                <a:cs typeface="Times New Roman" panose="02020603050405020304" pitchFamily="18" charset="0"/>
              </a:rPr>
              <a:t>1+</a:t>
            </a:r>
            <a:r>
              <a:rPr lang="en-US" sz="2400" baseline="-25000" dirty="0">
                <a:solidFill>
                  <a:schemeClr val="bg2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(win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 is significantly larger than </a:t>
            </a:r>
            <a:r>
              <a:rPr lang="en-US" sz="2400" dirty="0" err="1" smtClean="0">
                <a:solidFill>
                  <a:schemeClr val="bg2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400" baseline="-25000" dirty="0" err="1" smtClean="0">
                <a:solidFill>
                  <a:schemeClr val="bg2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G,a</a:t>
            </a:r>
            <a:r>
              <a:rPr lang="en-US" sz="2400" dirty="0" smtClean="0">
                <a:solidFill>
                  <a:schemeClr val="bg2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, we have randomness.</a:t>
            </a:r>
            <a:endParaRPr lang="en-US" sz="2400" dirty="0" smtClean="0">
              <a:solidFill>
                <a:schemeClr val="bg2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 rot="888175">
            <a:off x="7871472" y="2763356"/>
            <a:ext cx="291463" cy="317945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 rot="888175">
            <a:off x="8548652" y="2765851"/>
            <a:ext cx="311919" cy="31275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8025510" y="2198899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8703822" y="2165412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8005128" y="2978716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8724204" y="2982734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 rot="888175">
            <a:off x="10127850" y="2746490"/>
            <a:ext cx="291463" cy="317945"/>
          </a:xfrm>
          <a:prstGeom prst="rect">
            <a:avLst/>
          </a:prstGeom>
          <a:solidFill>
            <a:srgbClr val="7030A0"/>
          </a:solidFill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 rot="888175">
            <a:off x="10805030" y="2748985"/>
            <a:ext cx="311919" cy="312751"/>
          </a:xfrm>
          <a:prstGeom prst="rect">
            <a:avLst/>
          </a:prstGeom>
          <a:solidFill>
            <a:srgbClr val="7030A0"/>
          </a:solidFill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63" name="Straight Arrow Connector 62"/>
          <p:cNvCxnSpPr/>
          <p:nvPr/>
        </p:nvCxnSpPr>
        <p:spPr>
          <a:xfrm>
            <a:off x="10281888" y="2182033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10960200" y="2148546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10261506" y="2961850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10980582" y="2965868"/>
            <a:ext cx="18511" cy="444558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813311" y="1105758"/>
            <a:ext cx="19239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Pre-apply the measurement for input a.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flipV="1">
            <a:off x="9136137" y="2720832"/>
            <a:ext cx="640773" cy="10362"/>
          </a:xfrm>
          <a:prstGeom prst="straightConnector1">
            <a:avLst/>
          </a:prstGeom>
          <a:ln w="123825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686864" y="3609354"/>
            <a:ext cx="1923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P</a:t>
            </a:r>
            <a:r>
              <a:rPr lang="en-US" sz="2000" baseline="-250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1+</a:t>
            </a:r>
            <a:r>
              <a:rPr lang="en-US" sz="2000" baseline="-25000" dirty="0" smtClean="0">
                <a:solidFill>
                  <a:prstClr val="black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e</a:t>
            </a:r>
            <a:r>
              <a:rPr lang="en-US" sz="2000" dirty="0" smtClean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(win) &lt;= </a:t>
            </a:r>
            <a:r>
              <a:rPr lang="en-US" sz="2000" dirty="0" err="1" smtClean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000" baseline="-25000" dirty="0" err="1" smtClean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G,a</a:t>
            </a:r>
            <a:endParaRPr lang="en-US" sz="2000" dirty="0" smtClean="0">
              <a:solidFill>
                <a:prstClr val="black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222520" y="3569084"/>
            <a:ext cx="2554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          P</a:t>
            </a:r>
            <a:r>
              <a:rPr lang="en-US" sz="2000" baseline="-25000" dirty="0" smtClean="0">
                <a:solidFill>
                  <a:prstClr val="black"/>
                </a:solidFill>
                <a:cs typeface="Times New Roman" panose="02020603050405020304" pitchFamily="18" charset="0"/>
              </a:rPr>
              <a:t>1+</a:t>
            </a:r>
            <a:r>
              <a:rPr lang="en-US" sz="2000" baseline="-25000" dirty="0" smtClean="0">
                <a:solidFill>
                  <a:prstClr val="black"/>
                </a:solidFill>
                <a:latin typeface="Symbol" panose="05050102010706020507" pitchFamily="18" charset="2"/>
                <a:cs typeface="Times New Roman" panose="02020603050405020304" pitchFamily="18" charset="0"/>
              </a:rPr>
              <a:t>e</a:t>
            </a:r>
            <a:r>
              <a:rPr lang="en-US" sz="2000" dirty="0" smtClean="0">
                <a:solidFill>
                  <a:prstClr val="black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(win)        vs. </a:t>
            </a:r>
          </a:p>
        </p:txBody>
      </p:sp>
    </p:spTree>
    <p:extLst>
      <p:ext uri="{BB962C8B-B14F-4D97-AF65-F5344CB8AC3E}">
        <p14:creationId xmlns:p14="http://schemas.microsoft.com/office/powerpoint/2010/main" val="119584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74" grpId="0"/>
      <p:bldP spid="76" grpId="0"/>
      <p:bldP spid="7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41714" y="5497398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822" y="3047773"/>
            <a:ext cx="1553566" cy="181874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888175">
            <a:off x="8302893" y="3427670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888175">
            <a:off x="9917038" y="3442589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8272034" y="3055473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887249" y="3034133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8442971" y="3640038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10098950" y="3656203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4458589" y="4472483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8690229" y="3526381"/>
            <a:ext cx="190570" cy="312875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9006640" y="3521343"/>
            <a:ext cx="133941" cy="301439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721562"/>
            <a:ext cx="6427027" cy="835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universal rate curves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82606" y="2033149"/>
            <a:ext cx="4295044" cy="1128944"/>
          </a:xfrm>
          <a:prstGeom prst="rect">
            <a:avLst/>
          </a:prstGeom>
        </p:spPr>
      </p:pic>
      <p:cxnSp>
        <p:nvCxnSpPr>
          <p:cNvPr id="50" name="Straight Arrow Connector 49"/>
          <p:cNvCxnSpPr/>
          <p:nvPr/>
        </p:nvCxnSpPr>
        <p:spPr>
          <a:xfrm>
            <a:off x="6365893" y="3592806"/>
            <a:ext cx="4923183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7305495" y="3501473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0745741" y="3501473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7085808" y="3919551"/>
            <a:ext cx="1246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W</a:t>
            </a:r>
            <a:r>
              <a:rPr lang="en-US" sz="3200" baseline="-25000" dirty="0" err="1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G,a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487069" y="3934218"/>
            <a:ext cx="1246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W</a:t>
            </a:r>
            <a:r>
              <a:rPr lang="en-US" sz="3200" baseline="-250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G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9099" y="1654397"/>
            <a:ext cx="67987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 smtClean="0">
                <a:solidFill>
                  <a:schemeClr val="bg2"/>
                </a:solidFill>
              </a:rPr>
              <a:t>Thm</a:t>
            </a:r>
            <a:r>
              <a:rPr lang="en-US" sz="3000" b="1" dirty="0" smtClean="0">
                <a:solidFill>
                  <a:schemeClr val="bg2"/>
                </a:solidFill>
              </a:rPr>
              <a:t>: </a:t>
            </a:r>
            <a:r>
              <a:rPr lang="en-US" sz="3000" dirty="0" smtClean="0">
                <a:solidFill>
                  <a:schemeClr val="bg2"/>
                </a:solidFill>
              </a:rPr>
              <a:t>For any (</a:t>
            </a:r>
            <a:r>
              <a:rPr lang="en-US" sz="3000" dirty="0" err="1" smtClean="0">
                <a:solidFill>
                  <a:schemeClr val="bg2"/>
                </a:solidFill>
              </a:rPr>
              <a:t>G,a</a:t>
            </a:r>
            <a:r>
              <a:rPr lang="en-US" sz="3000" dirty="0" smtClean="0">
                <a:solidFill>
                  <a:schemeClr val="bg2"/>
                </a:solidFill>
              </a:rPr>
              <a:t>) the function</a:t>
            </a:r>
          </a:p>
          <a:p>
            <a:endParaRPr lang="en-US" sz="3000" dirty="0" smtClean="0">
              <a:solidFill>
                <a:schemeClr val="bg2"/>
              </a:solidFill>
            </a:endParaRPr>
          </a:p>
          <a:p>
            <a:endParaRPr lang="en-US" sz="3000" dirty="0" smtClean="0">
              <a:solidFill>
                <a:schemeClr val="bg2"/>
              </a:solidFill>
            </a:endParaRPr>
          </a:p>
          <a:p>
            <a:endParaRPr lang="en-US" sz="3000" dirty="0">
              <a:solidFill>
                <a:schemeClr val="bg2"/>
              </a:solidFill>
            </a:endParaRPr>
          </a:p>
          <a:p>
            <a:endParaRPr lang="en-US" sz="3000" dirty="0">
              <a:solidFill>
                <a:schemeClr val="bg2"/>
              </a:solidFill>
            </a:endParaRPr>
          </a:p>
          <a:p>
            <a:r>
              <a:rPr lang="en-US" sz="3000" dirty="0" smtClean="0">
                <a:solidFill>
                  <a:schemeClr val="bg2"/>
                </a:solidFill>
              </a:rPr>
              <a:t>is a strong rate curve.</a:t>
            </a:r>
          </a:p>
          <a:p>
            <a:endParaRPr lang="en-US" sz="3000" dirty="0">
              <a:solidFill>
                <a:schemeClr val="bg2"/>
              </a:solidFill>
            </a:endParaRPr>
          </a:p>
          <a:p>
            <a:r>
              <a:rPr lang="en-US" sz="3000" dirty="0" smtClean="0">
                <a:solidFill>
                  <a:schemeClr val="bg2"/>
                </a:solidFill>
              </a:rPr>
              <a:t>Noise tolerance for CHSH </a:t>
            </a:r>
            <a:r>
              <a:rPr lang="en-US" sz="3000" dirty="0" smtClean="0">
                <a:solidFill>
                  <a:schemeClr val="bg2"/>
                </a:solidFill>
              </a:rPr>
              <a:t>game: 10.3</a:t>
            </a:r>
            <a:r>
              <a:rPr lang="en-US" sz="3000" dirty="0" smtClean="0">
                <a:solidFill>
                  <a:schemeClr val="bg2"/>
                </a:solidFill>
              </a:rPr>
              <a:t>%!</a:t>
            </a:r>
            <a:endParaRPr lang="en-US" sz="3000" dirty="0">
              <a:solidFill>
                <a:schemeClr val="bg2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113" y="2432496"/>
            <a:ext cx="3562895" cy="103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8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51" grpId="0" animBg="1"/>
      <p:bldP spid="52" grpId="0" animBg="1"/>
      <p:bldP spid="53" grpId="0"/>
      <p:bldP spid="5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6451" y="250088"/>
            <a:ext cx="9144000" cy="1641490"/>
          </a:xfrm>
        </p:spPr>
        <p:txBody>
          <a:bodyPr>
            <a:noAutofit/>
          </a:bodyPr>
          <a:lstStyle/>
          <a:p>
            <a:r>
              <a:rPr lang="en-US" sz="7200" smtClean="0"/>
              <a:t/>
            </a:r>
            <a:br>
              <a:rPr lang="en-US" sz="7200" smtClean="0"/>
            </a:br>
            <a:r>
              <a:rPr lang="en-US" sz="7200" smtClean="0"/>
              <a:t>Addendum: DI-QKD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/>
              <a:t/>
            </a:r>
            <a:br>
              <a:rPr lang="en-US" sz="7200" dirty="0"/>
            </a:br>
            <a:endParaRPr lang="en-US" sz="6400" dirty="0"/>
          </a:p>
        </p:txBody>
      </p:sp>
    </p:spTree>
    <p:extLst>
      <p:ext uri="{BB962C8B-B14F-4D97-AF65-F5344CB8AC3E}">
        <p14:creationId xmlns:p14="http://schemas.microsoft.com/office/powerpoint/2010/main" val="27515209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614155"/>
            <a:ext cx="10420421" cy="835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evice-independent Quantum Key Distribution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1578" y="1257260"/>
            <a:ext cx="1098714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solidFill>
                  <a:schemeClr val="bg2"/>
                </a:solidFill>
              </a:rPr>
              <a:t>Our proof can be adapted to give another proof of DI-QKD.</a:t>
            </a:r>
          </a:p>
          <a:p>
            <a:r>
              <a:rPr lang="en-US" sz="2600" dirty="0">
                <a:solidFill>
                  <a:schemeClr val="bg2"/>
                </a:solidFill>
              </a:rPr>
              <a:t> </a:t>
            </a:r>
            <a:r>
              <a:rPr lang="en-US" sz="2600" dirty="0" smtClean="0">
                <a:solidFill>
                  <a:schemeClr val="bg2"/>
                </a:solidFill>
              </a:rPr>
              <a:t>     1. Do step 1 of the spot-checking protocol.  Communicate to check score.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27894" y="5782056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39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46" y="3806643"/>
            <a:ext cx="1553566" cy="1818742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 rot="888175">
            <a:off x="3196624" y="4782445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3357084" y="4214996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336702" y="4994813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79100" y="5809337"/>
            <a:ext cx="4905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prstClr val="black"/>
                </a:solidFill>
              </a:rPr>
              <a:t>010011101…</a:t>
            </a:r>
          </a:p>
        </p:txBody>
      </p:sp>
      <p:sp>
        <p:nvSpPr>
          <p:cNvPr id="45" name="Rectangle 44"/>
          <p:cNvSpPr/>
          <p:nvPr/>
        </p:nvSpPr>
        <p:spPr>
          <a:xfrm rot="888175">
            <a:off x="7300536" y="4724038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7460996" y="4156589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7440614" y="4936406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3558767" y="4797281"/>
            <a:ext cx="3700545" cy="29690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346" y="3837799"/>
            <a:ext cx="1977699" cy="197769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547608" y="5854227"/>
            <a:ext cx="4905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prstClr val="black"/>
                </a:solidFill>
              </a:rPr>
              <a:t>110110000…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625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614155"/>
            <a:ext cx="10420421" cy="835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evice-independent Quantum Key Distribution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1578" y="1257260"/>
            <a:ext cx="1098714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2"/>
                </a:solidFill>
              </a:rPr>
              <a:t>Our </a:t>
            </a:r>
            <a:r>
              <a:rPr lang="en-US" sz="2600" dirty="0" smtClean="0">
                <a:solidFill>
                  <a:schemeClr val="bg2"/>
                </a:solidFill>
              </a:rPr>
              <a:t>proof </a:t>
            </a:r>
            <a:r>
              <a:rPr lang="en-US" sz="2600" dirty="0">
                <a:solidFill>
                  <a:schemeClr val="bg2"/>
                </a:solidFill>
              </a:rPr>
              <a:t>can be adapted to give another proof of </a:t>
            </a:r>
            <a:r>
              <a:rPr lang="en-US" sz="2600" dirty="0" smtClean="0">
                <a:solidFill>
                  <a:schemeClr val="bg2"/>
                </a:solidFill>
              </a:rPr>
              <a:t>DI-QKD.</a:t>
            </a:r>
            <a:endParaRPr lang="en-US" sz="2600" dirty="0">
              <a:solidFill>
                <a:schemeClr val="bg2"/>
              </a:solidFill>
            </a:endParaRPr>
          </a:p>
          <a:p>
            <a:r>
              <a:rPr lang="en-US" sz="2600" dirty="0" smtClean="0">
                <a:solidFill>
                  <a:schemeClr val="bg2"/>
                </a:solidFill>
              </a:rPr>
              <a:t>      1. Do step 1 of the spot-checking protocol.  Communicate to check score.</a:t>
            </a:r>
          </a:p>
          <a:p>
            <a:r>
              <a:rPr lang="en-US" sz="2600" dirty="0">
                <a:solidFill>
                  <a:schemeClr val="bg2"/>
                </a:solidFill>
              </a:rPr>
              <a:t> </a:t>
            </a:r>
            <a:r>
              <a:rPr lang="en-US" sz="2600" dirty="0" smtClean="0">
                <a:solidFill>
                  <a:schemeClr val="bg2"/>
                </a:solidFill>
              </a:rPr>
              <a:t>     2. Have Alice make an optimal guess at Bob’s bits using her bits.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27894" y="5782056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39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46" y="3806643"/>
            <a:ext cx="1553566" cy="1818742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 rot="888175">
            <a:off x="3196624" y="4782445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3357084" y="4214996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336702" y="4994813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79100" y="5809337"/>
            <a:ext cx="4905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prstClr val="black"/>
                </a:solidFill>
              </a:rPr>
              <a:t>010011101…</a:t>
            </a:r>
          </a:p>
        </p:txBody>
      </p:sp>
      <p:sp>
        <p:nvSpPr>
          <p:cNvPr id="45" name="Rectangle 44"/>
          <p:cNvSpPr/>
          <p:nvPr/>
        </p:nvSpPr>
        <p:spPr>
          <a:xfrm rot="888175">
            <a:off x="7300536" y="4724038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7460996" y="4156589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7440614" y="4936406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3558767" y="4797281"/>
            <a:ext cx="3700545" cy="29690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346" y="3837799"/>
            <a:ext cx="1977699" cy="197769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547608" y="5854227"/>
            <a:ext cx="4905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prstClr val="black"/>
                </a:solidFill>
              </a:rPr>
              <a:t>01</a:t>
            </a:r>
            <a:r>
              <a:rPr lang="en-US" sz="2800" u="sng" dirty="0" smtClean="0">
                <a:solidFill>
                  <a:srgbClr val="C00000"/>
                </a:solidFill>
              </a:rPr>
              <a:t>1</a:t>
            </a:r>
            <a:r>
              <a:rPr lang="en-US" sz="2800" dirty="0" smtClean="0">
                <a:solidFill>
                  <a:prstClr val="black"/>
                </a:solidFill>
              </a:rPr>
              <a:t>01110</a:t>
            </a:r>
            <a:r>
              <a:rPr lang="en-US" sz="2800" u="sng" dirty="0" smtClean="0">
                <a:solidFill>
                  <a:srgbClr val="C00000"/>
                </a:solidFill>
              </a:rPr>
              <a:t>0</a:t>
            </a:r>
            <a:r>
              <a:rPr lang="en-US" sz="2800" dirty="0" smtClean="0">
                <a:solidFill>
                  <a:prstClr val="black"/>
                </a:solidFill>
              </a:rPr>
              <a:t>…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205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614155"/>
            <a:ext cx="10420421" cy="835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evice-independent Quantum Key Distribution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1578" y="1257260"/>
            <a:ext cx="1098714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2"/>
                </a:solidFill>
              </a:rPr>
              <a:t>Our </a:t>
            </a:r>
            <a:r>
              <a:rPr lang="en-US" sz="2600" dirty="0" smtClean="0">
                <a:solidFill>
                  <a:schemeClr val="bg2"/>
                </a:solidFill>
              </a:rPr>
              <a:t>proof </a:t>
            </a:r>
            <a:r>
              <a:rPr lang="en-US" sz="2600" dirty="0">
                <a:solidFill>
                  <a:schemeClr val="bg2"/>
                </a:solidFill>
              </a:rPr>
              <a:t>can be adapted to give another proof of </a:t>
            </a:r>
            <a:r>
              <a:rPr lang="en-US" sz="2600" dirty="0" smtClean="0">
                <a:solidFill>
                  <a:schemeClr val="bg2"/>
                </a:solidFill>
              </a:rPr>
              <a:t>DI-QKD.</a:t>
            </a:r>
            <a:endParaRPr lang="en-US" sz="2600" dirty="0">
              <a:solidFill>
                <a:schemeClr val="bg2"/>
              </a:solidFill>
            </a:endParaRPr>
          </a:p>
          <a:p>
            <a:r>
              <a:rPr lang="en-US" sz="2600" dirty="0" smtClean="0">
                <a:solidFill>
                  <a:schemeClr val="bg2"/>
                </a:solidFill>
              </a:rPr>
              <a:t>      1. Do step 1 of the spot-checking protocol.  Communicate to check score.</a:t>
            </a:r>
          </a:p>
          <a:p>
            <a:r>
              <a:rPr lang="en-US" sz="2600" dirty="0">
                <a:solidFill>
                  <a:schemeClr val="bg2"/>
                </a:solidFill>
              </a:rPr>
              <a:t> </a:t>
            </a:r>
            <a:r>
              <a:rPr lang="en-US" sz="2600" dirty="0" smtClean="0">
                <a:solidFill>
                  <a:schemeClr val="bg2"/>
                </a:solidFill>
              </a:rPr>
              <a:t>     2. Have Alice make an optimal guess at Bob’s bits using her bits.</a:t>
            </a:r>
          </a:p>
          <a:p>
            <a:r>
              <a:rPr lang="en-US" sz="2600" dirty="0">
                <a:solidFill>
                  <a:schemeClr val="bg2"/>
                </a:solidFill>
              </a:rPr>
              <a:t> </a:t>
            </a:r>
            <a:r>
              <a:rPr lang="en-US" sz="2600" dirty="0" smtClean="0">
                <a:solidFill>
                  <a:schemeClr val="bg2"/>
                </a:solidFill>
              </a:rPr>
              <a:t>     3. Perform information reconciliation.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27894" y="5782056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39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46" y="3806643"/>
            <a:ext cx="1553566" cy="1818742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 rot="888175">
            <a:off x="3196624" y="4782445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3357084" y="4214996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336702" y="4994813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 rot="888175">
            <a:off x="7300536" y="4724038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7460996" y="4156589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7440614" y="4936406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3558767" y="4797281"/>
            <a:ext cx="3700545" cy="29690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346" y="3837799"/>
            <a:ext cx="1977699" cy="19776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79100" y="5809337"/>
            <a:ext cx="4905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prstClr val="black"/>
                </a:solidFill>
              </a:rPr>
              <a:t>010011101…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7608" y="5854227"/>
            <a:ext cx="4905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prstClr val="black"/>
                </a:solidFill>
              </a:rPr>
              <a:t>010011101…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813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614155"/>
            <a:ext cx="10420421" cy="835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evice-independent Quantum Key Distribution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1578" y="1257260"/>
            <a:ext cx="109871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2"/>
                </a:solidFill>
              </a:rPr>
              <a:t>Our </a:t>
            </a:r>
            <a:r>
              <a:rPr lang="en-US" sz="2600" dirty="0" smtClean="0">
                <a:solidFill>
                  <a:schemeClr val="bg2"/>
                </a:solidFill>
              </a:rPr>
              <a:t>proof </a:t>
            </a:r>
            <a:r>
              <a:rPr lang="en-US" sz="2600" dirty="0">
                <a:solidFill>
                  <a:schemeClr val="bg2"/>
                </a:solidFill>
              </a:rPr>
              <a:t>can be adapted to give another proof of </a:t>
            </a:r>
            <a:r>
              <a:rPr lang="en-US" sz="2600" dirty="0" smtClean="0">
                <a:solidFill>
                  <a:schemeClr val="bg2"/>
                </a:solidFill>
              </a:rPr>
              <a:t>DI-QKD.</a:t>
            </a:r>
            <a:endParaRPr lang="en-US" sz="2600" dirty="0">
              <a:solidFill>
                <a:schemeClr val="bg2"/>
              </a:solidFill>
            </a:endParaRPr>
          </a:p>
          <a:p>
            <a:r>
              <a:rPr lang="en-US" sz="2600" dirty="0" smtClean="0">
                <a:solidFill>
                  <a:schemeClr val="bg2"/>
                </a:solidFill>
              </a:rPr>
              <a:t>      1. Do step 1 of the spot-checking protocol.  Communicate to check score.</a:t>
            </a:r>
          </a:p>
          <a:p>
            <a:r>
              <a:rPr lang="en-US" sz="2600" dirty="0">
                <a:solidFill>
                  <a:schemeClr val="bg2"/>
                </a:solidFill>
              </a:rPr>
              <a:t> </a:t>
            </a:r>
            <a:r>
              <a:rPr lang="en-US" sz="2600" dirty="0" smtClean="0">
                <a:solidFill>
                  <a:schemeClr val="bg2"/>
                </a:solidFill>
              </a:rPr>
              <a:t>     2. Have Alice make an optimal guess at Bob’s bits using her bits.</a:t>
            </a:r>
          </a:p>
          <a:p>
            <a:r>
              <a:rPr lang="en-US" sz="2600" dirty="0">
                <a:solidFill>
                  <a:schemeClr val="bg2"/>
                </a:solidFill>
              </a:rPr>
              <a:t> </a:t>
            </a:r>
            <a:r>
              <a:rPr lang="en-US" sz="2600" dirty="0" smtClean="0">
                <a:solidFill>
                  <a:schemeClr val="bg2"/>
                </a:solidFill>
              </a:rPr>
              <a:t>     3. Perform information reconciliation.</a:t>
            </a:r>
          </a:p>
          <a:p>
            <a:r>
              <a:rPr lang="en-US" sz="2600" dirty="0">
                <a:solidFill>
                  <a:schemeClr val="bg2"/>
                </a:solidFill>
              </a:rPr>
              <a:t> </a:t>
            </a:r>
            <a:r>
              <a:rPr lang="en-US" sz="2600" dirty="0" smtClean="0">
                <a:solidFill>
                  <a:schemeClr val="bg2"/>
                </a:solidFill>
              </a:rPr>
              <a:t>     4. Perform randomness extraction.</a:t>
            </a:r>
            <a:endParaRPr lang="en-US" sz="2600" dirty="0">
              <a:solidFill>
                <a:schemeClr val="bg2"/>
              </a:solidFill>
            </a:endParaRPr>
          </a:p>
          <a:p>
            <a:r>
              <a:rPr lang="en-US" sz="2600" dirty="0" smtClean="0">
                <a:solidFill>
                  <a:srgbClr val="FF0000"/>
                </a:solidFill>
              </a:rPr>
              <a:t>This works if step 1 generates more entropy than is lost at step 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27894" y="5782056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39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846" y="3806643"/>
            <a:ext cx="1553566" cy="1818742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 rot="888175">
            <a:off x="3196624" y="4782445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3357084" y="4214996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336702" y="4994813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79100" y="5809337"/>
            <a:ext cx="4905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prstClr val="black"/>
                </a:solidFill>
              </a:rPr>
              <a:t>111011100…</a:t>
            </a:r>
            <a:endParaRPr lang="en-US" sz="2800" dirty="0" smtClean="0">
              <a:solidFill>
                <a:prstClr val="black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 rot="888175">
            <a:off x="7300536" y="4724038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7460996" y="4156589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>
            <a:off x="7440614" y="4936406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3558767" y="4797281"/>
            <a:ext cx="3700545" cy="29690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346" y="3837799"/>
            <a:ext cx="1977699" cy="197769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547608" y="5854227"/>
            <a:ext cx="4905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prstClr val="black"/>
                </a:solidFill>
              </a:rPr>
              <a:t>111011100…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853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6451" y="250088"/>
            <a:ext cx="9144000" cy="1641490"/>
          </a:xfrm>
        </p:spPr>
        <p:txBody>
          <a:bodyPr>
            <a:noAutofit/>
          </a:bodyPr>
          <a:lstStyle/>
          <a:p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7200" dirty="0" smtClean="0"/>
              <a:t>Open Problems</a:t>
            </a:r>
            <a:br>
              <a:rPr lang="en-US" sz="7200" dirty="0" smtClean="0"/>
            </a:br>
            <a:r>
              <a:rPr lang="en-US" sz="7200" dirty="0"/>
              <a:t/>
            </a:r>
            <a:br>
              <a:rPr lang="en-US" sz="7200" dirty="0"/>
            </a:br>
            <a:endParaRPr lang="en-US" sz="6400" dirty="0"/>
          </a:p>
        </p:txBody>
      </p:sp>
    </p:spTree>
    <p:extLst>
      <p:ext uri="{BB962C8B-B14F-4D97-AF65-F5344CB8AC3E}">
        <p14:creationId xmlns:p14="http://schemas.microsoft.com/office/powerpoint/2010/main" val="106866013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41714" y="5497398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822" y="3047773"/>
            <a:ext cx="1553566" cy="181874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 rot="888175">
            <a:off x="7923620" y="3366780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rot="888175">
            <a:off x="9537765" y="3381699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7892761" y="2994583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507976" y="2973243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8063698" y="3579148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9719677" y="3595313"/>
            <a:ext cx="20382" cy="509489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 flipV="1">
            <a:off x="4458589" y="4472483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8310956" y="3465491"/>
            <a:ext cx="190570" cy="312875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8627367" y="3460453"/>
            <a:ext cx="133941" cy="301439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721562"/>
            <a:ext cx="10420421" cy="835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Prove the best possible rate curves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03333" y="2363097"/>
            <a:ext cx="4295044" cy="738106"/>
          </a:xfrm>
          <a:prstGeom prst="rect">
            <a:avLst/>
          </a:prstGeom>
        </p:spPr>
      </p:pic>
      <p:cxnSp>
        <p:nvCxnSpPr>
          <p:cNvPr id="50" name="Straight Arrow Connector 49"/>
          <p:cNvCxnSpPr/>
          <p:nvPr/>
        </p:nvCxnSpPr>
        <p:spPr>
          <a:xfrm>
            <a:off x="5986620" y="3531916"/>
            <a:ext cx="4923183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926222" y="3440583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0366468" y="3440583"/>
            <a:ext cx="231909" cy="228254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6706535" y="3858661"/>
            <a:ext cx="1246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W</a:t>
            </a:r>
            <a:r>
              <a:rPr lang="en-US" sz="3200" baseline="-25000" dirty="0" err="1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G,a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107796" y="3873328"/>
            <a:ext cx="1246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W</a:t>
            </a:r>
            <a:r>
              <a:rPr lang="en-US" sz="3200" baseline="-25000" dirty="0" smtClean="0">
                <a:solidFill>
                  <a:schemeClr val="bg2"/>
                </a:solidFill>
                <a:latin typeface="Calibri" panose="020F0502020204030204" pitchFamily="34" charset="0"/>
                <a:cs typeface="Courier New" panose="02070309020205020404" pitchFamily="49" charset="0"/>
              </a:rPr>
              <a:t>G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9100" y="1654397"/>
            <a:ext cx="49038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schemeClr val="bg2"/>
                </a:solidFill>
              </a:rPr>
              <a:t>We have two families of rate curves, neither optimal.  What are the best rate curves</a:t>
            </a:r>
            <a:r>
              <a:rPr lang="en-US" sz="3000" dirty="0" smtClean="0">
                <a:solidFill>
                  <a:schemeClr val="bg2"/>
                </a:solidFill>
              </a:rPr>
              <a:t>?</a:t>
            </a:r>
          </a:p>
          <a:p>
            <a:endParaRPr lang="en-US" sz="3000" dirty="0">
              <a:solidFill>
                <a:schemeClr val="bg2"/>
              </a:solidFill>
            </a:endParaRPr>
          </a:p>
          <a:p>
            <a:r>
              <a:rPr lang="en-US" sz="3000" dirty="0" smtClean="0">
                <a:solidFill>
                  <a:schemeClr val="bg2"/>
                </a:solidFill>
              </a:rPr>
              <a:t>Can we match the classical-adversary rate curves?</a:t>
            </a:r>
            <a:endParaRPr lang="en-US" sz="3000" dirty="0" smtClean="0">
              <a:solidFill>
                <a:schemeClr val="bg2"/>
              </a:solidFill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523574" y="4609403"/>
            <a:ext cx="4188801" cy="129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18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51" grpId="0" animBg="1"/>
      <p:bldP spid="52" grpId="0" animBg="1"/>
      <p:bldP spid="53" grpId="0"/>
      <p:bldP spid="5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41714" y="5497398"/>
            <a:ext cx="682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1</a:t>
            </a:r>
            <a:r>
              <a:rPr lang="en-US" dirty="0" smtClean="0">
                <a:solidFill>
                  <a:prstClr val="white"/>
                </a:solidFill>
              </a:rPr>
              <a:t>1011                      1010010001011101010001011101101010001111111010100010 ….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28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822" y="3047773"/>
            <a:ext cx="1553566" cy="1818742"/>
          </a:xfrm>
          <a:prstGeom prst="rect">
            <a:avLst/>
          </a:prstGeom>
        </p:spPr>
      </p:pic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 flipV="1">
            <a:off x="4458589" y="4472483"/>
            <a:ext cx="4308216" cy="807362"/>
          </a:xfrm>
          <a:prstGeom prst="line">
            <a:avLst/>
          </a:prstGeom>
          <a:ln w="76200">
            <a:solidFill>
              <a:srgbClr val="FF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6" name="Content Placeholder 2"/>
          <p:cNvSpPr txBox="1">
            <a:spLocks/>
          </p:cNvSpPr>
          <p:nvPr/>
        </p:nvSpPr>
        <p:spPr>
          <a:xfrm>
            <a:off x="792479" y="721562"/>
            <a:ext cx="10007601" cy="835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Parallel</a:t>
            </a:r>
            <a:r>
              <a:rPr lang="en-US" sz="3600" dirty="0" smtClean="0">
                <a:solidFill>
                  <a:srgbClr val="455F5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randomness expansion</a:t>
            </a:r>
            <a:endParaRPr lang="en-US" sz="2400" dirty="0" smtClean="0">
              <a:solidFill>
                <a:srgbClr val="455F5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9100" y="1654397"/>
            <a:ext cx="490383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schemeClr val="bg2"/>
                </a:solidFill>
              </a:rPr>
              <a:t>Give inputs to the boxes all at once.  Can we still verify randomness?</a:t>
            </a:r>
          </a:p>
          <a:p>
            <a:endParaRPr lang="en-US" sz="3000" dirty="0">
              <a:solidFill>
                <a:schemeClr val="bg2"/>
              </a:solidFill>
            </a:endParaRPr>
          </a:p>
          <a:p>
            <a:endParaRPr lang="en-US" sz="3000" dirty="0">
              <a:solidFill>
                <a:schemeClr val="bg2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 rot="888175">
            <a:off x="8417094" y="3738578"/>
            <a:ext cx="343441" cy="358431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7695018" y="3310081"/>
            <a:ext cx="1" cy="371782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582499" y="3312649"/>
            <a:ext cx="16507" cy="331710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7674635" y="3961875"/>
            <a:ext cx="20383" cy="298991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8599006" y="3952192"/>
            <a:ext cx="25186" cy="308674"/>
          </a:xfrm>
          <a:prstGeom prst="straightConnector1">
            <a:avLst/>
          </a:prstGeom>
          <a:ln w="50800"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 rot="888175">
            <a:off x="7514176" y="3729884"/>
            <a:ext cx="320918" cy="364383"/>
          </a:xfrm>
          <a:prstGeom prst="rect">
            <a:avLst/>
          </a:prstGeom>
          <a:scene3d>
            <a:camera prst="orthographicFront">
              <a:rot lat="4620000" lon="9000000" rev="9900000"/>
            </a:camera>
            <a:lightRig rig="threePt" dir="t"/>
          </a:scene3d>
          <a:sp3d extrusionH="254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390" y="3502102"/>
            <a:ext cx="372268" cy="590697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053653" y="1493080"/>
            <a:ext cx="1086771" cy="1669028"/>
          </a:xfrm>
          <a:prstGeom prst="ellipse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7077526" y="1597606"/>
            <a:ext cx="10919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011010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110101110111011010001000100001001101</a:t>
            </a:r>
          </a:p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01101011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8003980" y="1502300"/>
            <a:ext cx="1086771" cy="1669028"/>
          </a:xfrm>
          <a:prstGeom prst="ellipse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/>
          <p:cNvSpPr txBox="1"/>
          <p:nvPr/>
        </p:nvSpPr>
        <p:spPr>
          <a:xfrm>
            <a:off x="8027853" y="1606826"/>
            <a:ext cx="10919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111101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01010010110101011110101111101010101000100000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7137637" y="4317963"/>
            <a:ext cx="1086771" cy="1669028"/>
          </a:xfrm>
          <a:prstGeom prst="ellipse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/>
          <p:cNvSpPr txBox="1"/>
          <p:nvPr/>
        </p:nvSpPr>
        <p:spPr>
          <a:xfrm>
            <a:off x="7161510" y="4422489"/>
            <a:ext cx="10919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0010010   101110101000000001101111011010111010010010</a:t>
            </a:r>
            <a:endParaRPr lang="en-US" sz="1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8087964" y="4327183"/>
            <a:ext cx="1086771" cy="1669028"/>
          </a:xfrm>
          <a:prstGeom prst="ellipse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/>
          <p:cNvSpPr txBox="1"/>
          <p:nvPr/>
        </p:nvSpPr>
        <p:spPr>
          <a:xfrm>
            <a:off x="8111837" y="4431709"/>
            <a:ext cx="10919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010111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10101000</a:t>
            </a:r>
          </a:p>
          <a:p>
            <a:r>
              <a:rPr lang="en-US" sz="1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11111000001010101001010110101100000</a:t>
            </a:r>
          </a:p>
        </p:txBody>
      </p:sp>
    </p:spTree>
    <p:extLst>
      <p:ext uri="{BB962C8B-B14F-4D97-AF65-F5344CB8AC3E}">
        <p14:creationId xmlns:p14="http://schemas.microsoft.com/office/powerpoint/2010/main" val="229794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7" grpId="0" animBg="1"/>
      <p:bldP spid="56" grpId="0" animBg="1"/>
      <p:bldP spid="3" grpId="0" animBg="1"/>
      <p:bldP spid="43" grpId="0"/>
      <p:bldP spid="75" grpId="0" animBg="1"/>
      <p:bldP spid="76" grpId="0"/>
      <p:bldP spid="77" grpId="0" animBg="1"/>
      <p:bldP spid="78" grpId="0"/>
      <p:bldP spid="79" grpId="0" animBg="1"/>
      <p:bldP spid="8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7528"/>
            <a:ext cx="10515600" cy="1940756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2"/>
                </a:solidFill>
                <a:cs typeface="Aparajita" panose="020B0604020202020204" pitchFamily="34" charset="0"/>
              </a:rPr>
              <a:t>Randomness Expansion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 smtClean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38" name="Content Placeholder 2"/>
          <p:cNvSpPr txBox="1">
            <a:spLocks/>
          </p:cNvSpPr>
          <p:nvPr/>
        </p:nvSpPr>
        <p:spPr>
          <a:xfrm>
            <a:off x="979100" y="1821404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smtClean="0">
                <a:solidFill>
                  <a:srgbClr val="455F51"/>
                </a:solidFill>
                <a:cs typeface="Aparajita" panose="020B0604020202020204" pitchFamily="34" charset="0"/>
              </a:rPr>
              <a:t>[Several authors]: 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Security proof against an </a:t>
            </a:r>
            <a:r>
              <a:rPr lang="en-US" dirty="0" err="1" smtClean="0">
                <a:solidFill>
                  <a:srgbClr val="455F51"/>
                </a:solidFill>
                <a:cs typeface="Aparajita" panose="020B0604020202020204" pitchFamily="34" charset="0"/>
              </a:rPr>
              <a:t>unentangled</a:t>
            </a:r>
            <a:r>
              <a:rPr lang="en-US" dirty="0" smtClean="0">
                <a:solidFill>
                  <a:srgbClr val="455F51"/>
                </a:solidFill>
                <a:cs typeface="Aparajita" panose="020B0604020202020204" pitchFamily="34" charset="0"/>
              </a:rPr>
              <a:t> adversary.</a:t>
            </a:r>
            <a:endParaRPr lang="en-US" b="1" dirty="0">
              <a:solidFill>
                <a:srgbClr val="455F51"/>
              </a:solidFill>
              <a:cs typeface="Aparajita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07504" y="375064"/>
            <a:ext cx="11231218" cy="60853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 hangingPunct="0"/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6" y="0"/>
            <a:ext cx="12184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7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86730"/>
            <a:ext cx="12105861" cy="7204849"/>
          </a:xfrm>
        </p:spPr>
        <p:txBody>
          <a:bodyPr anchor="t">
            <a:noAutofit/>
          </a:bodyPr>
          <a:lstStyle/>
          <a:p>
            <a:pPr algn="ctr"/>
            <a:r>
              <a:rPr lang="en-US" sz="4600" b="1" dirty="0" smtClean="0"/>
              <a:t>Randomness expansion from untrusted quantum devices</a:t>
            </a:r>
          </a:p>
          <a:p>
            <a:pPr algn="ctr"/>
            <a:r>
              <a:rPr lang="en-US" sz="3600" dirty="0" smtClean="0"/>
              <a:t>Carl A. Miller</a:t>
            </a:r>
          </a:p>
          <a:p>
            <a:pPr algn="ctr"/>
            <a:r>
              <a:rPr lang="en-US" sz="3600" dirty="0" smtClean="0"/>
              <a:t>University of Michigan, Ann Arbor</a:t>
            </a:r>
          </a:p>
          <a:p>
            <a:pPr algn="ctr"/>
            <a:endParaRPr lang="en-US" sz="3600" i="1" dirty="0" smtClean="0"/>
          </a:p>
          <a:p>
            <a:pPr algn="ctr"/>
            <a:endParaRPr lang="en-US" sz="3600" i="1" dirty="0" smtClean="0"/>
          </a:p>
          <a:p>
            <a:pPr algn="ctr"/>
            <a:endParaRPr lang="en-US" sz="3000" i="1" dirty="0" smtClean="0"/>
          </a:p>
          <a:p>
            <a:pPr algn="l"/>
            <a:r>
              <a:rPr lang="en-US" sz="3000" i="1" dirty="0" smtClean="0"/>
              <a:t>     With thanks to Zhu Cao, Dong-Ling Deng, Patrick Ion, </a:t>
            </a:r>
            <a:r>
              <a:rPr lang="en-US" sz="3000" i="1" dirty="0" err="1" smtClean="0"/>
              <a:t>Kihwan</a:t>
            </a:r>
            <a:r>
              <a:rPr lang="en-US" sz="3000" i="1" dirty="0" smtClean="0"/>
              <a:t> Kim,    </a:t>
            </a:r>
          </a:p>
          <a:p>
            <a:pPr algn="l"/>
            <a:r>
              <a:rPr lang="en-US" sz="3000" i="1" dirty="0"/>
              <a:t> </a:t>
            </a:r>
            <a:r>
              <a:rPr lang="en-US" sz="3000" i="1" dirty="0" smtClean="0"/>
              <a:t>        Christopher </a:t>
            </a:r>
            <a:r>
              <a:rPr lang="en-US" sz="3000" i="1" dirty="0" err="1" smtClean="0"/>
              <a:t>Portmann</a:t>
            </a:r>
            <a:r>
              <a:rPr lang="en-US" sz="3000" i="1" dirty="0" smtClean="0"/>
              <a:t>, Karl Winsor, Xiao Yuan, and Qi Zhao.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521" t="6439" r="8437" b="25863"/>
          <a:stretch/>
        </p:blipFill>
        <p:spPr>
          <a:xfrm>
            <a:off x="7322225" y="3273758"/>
            <a:ext cx="989217" cy="10966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9499" t="5916" r="6554" b="21540"/>
          <a:stretch/>
        </p:blipFill>
        <p:spPr>
          <a:xfrm>
            <a:off x="9594757" y="3273757"/>
            <a:ext cx="961672" cy="109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38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TC104033923[[fn=Depth]]</Template>
  <TotalTime>8075</TotalTime>
  <Words>2336</Words>
  <Application>Microsoft Office PowerPoint</Application>
  <PresentationFormat>Widescreen</PresentationFormat>
  <Paragraphs>664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Aharoni</vt:lpstr>
      <vt:lpstr>Aparajita</vt:lpstr>
      <vt:lpstr>Arial</vt:lpstr>
      <vt:lpstr>Calibri</vt:lpstr>
      <vt:lpstr>Corbel</vt:lpstr>
      <vt:lpstr>Courier New</vt:lpstr>
      <vt:lpstr>Symbol</vt:lpstr>
      <vt:lpstr>Tahoma</vt:lpstr>
      <vt:lpstr>Times New Roman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Results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Current Result </vt:lpstr>
      <vt:lpstr>Randomness Expansion</vt:lpstr>
      <vt:lpstr>Randomness Expansion</vt:lpstr>
      <vt:lpstr>Randomness Expansion</vt:lpstr>
      <vt:lpstr> Proof Techniques </vt:lpstr>
      <vt:lpstr>Randomness Expansion</vt:lpstr>
      <vt:lpstr>Randomness Expansion</vt:lpstr>
      <vt:lpstr>Randomness Expansion</vt:lpstr>
      <vt:lpstr>Randomness Expansion</vt:lpstr>
      <vt:lpstr>Randomness Expansion</vt:lpstr>
      <vt:lpstr>Randomness Expansion</vt:lpstr>
      <vt:lpstr>Randomness Expansion</vt:lpstr>
      <vt:lpstr>Randomness Expansion</vt:lpstr>
      <vt:lpstr>Randomness Expansion</vt:lpstr>
      <vt:lpstr>Randomness Expansion</vt:lpstr>
      <vt:lpstr> Addendum: DI-QKD  </vt:lpstr>
      <vt:lpstr>Randomness Expansion</vt:lpstr>
      <vt:lpstr>Randomness Expansion</vt:lpstr>
      <vt:lpstr>Randomness Expansion</vt:lpstr>
      <vt:lpstr>Randomness Expansion</vt:lpstr>
      <vt:lpstr> Open Problems  </vt:lpstr>
      <vt:lpstr>Randomness Expansion</vt:lpstr>
      <vt:lpstr>Randomness Expansion</vt:lpstr>
      <vt:lpstr>Randomness Expansion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approaches to quantum random number generation</dc:title>
  <dc:creator>Work</dc:creator>
  <cp:lastModifiedBy>Carl Miller</cp:lastModifiedBy>
  <cp:revision>580</cp:revision>
  <dcterms:created xsi:type="dcterms:W3CDTF">2014-01-30T01:17:55Z</dcterms:created>
  <dcterms:modified xsi:type="dcterms:W3CDTF">2015-10-01T03:35:15Z</dcterms:modified>
</cp:coreProperties>
</file>